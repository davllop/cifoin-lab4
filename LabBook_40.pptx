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32"/>
  </p:notesMasterIdLst>
  <p:handoutMasterIdLst>
    <p:handoutMasterId r:id="rId33"/>
  </p:handoutMasterIdLst>
  <p:sldIdLst>
    <p:sldId id="256" r:id="rId2"/>
    <p:sldId id="289" r:id="rId3"/>
    <p:sldId id="290" r:id="rId4"/>
    <p:sldId id="291" r:id="rId5"/>
    <p:sldId id="296" r:id="rId6"/>
    <p:sldId id="297" r:id="rId7"/>
    <p:sldId id="298" r:id="rId8"/>
    <p:sldId id="299" r:id="rId9"/>
    <p:sldId id="292" r:id="rId10"/>
    <p:sldId id="293" r:id="rId11"/>
    <p:sldId id="300" r:id="rId12"/>
    <p:sldId id="301" r:id="rId13"/>
    <p:sldId id="302" r:id="rId14"/>
    <p:sldId id="294" r:id="rId15"/>
    <p:sldId id="305" r:id="rId16"/>
    <p:sldId id="304" r:id="rId17"/>
    <p:sldId id="295" r:id="rId18"/>
    <p:sldId id="306" r:id="rId19"/>
    <p:sldId id="315" r:id="rId20"/>
    <p:sldId id="314" r:id="rId21"/>
    <p:sldId id="313" r:id="rId22"/>
    <p:sldId id="312" r:id="rId23"/>
    <p:sldId id="311" r:id="rId24"/>
    <p:sldId id="310" r:id="rId25"/>
    <p:sldId id="309" r:id="rId26"/>
    <p:sldId id="308" r:id="rId27"/>
    <p:sldId id="307" r:id="rId28"/>
    <p:sldId id="318" r:id="rId29"/>
    <p:sldId id="317" r:id="rId30"/>
    <p:sldId id="288" r:id="rId31"/>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046" autoAdjust="0"/>
    <p:restoredTop sz="95033" autoAdjust="0"/>
  </p:normalViewPr>
  <p:slideViewPr>
    <p:cSldViewPr>
      <p:cViewPr varScale="1">
        <p:scale>
          <a:sx n="85" d="100"/>
          <a:sy n="85" d="100"/>
        </p:scale>
        <p:origin x="912" y="53"/>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12/06/2026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11/06/2026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ES"/>
          </a:p>
        </p:txBody>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87AEC-015A-4808-9AC9-382D824E43C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FC03EDA-741F-B6F5-3444-A8D74D690ABA}"/>
              </a:ext>
            </a:extLst>
          </p:cNvPr>
          <p:cNvSpPr>
            <a:spLocks noGrp="1" noRot="1" noChangeAspect="1"/>
          </p:cNvSpPr>
          <p:nvPr>
            <p:ph type="sldImg"/>
          </p:nvPr>
        </p:nvSpPr>
        <p:spPr/>
        <p:txBody>
          <a:bodyPr/>
          <a:lstStyle/>
          <a:p>
            <a:endParaRPr lang="es-ES"/>
          </a:p>
        </p:txBody>
      </p:sp>
      <p:sp>
        <p:nvSpPr>
          <p:cNvPr id="3" name="Marcador de notas 2">
            <a:extLst>
              <a:ext uri="{FF2B5EF4-FFF2-40B4-BE49-F238E27FC236}">
                <a16:creationId xmlns:a16="http://schemas.microsoft.com/office/drawing/2014/main" id="{C7839219-55CF-753A-3C53-04F6B1E28970}"/>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D04B99BF-32CC-B000-CB3E-0CD66FF7CA7C}"/>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26876424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52537-5A61-A622-F227-6255A689AB9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3775261-0787-8AE5-3D05-52345A4E162B}"/>
              </a:ext>
            </a:extLst>
          </p:cNvPr>
          <p:cNvSpPr>
            <a:spLocks noGrp="1" noRot="1" noChangeAspect="1"/>
          </p:cNvSpPr>
          <p:nvPr>
            <p:ph type="sldImg"/>
          </p:nvPr>
        </p:nvSpPr>
        <p:spPr/>
        <p:txBody>
          <a:bodyPr/>
          <a:lstStyle/>
          <a:p>
            <a:endParaRPr lang="es-ES"/>
          </a:p>
        </p:txBody>
      </p:sp>
      <p:sp>
        <p:nvSpPr>
          <p:cNvPr id="3" name="Marcador de notas 2">
            <a:extLst>
              <a:ext uri="{FF2B5EF4-FFF2-40B4-BE49-F238E27FC236}">
                <a16:creationId xmlns:a16="http://schemas.microsoft.com/office/drawing/2014/main" id="{FC972533-550D-E921-3D58-5306F39B3568}"/>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907BCB5-81FA-6375-C2B3-B0E535F32A32}"/>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30930794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FA85C-370F-2615-FCBE-2889CC96F5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5D21BA6-2819-2A2F-7DCD-6BC95DC3BB0E}"/>
              </a:ext>
            </a:extLst>
          </p:cNvPr>
          <p:cNvSpPr>
            <a:spLocks noGrp="1" noRot="1" noChangeAspect="1"/>
          </p:cNvSpPr>
          <p:nvPr>
            <p:ph type="sldImg"/>
          </p:nvPr>
        </p:nvSpPr>
        <p:spPr/>
        <p:txBody>
          <a:bodyPr/>
          <a:lstStyle/>
          <a:p>
            <a:endParaRPr lang="es-ES"/>
          </a:p>
        </p:txBody>
      </p:sp>
      <p:sp>
        <p:nvSpPr>
          <p:cNvPr id="3" name="Marcador de notas 2">
            <a:extLst>
              <a:ext uri="{FF2B5EF4-FFF2-40B4-BE49-F238E27FC236}">
                <a16:creationId xmlns:a16="http://schemas.microsoft.com/office/drawing/2014/main" id="{9349020D-400A-4363-CC3D-D58706D92E14}"/>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F92D5AD-0BAF-5915-82AB-8149B6E6FAF7}"/>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12817073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680B6-1AF6-BE3F-1A41-CFEE007D353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406BCB9-5FE2-D617-40E3-F01819A73193}"/>
              </a:ext>
            </a:extLst>
          </p:cNvPr>
          <p:cNvSpPr>
            <a:spLocks noGrp="1" noRot="1" noChangeAspect="1"/>
          </p:cNvSpPr>
          <p:nvPr>
            <p:ph type="sldImg"/>
          </p:nvPr>
        </p:nvSpPr>
        <p:spPr/>
        <p:txBody>
          <a:bodyPr/>
          <a:lstStyle/>
          <a:p>
            <a:endParaRPr lang="es-ES"/>
          </a:p>
        </p:txBody>
      </p:sp>
      <p:sp>
        <p:nvSpPr>
          <p:cNvPr id="3" name="Marcador de notas 2">
            <a:extLst>
              <a:ext uri="{FF2B5EF4-FFF2-40B4-BE49-F238E27FC236}">
                <a16:creationId xmlns:a16="http://schemas.microsoft.com/office/drawing/2014/main" id="{E72161C2-643A-4BFA-DFE5-16815052100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5B106DF1-0E8C-5F49-4339-AABB7A2655D2}"/>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8789957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3E4F7-89E0-8227-5B49-7FA185BA7FB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1A3402E-AFD2-4D01-1F99-118C968275F6}"/>
              </a:ext>
            </a:extLst>
          </p:cNvPr>
          <p:cNvSpPr>
            <a:spLocks noGrp="1" noRot="1" noChangeAspect="1"/>
          </p:cNvSpPr>
          <p:nvPr>
            <p:ph type="sldImg"/>
          </p:nvPr>
        </p:nvSpPr>
        <p:spPr/>
        <p:txBody>
          <a:bodyPr/>
          <a:lstStyle/>
          <a:p>
            <a:endParaRPr lang="es-ES"/>
          </a:p>
        </p:txBody>
      </p:sp>
      <p:sp>
        <p:nvSpPr>
          <p:cNvPr id="3" name="Marcador de notas 2">
            <a:extLst>
              <a:ext uri="{FF2B5EF4-FFF2-40B4-BE49-F238E27FC236}">
                <a16:creationId xmlns:a16="http://schemas.microsoft.com/office/drawing/2014/main" id="{B19C6B85-355E-94DD-D8E7-041A98B33AE8}"/>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D48B34E-0E00-C03A-9CFF-9DEBDEA786CD}"/>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162496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2BF37-98F6-CD9B-2255-0A64B5CEA44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B68927E-2442-0553-FBC8-D3C32BCC5CFE}"/>
              </a:ext>
            </a:extLst>
          </p:cNvPr>
          <p:cNvSpPr>
            <a:spLocks noGrp="1" noRot="1" noChangeAspect="1"/>
          </p:cNvSpPr>
          <p:nvPr>
            <p:ph type="sldImg"/>
          </p:nvPr>
        </p:nvSpPr>
        <p:spPr/>
        <p:txBody>
          <a:bodyPr/>
          <a:lstStyle/>
          <a:p>
            <a:endParaRPr lang="es-ES"/>
          </a:p>
        </p:txBody>
      </p:sp>
      <p:sp>
        <p:nvSpPr>
          <p:cNvPr id="3" name="Marcador de notas 2">
            <a:extLst>
              <a:ext uri="{FF2B5EF4-FFF2-40B4-BE49-F238E27FC236}">
                <a16:creationId xmlns:a16="http://schemas.microsoft.com/office/drawing/2014/main" id="{36130D77-4D33-EE41-3A9E-4EB6D241906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75BAC07D-EBC4-F68A-7BE7-2B2DCCECD5CD}"/>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18854310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988B3-C141-4645-2F2A-A09F408267B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B22BAD8-B0CC-3164-3027-A210D7EB753B}"/>
              </a:ext>
            </a:extLst>
          </p:cNvPr>
          <p:cNvSpPr>
            <a:spLocks noGrp="1" noRot="1" noChangeAspect="1"/>
          </p:cNvSpPr>
          <p:nvPr>
            <p:ph type="sldImg"/>
          </p:nvPr>
        </p:nvSpPr>
        <p:spPr/>
        <p:txBody>
          <a:bodyPr/>
          <a:lstStyle/>
          <a:p>
            <a:endParaRPr lang="es-ES"/>
          </a:p>
        </p:txBody>
      </p:sp>
      <p:sp>
        <p:nvSpPr>
          <p:cNvPr id="3" name="Marcador de notas 2">
            <a:extLst>
              <a:ext uri="{FF2B5EF4-FFF2-40B4-BE49-F238E27FC236}">
                <a16:creationId xmlns:a16="http://schemas.microsoft.com/office/drawing/2014/main" id="{33995D4B-1202-927A-28C9-66F35C33AE68}"/>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156FFEE-1184-FFA2-1E7F-CC9E8439AC53}"/>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3810953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3419A-32BF-DC50-A7BA-0E1EDB9CB4C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59B9D86-BEB3-3E4A-622E-47B4AB6B87D8}"/>
              </a:ext>
            </a:extLst>
          </p:cNvPr>
          <p:cNvSpPr>
            <a:spLocks noGrp="1" noRot="1" noChangeAspect="1"/>
          </p:cNvSpPr>
          <p:nvPr>
            <p:ph type="sldImg"/>
          </p:nvPr>
        </p:nvSpPr>
        <p:spPr/>
        <p:txBody>
          <a:bodyPr/>
          <a:lstStyle/>
          <a:p>
            <a:endParaRPr lang="es-ES"/>
          </a:p>
        </p:txBody>
      </p:sp>
      <p:sp>
        <p:nvSpPr>
          <p:cNvPr id="3" name="Marcador de notas 2">
            <a:extLst>
              <a:ext uri="{FF2B5EF4-FFF2-40B4-BE49-F238E27FC236}">
                <a16:creationId xmlns:a16="http://schemas.microsoft.com/office/drawing/2014/main" id="{6474CD26-D555-6272-3B22-3E0BCC3457C8}"/>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419300B-5F1F-C240-560A-34874A180A46}"/>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13780379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EC504-6988-EF77-DE91-53F786BFC77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DB9957C-E34F-DE33-DF61-E58300DD1D9C}"/>
              </a:ext>
            </a:extLst>
          </p:cNvPr>
          <p:cNvSpPr>
            <a:spLocks noGrp="1" noRot="1" noChangeAspect="1"/>
          </p:cNvSpPr>
          <p:nvPr>
            <p:ph type="sldImg"/>
          </p:nvPr>
        </p:nvSpPr>
        <p:spPr/>
        <p:txBody>
          <a:bodyPr/>
          <a:lstStyle/>
          <a:p>
            <a:endParaRPr lang="es-ES"/>
          </a:p>
        </p:txBody>
      </p:sp>
      <p:sp>
        <p:nvSpPr>
          <p:cNvPr id="3" name="Marcador de notas 2">
            <a:extLst>
              <a:ext uri="{FF2B5EF4-FFF2-40B4-BE49-F238E27FC236}">
                <a16:creationId xmlns:a16="http://schemas.microsoft.com/office/drawing/2014/main" id="{3F1B8272-30EC-266E-ECF5-B4193FB1017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76C26A21-97D5-DB0C-01BA-A07E05DAC920}"/>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38899924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CEC7D-337E-5EE6-22C6-9C81FDD5F46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037675E-D2B2-1058-F31A-F9F49605692E}"/>
              </a:ext>
            </a:extLst>
          </p:cNvPr>
          <p:cNvSpPr>
            <a:spLocks noGrp="1" noRot="1" noChangeAspect="1"/>
          </p:cNvSpPr>
          <p:nvPr>
            <p:ph type="sldImg"/>
          </p:nvPr>
        </p:nvSpPr>
        <p:spPr/>
        <p:txBody>
          <a:bodyPr/>
          <a:lstStyle/>
          <a:p>
            <a:endParaRPr lang="es-ES"/>
          </a:p>
        </p:txBody>
      </p:sp>
      <p:sp>
        <p:nvSpPr>
          <p:cNvPr id="3" name="Marcador de notas 2">
            <a:extLst>
              <a:ext uri="{FF2B5EF4-FFF2-40B4-BE49-F238E27FC236}">
                <a16:creationId xmlns:a16="http://schemas.microsoft.com/office/drawing/2014/main" id="{EA336F4A-6DB2-5BDE-D175-61E0784CF5A9}"/>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10CEB17-4581-49F3-CA28-91A336B6F1C7}"/>
              </a:ext>
            </a:extLst>
          </p:cNvPr>
          <p:cNvSpPr>
            <a:spLocks noGrp="1"/>
          </p:cNvSpPr>
          <p:nvPr>
            <p:ph type="sldNum" sz="quarter" idx="5"/>
          </p:nvPr>
        </p:nvSpPr>
        <p:spPr/>
        <p:txBody>
          <a:bodyPr/>
          <a:lstStyle/>
          <a:p>
            <a:fld id="{676223B9-C868-4436-87D9-1A3152E1157A}" type="slidenum">
              <a:rPr lang="es-ES" smtClean="0"/>
              <a:t>13</a:t>
            </a:fld>
            <a:endParaRPr lang="es-ES"/>
          </a:p>
        </p:txBody>
      </p:sp>
    </p:spTree>
    <p:extLst>
      <p:ext uri="{BB962C8B-B14F-4D97-AF65-F5344CB8AC3E}">
        <p14:creationId xmlns:p14="http://schemas.microsoft.com/office/powerpoint/2010/main" val="30616165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9EAE7-9EAB-544B-26F0-D89AD57C0BC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7142DDC-39F3-B8EF-C550-B1BDBF798325}"/>
              </a:ext>
            </a:extLst>
          </p:cNvPr>
          <p:cNvSpPr>
            <a:spLocks noGrp="1" noRot="1" noChangeAspect="1"/>
          </p:cNvSpPr>
          <p:nvPr>
            <p:ph type="sldImg"/>
          </p:nvPr>
        </p:nvSpPr>
        <p:spPr/>
        <p:txBody>
          <a:bodyPr/>
          <a:lstStyle/>
          <a:p>
            <a:endParaRPr lang="es-ES"/>
          </a:p>
        </p:txBody>
      </p:sp>
      <p:sp>
        <p:nvSpPr>
          <p:cNvPr id="3" name="Marcador de notas 2">
            <a:extLst>
              <a:ext uri="{FF2B5EF4-FFF2-40B4-BE49-F238E27FC236}">
                <a16:creationId xmlns:a16="http://schemas.microsoft.com/office/drawing/2014/main" id="{214E7676-8E00-A60E-B890-D4F612C9A57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F8AAF8C-62CF-3619-1C70-91E48BE9A4C4}"/>
              </a:ext>
            </a:extLst>
          </p:cNvPr>
          <p:cNvSpPr>
            <a:spLocks noGrp="1"/>
          </p:cNvSpPr>
          <p:nvPr>
            <p:ph type="sldNum" sz="quarter" idx="5"/>
          </p:nvPr>
        </p:nvSpPr>
        <p:spPr/>
        <p:txBody>
          <a:bodyPr/>
          <a:lstStyle/>
          <a:p>
            <a:fld id="{676223B9-C868-4436-87D9-1A3152E1157A}" type="slidenum">
              <a:rPr lang="es-ES" smtClean="0"/>
              <a:t>14</a:t>
            </a:fld>
            <a:endParaRPr lang="es-ES"/>
          </a:p>
        </p:txBody>
      </p:sp>
    </p:spTree>
    <p:extLst>
      <p:ext uri="{BB962C8B-B14F-4D97-AF65-F5344CB8AC3E}">
        <p14:creationId xmlns:p14="http://schemas.microsoft.com/office/powerpoint/2010/main" val="21631047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BBEC4-F738-2416-F0EF-E53BE5FB533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31C5741-2C49-A7B2-1288-F43B1538F243}"/>
              </a:ext>
            </a:extLst>
          </p:cNvPr>
          <p:cNvSpPr>
            <a:spLocks noGrp="1" noRot="1" noChangeAspect="1"/>
          </p:cNvSpPr>
          <p:nvPr>
            <p:ph type="sldImg"/>
          </p:nvPr>
        </p:nvSpPr>
        <p:spPr/>
        <p:txBody>
          <a:bodyPr/>
          <a:lstStyle/>
          <a:p>
            <a:endParaRPr lang="es-ES"/>
          </a:p>
        </p:txBody>
      </p:sp>
      <p:sp>
        <p:nvSpPr>
          <p:cNvPr id="3" name="Marcador de notas 2">
            <a:extLst>
              <a:ext uri="{FF2B5EF4-FFF2-40B4-BE49-F238E27FC236}">
                <a16:creationId xmlns:a16="http://schemas.microsoft.com/office/drawing/2014/main" id="{AD4A38EA-A15E-0F52-B536-79D8F48447A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218B8C43-EDE6-0184-5114-F660EC036207}"/>
              </a:ext>
            </a:extLst>
          </p:cNvPr>
          <p:cNvSpPr>
            <a:spLocks noGrp="1"/>
          </p:cNvSpPr>
          <p:nvPr>
            <p:ph type="sldNum" sz="quarter" idx="5"/>
          </p:nvPr>
        </p:nvSpPr>
        <p:spPr/>
        <p:txBody>
          <a:bodyPr/>
          <a:lstStyle/>
          <a:p>
            <a:fld id="{676223B9-C868-4436-87D9-1A3152E1157A}" type="slidenum">
              <a:rPr lang="es-ES" smtClean="0"/>
              <a:t>15</a:t>
            </a:fld>
            <a:endParaRPr lang="es-ES"/>
          </a:p>
        </p:txBody>
      </p:sp>
    </p:spTree>
    <p:extLst>
      <p:ext uri="{BB962C8B-B14F-4D97-AF65-F5344CB8AC3E}">
        <p14:creationId xmlns:p14="http://schemas.microsoft.com/office/powerpoint/2010/main" val="40653582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2C39F-9474-FE7A-975D-DA15C73ABA8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01B7EFA-6CD5-1E5D-440E-B04B416F395C}"/>
              </a:ext>
            </a:extLst>
          </p:cNvPr>
          <p:cNvSpPr>
            <a:spLocks noGrp="1" noRot="1" noChangeAspect="1"/>
          </p:cNvSpPr>
          <p:nvPr>
            <p:ph type="sldImg"/>
          </p:nvPr>
        </p:nvSpPr>
        <p:spPr/>
        <p:txBody>
          <a:bodyPr/>
          <a:lstStyle/>
          <a:p>
            <a:endParaRPr lang="es-ES"/>
          </a:p>
        </p:txBody>
      </p:sp>
      <p:sp>
        <p:nvSpPr>
          <p:cNvPr id="3" name="Marcador de notas 2">
            <a:extLst>
              <a:ext uri="{FF2B5EF4-FFF2-40B4-BE49-F238E27FC236}">
                <a16:creationId xmlns:a16="http://schemas.microsoft.com/office/drawing/2014/main" id="{C745562C-DE37-5161-3084-9891BC9E88F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074D882-5462-9206-D019-DED402C589DD}"/>
              </a:ext>
            </a:extLst>
          </p:cNvPr>
          <p:cNvSpPr>
            <a:spLocks noGrp="1"/>
          </p:cNvSpPr>
          <p:nvPr>
            <p:ph type="sldNum" sz="quarter" idx="5"/>
          </p:nvPr>
        </p:nvSpPr>
        <p:spPr/>
        <p:txBody>
          <a:bodyPr/>
          <a:lstStyle/>
          <a:p>
            <a:fld id="{676223B9-C868-4436-87D9-1A3152E1157A}" type="slidenum">
              <a:rPr lang="es-ES" smtClean="0"/>
              <a:t>16</a:t>
            </a:fld>
            <a:endParaRPr lang="es-ES"/>
          </a:p>
        </p:txBody>
      </p:sp>
    </p:spTree>
    <p:extLst>
      <p:ext uri="{BB962C8B-B14F-4D97-AF65-F5344CB8AC3E}">
        <p14:creationId xmlns:p14="http://schemas.microsoft.com/office/powerpoint/2010/main" val="23240172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169CA-A6E9-D0C3-4D3A-6AF90891044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EC97DB9-2632-3700-0312-BB76DC46DEE3}"/>
              </a:ext>
            </a:extLst>
          </p:cNvPr>
          <p:cNvSpPr>
            <a:spLocks noGrp="1" noRot="1" noChangeAspect="1"/>
          </p:cNvSpPr>
          <p:nvPr>
            <p:ph type="sldImg"/>
          </p:nvPr>
        </p:nvSpPr>
        <p:spPr/>
        <p:txBody>
          <a:bodyPr/>
          <a:lstStyle/>
          <a:p>
            <a:endParaRPr lang="es-ES"/>
          </a:p>
        </p:txBody>
      </p:sp>
      <p:sp>
        <p:nvSpPr>
          <p:cNvPr id="3" name="Marcador de notas 2">
            <a:extLst>
              <a:ext uri="{FF2B5EF4-FFF2-40B4-BE49-F238E27FC236}">
                <a16:creationId xmlns:a16="http://schemas.microsoft.com/office/drawing/2014/main" id="{4A897758-8CC0-1479-13D7-87B5FBD747CB}"/>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5060DEFB-1A44-3354-5B15-298FF8A10085}"/>
              </a:ext>
            </a:extLst>
          </p:cNvPr>
          <p:cNvSpPr>
            <a:spLocks noGrp="1"/>
          </p:cNvSpPr>
          <p:nvPr>
            <p:ph type="sldNum" sz="quarter" idx="5"/>
          </p:nvPr>
        </p:nvSpPr>
        <p:spPr/>
        <p:txBody>
          <a:bodyPr/>
          <a:lstStyle/>
          <a:p>
            <a:fld id="{676223B9-C868-4436-87D9-1A3152E1157A}" type="slidenum">
              <a:rPr lang="es-ES" smtClean="0"/>
              <a:t>17</a:t>
            </a:fld>
            <a:endParaRPr lang="es-ES"/>
          </a:p>
        </p:txBody>
      </p:sp>
    </p:spTree>
    <p:extLst>
      <p:ext uri="{BB962C8B-B14F-4D97-AF65-F5344CB8AC3E}">
        <p14:creationId xmlns:p14="http://schemas.microsoft.com/office/powerpoint/2010/main" val="15764594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EBF38-BA11-B7DE-2CD1-3864F8A7E40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39B8C61-EF67-C1FB-7960-4693D902EF91}"/>
              </a:ext>
            </a:extLst>
          </p:cNvPr>
          <p:cNvSpPr>
            <a:spLocks noGrp="1" noRot="1" noChangeAspect="1"/>
          </p:cNvSpPr>
          <p:nvPr>
            <p:ph type="sldImg"/>
          </p:nvPr>
        </p:nvSpPr>
        <p:spPr/>
        <p:txBody>
          <a:bodyPr/>
          <a:lstStyle/>
          <a:p>
            <a:endParaRPr lang="es-ES"/>
          </a:p>
        </p:txBody>
      </p:sp>
      <p:sp>
        <p:nvSpPr>
          <p:cNvPr id="3" name="Marcador de notas 2">
            <a:extLst>
              <a:ext uri="{FF2B5EF4-FFF2-40B4-BE49-F238E27FC236}">
                <a16:creationId xmlns:a16="http://schemas.microsoft.com/office/drawing/2014/main" id="{6970B3F4-FFEE-E0FC-790D-9FBD7F166CE2}"/>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8EFB30E-4F96-E2DF-1FA7-1730A8450254}"/>
              </a:ext>
            </a:extLst>
          </p:cNvPr>
          <p:cNvSpPr>
            <a:spLocks noGrp="1"/>
          </p:cNvSpPr>
          <p:nvPr>
            <p:ph type="sldNum" sz="quarter" idx="5"/>
          </p:nvPr>
        </p:nvSpPr>
        <p:spPr/>
        <p:txBody>
          <a:bodyPr/>
          <a:lstStyle/>
          <a:p>
            <a:fld id="{676223B9-C868-4436-87D9-1A3152E1157A}" type="slidenum">
              <a:rPr lang="es-ES" smtClean="0"/>
              <a:t>18</a:t>
            </a:fld>
            <a:endParaRPr lang="es-ES"/>
          </a:p>
        </p:txBody>
      </p:sp>
    </p:spTree>
    <p:extLst>
      <p:ext uri="{BB962C8B-B14F-4D97-AF65-F5344CB8AC3E}">
        <p14:creationId xmlns:p14="http://schemas.microsoft.com/office/powerpoint/2010/main" val="22636753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8963D-50E7-E85B-6019-626EB58DF9B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E7276E3-00F5-8C7F-CD05-DAC0BF2793C7}"/>
              </a:ext>
            </a:extLst>
          </p:cNvPr>
          <p:cNvSpPr>
            <a:spLocks noGrp="1" noRot="1" noChangeAspect="1"/>
          </p:cNvSpPr>
          <p:nvPr>
            <p:ph type="sldImg"/>
          </p:nvPr>
        </p:nvSpPr>
        <p:spPr/>
        <p:txBody>
          <a:bodyPr/>
          <a:lstStyle/>
          <a:p>
            <a:endParaRPr lang="es-ES"/>
          </a:p>
        </p:txBody>
      </p:sp>
      <p:sp>
        <p:nvSpPr>
          <p:cNvPr id="3" name="Marcador de notas 2">
            <a:extLst>
              <a:ext uri="{FF2B5EF4-FFF2-40B4-BE49-F238E27FC236}">
                <a16:creationId xmlns:a16="http://schemas.microsoft.com/office/drawing/2014/main" id="{3B6F8195-CE40-0724-D8EC-5309AB175E70}"/>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200EA160-CE4D-7D7B-DB4F-03B49A488172}"/>
              </a:ext>
            </a:extLst>
          </p:cNvPr>
          <p:cNvSpPr>
            <a:spLocks noGrp="1"/>
          </p:cNvSpPr>
          <p:nvPr>
            <p:ph type="sldNum" sz="quarter" idx="5"/>
          </p:nvPr>
        </p:nvSpPr>
        <p:spPr/>
        <p:txBody>
          <a:bodyPr/>
          <a:lstStyle/>
          <a:p>
            <a:fld id="{676223B9-C868-4436-87D9-1A3152E1157A}" type="slidenum">
              <a:rPr lang="es-ES" smtClean="0"/>
              <a:t>19</a:t>
            </a:fld>
            <a:endParaRPr lang="es-ES"/>
          </a:p>
        </p:txBody>
      </p:sp>
    </p:spTree>
    <p:extLst>
      <p:ext uri="{BB962C8B-B14F-4D97-AF65-F5344CB8AC3E}">
        <p14:creationId xmlns:p14="http://schemas.microsoft.com/office/powerpoint/2010/main" val="32848222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63ABA-A9E6-3EAD-9100-EEC699AF30B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BCD3EBC-EBAC-4E96-1EE6-72A04F9DB3C0}"/>
              </a:ext>
            </a:extLst>
          </p:cNvPr>
          <p:cNvSpPr>
            <a:spLocks noGrp="1" noRot="1" noChangeAspect="1"/>
          </p:cNvSpPr>
          <p:nvPr>
            <p:ph type="sldImg"/>
          </p:nvPr>
        </p:nvSpPr>
        <p:spPr/>
        <p:txBody>
          <a:bodyPr/>
          <a:lstStyle/>
          <a:p>
            <a:endParaRPr lang="es-ES"/>
          </a:p>
        </p:txBody>
      </p:sp>
      <p:sp>
        <p:nvSpPr>
          <p:cNvPr id="3" name="Marcador de notas 2">
            <a:extLst>
              <a:ext uri="{FF2B5EF4-FFF2-40B4-BE49-F238E27FC236}">
                <a16:creationId xmlns:a16="http://schemas.microsoft.com/office/drawing/2014/main" id="{6013D798-C0BB-4ECB-6657-39B945EB01E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78C99060-40F8-8D81-D4AF-E29E3EFA56F3}"/>
              </a:ext>
            </a:extLst>
          </p:cNvPr>
          <p:cNvSpPr>
            <a:spLocks noGrp="1"/>
          </p:cNvSpPr>
          <p:nvPr>
            <p:ph type="sldNum" sz="quarter" idx="5"/>
          </p:nvPr>
        </p:nvSpPr>
        <p:spPr/>
        <p:txBody>
          <a:bodyPr/>
          <a:lstStyle/>
          <a:p>
            <a:fld id="{676223B9-C868-4436-87D9-1A3152E1157A}" type="slidenum">
              <a:rPr lang="es-ES" smtClean="0"/>
              <a:t>20</a:t>
            </a:fld>
            <a:endParaRPr lang="es-ES"/>
          </a:p>
        </p:txBody>
      </p:sp>
    </p:spTree>
    <p:extLst>
      <p:ext uri="{BB962C8B-B14F-4D97-AF65-F5344CB8AC3E}">
        <p14:creationId xmlns:p14="http://schemas.microsoft.com/office/powerpoint/2010/main" val="12789537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7AD7D-4001-77CE-69D4-E8DC4F2B6E9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566BF56-E039-9B6A-47DD-E66295ACD30B}"/>
              </a:ext>
            </a:extLst>
          </p:cNvPr>
          <p:cNvSpPr>
            <a:spLocks noGrp="1" noRot="1" noChangeAspect="1"/>
          </p:cNvSpPr>
          <p:nvPr>
            <p:ph type="sldImg"/>
          </p:nvPr>
        </p:nvSpPr>
        <p:spPr/>
        <p:txBody>
          <a:bodyPr/>
          <a:lstStyle/>
          <a:p>
            <a:endParaRPr lang="es-ES"/>
          </a:p>
        </p:txBody>
      </p:sp>
      <p:sp>
        <p:nvSpPr>
          <p:cNvPr id="3" name="Marcador de notas 2">
            <a:extLst>
              <a:ext uri="{FF2B5EF4-FFF2-40B4-BE49-F238E27FC236}">
                <a16:creationId xmlns:a16="http://schemas.microsoft.com/office/drawing/2014/main" id="{066A23BC-7570-DA40-359B-CEE07BA6EF26}"/>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F7BF6237-C322-F7D2-2E81-65D90652FC7D}"/>
              </a:ext>
            </a:extLst>
          </p:cNvPr>
          <p:cNvSpPr>
            <a:spLocks noGrp="1"/>
          </p:cNvSpPr>
          <p:nvPr>
            <p:ph type="sldNum" sz="quarter" idx="5"/>
          </p:nvPr>
        </p:nvSpPr>
        <p:spPr/>
        <p:txBody>
          <a:bodyPr/>
          <a:lstStyle/>
          <a:p>
            <a:fld id="{676223B9-C868-4436-87D9-1A3152E1157A}" type="slidenum">
              <a:rPr lang="es-ES" smtClean="0"/>
              <a:t>21</a:t>
            </a:fld>
            <a:endParaRPr lang="es-ES"/>
          </a:p>
        </p:txBody>
      </p:sp>
    </p:spTree>
    <p:extLst>
      <p:ext uri="{BB962C8B-B14F-4D97-AF65-F5344CB8AC3E}">
        <p14:creationId xmlns:p14="http://schemas.microsoft.com/office/powerpoint/2010/main" val="42909986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1F288-F777-3B53-F264-EFEE725E151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8F1A52B-B026-CCC0-1B00-8EEE0E50715C}"/>
              </a:ext>
            </a:extLst>
          </p:cNvPr>
          <p:cNvSpPr>
            <a:spLocks noGrp="1" noRot="1" noChangeAspect="1"/>
          </p:cNvSpPr>
          <p:nvPr>
            <p:ph type="sldImg"/>
          </p:nvPr>
        </p:nvSpPr>
        <p:spPr/>
        <p:txBody>
          <a:bodyPr/>
          <a:lstStyle/>
          <a:p>
            <a:endParaRPr lang="es-ES"/>
          </a:p>
        </p:txBody>
      </p:sp>
      <p:sp>
        <p:nvSpPr>
          <p:cNvPr id="3" name="Marcador de notas 2">
            <a:extLst>
              <a:ext uri="{FF2B5EF4-FFF2-40B4-BE49-F238E27FC236}">
                <a16:creationId xmlns:a16="http://schemas.microsoft.com/office/drawing/2014/main" id="{CB4C4812-43D6-E8C4-7B1C-52F6C0792205}"/>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435B7B75-E58C-45D5-029A-5B4742AE7F7F}"/>
              </a:ext>
            </a:extLst>
          </p:cNvPr>
          <p:cNvSpPr>
            <a:spLocks noGrp="1"/>
          </p:cNvSpPr>
          <p:nvPr>
            <p:ph type="sldNum" sz="quarter" idx="5"/>
          </p:nvPr>
        </p:nvSpPr>
        <p:spPr/>
        <p:txBody>
          <a:bodyPr/>
          <a:lstStyle/>
          <a:p>
            <a:fld id="{676223B9-C868-4436-87D9-1A3152E1157A}" type="slidenum">
              <a:rPr lang="es-ES" smtClean="0"/>
              <a:t>22</a:t>
            </a:fld>
            <a:endParaRPr lang="es-ES"/>
          </a:p>
        </p:txBody>
      </p:sp>
    </p:spTree>
    <p:extLst>
      <p:ext uri="{BB962C8B-B14F-4D97-AF65-F5344CB8AC3E}">
        <p14:creationId xmlns:p14="http://schemas.microsoft.com/office/powerpoint/2010/main" val="14199260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BB254-276D-827D-309B-D7FA7693E34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AB39A9B-934D-8968-B6FC-404B6DECECDB}"/>
              </a:ext>
            </a:extLst>
          </p:cNvPr>
          <p:cNvSpPr>
            <a:spLocks noGrp="1" noRot="1" noChangeAspect="1"/>
          </p:cNvSpPr>
          <p:nvPr>
            <p:ph type="sldImg"/>
          </p:nvPr>
        </p:nvSpPr>
        <p:spPr/>
        <p:txBody>
          <a:bodyPr/>
          <a:lstStyle/>
          <a:p>
            <a:endParaRPr lang="es-ES"/>
          </a:p>
        </p:txBody>
      </p:sp>
      <p:sp>
        <p:nvSpPr>
          <p:cNvPr id="3" name="Marcador de notas 2">
            <a:extLst>
              <a:ext uri="{FF2B5EF4-FFF2-40B4-BE49-F238E27FC236}">
                <a16:creationId xmlns:a16="http://schemas.microsoft.com/office/drawing/2014/main" id="{D1BD4B71-EB89-324F-72CA-80E8E929FDE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0EB0EE9-F27E-F82B-4490-1585618068F8}"/>
              </a:ext>
            </a:extLst>
          </p:cNvPr>
          <p:cNvSpPr>
            <a:spLocks noGrp="1"/>
          </p:cNvSpPr>
          <p:nvPr>
            <p:ph type="sldNum" sz="quarter" idx="5"/>
          </p:nvPr>
        </p:nvSpPr>
        <p:spPr/>
        <p:txBody>
          <a:bodyPr/>
          <a:lstStyle/>
          <a:p>
            <a:fld id="{676223B9-C868-4436-87D9-1A3152E1157A}" type="slidenum">
              <a:rPr lang="es-ES" smtClean="0"/>
              <a:t>23</a:t>
            </a:fld>
            <a:endParaRPr lang="es-ES"/>
          </a:p>
        </p:txBody>
      </p:sp>
    </p:spTree>
    <p:extLst>
      <p:ext uri="{BB962C8B-B14F-4D97-AF65-F5344CB8AC3E}">
        <p14:creationId xmlns:p14="http://schemas.microsoft.com/office/powerpoint/2010/main" val="18795635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74123-205D-56D0-80F7-1ACB6CA703D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FD41EA9-568C-5156-9F54-C3C332F7C112}"/>
              </a:ext>
            </a:extLst>
          </p:cNvPr>
          <p:cNvSpPr>
            <a:spLocks noGrp="1" noRot="1" noChangeAspect="1"/>
          </p:cNvSpPr>
          <p:nvPr>
            <p:ph type="sldImg"/>
          </p:nvPr>
        </p:nvSpPr>
        <p:spPr/>
        <p:txBody>
          <a:bodyPr/>
          <a:lstStyle/>
          <a:p>
            <a:endParaRPr lang="es-ES"/>
          </a:p>
        </p:txBody>
      </p:sp>
      <p:sp>
        <p:nvSpPr>
          <p:cNvPr id="3" name="Marcador de notas 2">
            <a:extLst>
              <a:ext uri="{FF2B5EF4-FFF2-40B4-BE49-F238E27FC236}">
                <a16:creationId xmlns:a16="http://schemas.microsoft.com/office/drawing/2014/main" id="{6C86C573-CD0D-6318-2AE1-AB70B22942AC}"/>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FB6F04DB-5A0B-9B19-9554-8F5D65DD863F}"/>
              </a:ext>
            </a:extLst>
          </p:cNvPr>
          <p:cNvSpPr>
            <a:spLocks noGrp="1"/>
          </p:cNvSpPr>
          <p:nvPr>
            <p:ph type="sldNum" sz="quarter" idx="5"/>
          </p:nvPr>
        </p:nvSpPr>
        <p:spPr/>
        <p:txBody>
          <a:bodyPr/>
          <a:lstStyle/>
          <a:p>
            <a:fld id="{676223B9-C868-4436-87D9-1A3152E1157A}" type="slidenum">
              <a:rPr lang="es-ES" smtClean="0"/>
              <a:t>24</a:t>
            </a:fld>
            <a:endParaRPr lang="es-ES"/>
          </a:p>
        </p:txBody>
      </p:sp>
    </p:spTree>
    <p:extLst>
      <p:ext uri="{BB962C8B-B14F-4D97-AF65-F5344CB8AC3E}">
        <p14:creationId xmlns:p14="http://schemas.microsoft.com/office/powerpoint/2010/main" val="35277499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0B879-E6B7-0777-329D-0396DC813AD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7EB0F61-A616-E4D1-29C1-1A5C6E708590}"/>
              </a:ext>
            </a:extLst>
          </p:cNvPr>
          <p:cNvSpPr>
            <a:spLocks noGrp="1" noRot="1" noChangeAspect="1"/>
          </p:cNvSpPr>
          <p:nvPr>
            <p:ph type="sldImg"/>
          </p:nvPr>
        </p:nvSpPr>
        <p:spPr/>
        <p:txBody>
          <a:bodyPr/>
          <a:lstStyle/>
          <a:p>
            <a:endParaRPr lang="es-ES"/>
          </a:p>
        </p:txBody>
      </p:sp>
      <p:sp>
        <p:nvSpPr>
          <p:cNvPr id="3" name="Marcador de notas 2">
            <a:extLst>
              <a:ext uri="{FF2B5EF4-FFF2-40B4-BE49-F238E27FC236}">
                <a16:creationId xmlns:a16="http://schemas.microsoft.com/office/drawing/2014/main" id="{CD9F32E5-1B93-4AB7-2109-40B4EDB00D1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2DBC176-0EFE-CFCB-1B4B-865E3EB19AA9}"/>
              </a:ext>
            </a:extLst>
          </p:cNvPr>
          <p:cNvSpPr>
            <a:spLocks noGrp="1"/>
          </p:cNvSpPr>
          <p:nvPr>
            <p:ph type="sldNum" sz="quarter" idx="5"/>
          </p:nvPr>
        </p:nvSpPr>
        <p:spPr/>
        <p:txBody>
          <a:bodyPr/>
          <a:lstStyle/>
          <a:p>
            <a:fld id="{676223B9-C868-4436-87D9-1A3152E1157A}" type="slidenum">
              <a:rPr lang="es-ES" smtClean="0"/>
              <a:t>25</a:t>
            </a:fld>
            <a:endParaRPr lang="es-ES"/>
          </a:p>
        </p:txBody>
      </p:sp>
    </p:spTree>
    <p:extLst>
      <p:ext uri="{BB962C8B-B14F-4D97-AF65-F5344CB8AC3E}">
        <p14:creationId xmlns:p14="http://schemas.microsoft.com/office/powerpoint/2010/main" val="39797477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81B9F-053B-4176-AAAE-DAD14E8E548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C468C03-91ED-94FB-A199-68E9404BA9E4}"/>
              </a:ext>
            </a:extLst>
          </p:cNvPr>
          <p:cNvSpPr>
            <a:spLocks noGrp="1" noRot="1" noChangeAspect="1"/>
          </p:cNvSpPr>
          <p:nvPr>
            <p:ph type="sldImg"/>
          </p:nvPr>
        </p:nvSpPr>
        <p:spPr/>
        <p:txBody>
          <a:bodyPr/>
          <a:lstStyle/>
          <a:p>
            <a:endParaRPr lang="es-ES"/>
          </a:p>
        </p:txBody>
      </p:sp>
      <p:sp>
        <p:nvSpPr>
          <p:cNvPr id="3" name="Marcador de notas 2">
            <a:extLst>
              <a:ext uri="{FF2B5EF4-FFF2-40B4-BE49-F238E27FC236}">
                <a16:creationId xmlns:a16="http://schemas.microsoft.com/office/drawing/2014/main" id="{2DB8F55E-3B74-4882-908B-D72A962B5126}"/>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390D340-293E-4F6D-B73C-10D55F1CEFF3}"/>
              </a:ext>
            </a:extLst>
          </p:cNvPr>
          <p:cNvSpPr>
            <a:spLocks noGrp="1"/>
          </p:cNvSpPr>
          <p:nvPr>
            <p:ph type="sldNum" sz="quarter" idx="5"/>
          </p:nvPr>
        </p:nvSpPr>
        <p:spPr/>
        <p:txBody>
          <a:bodyPr/>
          <a:lstStyle/>
          <a:p>
            <a:fld id="{676223B9-C868-4436-87D9-1A3152E1157A}" type="slidenum">
              <a:rPr lang="es-ES" smtClean="0"/>
              <a:t>26</a:t>
            </a:fld>
            <a:endParaRPr lang="es-ES"/>
          </a:p>
        </p:txBody>
      </p:sp>
    </p:spTree>
    <p:extLst>
      <p:ext uri="{BB962C8B-B14F-4D97-AF65-F5344CB8AC3E}">
        <p14:creationId xmlns:p14="http://schemas.microsoft.com/office/powerpoint/2010/main" val="35289890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A4481-C054-85DC-96F4-D86CCF8F17E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69FED43-4797-B8C9-AB22-82F901A0FD2F}"/>
              </a:ext>
            </a:extLst>
          </p:cNvPr>
          <p:cNvSpPr>
            <a:spLocks noGrp="1" noRot="1" noChangeAspect="1"/>
          </p:cNvSpPr>
          <p:nvPr>
            <p:ph type="sldImg"/>
          </p:nvPr>
        </p:nvSpPr>
        <p:spPr/>
        <p:txBody>
          <a:bodyPr/>
          <a:lstStyle/>
          <a:p>
            <a:endParaRPr lang="es-ES"/>
          </a:p>
        </p:txBody>
      </p:sp>
      <p:sp>
        <p:nvSpPr>
          <p:cNvPr id="3" name="Marcador de notas 2">
            <a:extLst>
              <a:ext uri="{FF2B5EF4-FFF2-40B4-BE49-F238E27FC236}">
                <a16:creationId xmlns:a16="http://schemas.microsoft.com/office/drawing/2014/main" id="{2C91985C-8A36-9B89-A941-86CD4E45FC6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CE069E6-CACF-B262-9AD2-9BB13E5D81DC}"/>
              </a:ext>
            </a:extLst>
          </p:cNvPr>
          <p:cNvSpPr>
            <a:spLocks noGrp="1"/>
          </p:cNvSpPr>
          <p:nvPr>
            <p:ph type="sldNum" sz="quarter" idx="5"/>
          </p:nvPr>
        </p:nvSpPr>
        <p:spPr/>
        <p:txBody>
          <a:bodyPr/>
          <a:lstStyle/>
          <a:p>
            <a:fld id="{676223B9-C868-4436-87D9-1A3152E1157A}" type="slidenum">
              <a:rPr lang="es-ES" smtClean="0"/>
              <a:t>27</a:t>
            </a:fld>
            <a:endParaRPr lang="es-ES"/>
          </a:p>
        </p:txBody>
      </p:sp>
    </p:spTree>
    <p:extLst>
      <p:ext uri="{BB962C8B-B14F-4D97-AF65-F5344CB8AC3E}">
        <p14:creationId xmlns:p14="http://schemas.microsoft.com/office/powerpoint/2010/main" val="19620988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87C0D-6109-1E38-A6A8-2E1F860A39E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EDE20D1-DA89-FCBD-ACEB-464F783A0E48}"/>
              </a:ext>
            </a:extLst>
          </p:cNvPr>
          <p:cNvSpPr>
            <a:spLocks noGrp="1" noRot="1" noChangeAspect="1"/>
          </p:cNvSpPr>
          <p:nvPr>
            <p:ph type="sldImg"/>
          </p:nvPr>
        </p:nvSpPr>
        <p:spPr/>
        <p:txBody>
          <a:bodyPr/>
          <a:lstStyle/>
          <a:p>
            <a:endParaRPr lang="es-ES"/>
          </a:p>
        </p:txBody>
      </p:sp>
      <p:sp>
        <p:nvSpPr>
          <p:cNvPr id="3" name="Marcador de notas 2">
            <a:extLst>
              <a:ext uri="{FF2B5EF4-FFF2-40B4-BE49-F238E27FC236}">
                <a16:creationId xmlns:a16="http://schemas.microsoft.com/office/drawing/2014/main" id="{F7F29E83-7B6B-3965-BE16-D4DAA4B91D2B}"/>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FF589071-0387-EEB7-90BF-5D544C2DA3E9}"/>
              </a:ext>
            </a:extLst>
          </p:cNvPr>
          <p:cNvSpPr>
            <a:spLocks noGrp="1"/>
          </p:cNvSpPr>
          <p:nvPr>
            <p:ph type="sldNum" sz="quarter" idx="5"/>
          </p:nvPr>
        </p:nvSpPr>
        <p:spPr/>
        <p:txBody>
          <a:bodyPr/>
          <a:lstStyle/>
          <a:p>
            <a:fld id="{676223B9-C868-4436-87D9-1A3152E1157A}" type="slidenum">
              <a:rPr lang="es-ES" smtClean="0"/>
              <a:t>28</a:t>
            </a:fld>
            <a:endParaRPr lang="es-ES"/>
          </a:p>
        </p:txBody>
      </p:sp>
    </p:spTree>
    <p:extLst>
      <p:ext uri="{BB962C8B-B14F-4D97-AF65-F5344CB8AC3E}">
        <p14:creationId xmlns:p14="http://schemas.microsoft.com/office/powerpoint/2010/main" val="8477478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EC4CC-AE21-0869-5F56-45557BC1FD2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3B87EC7-C4FA-35C9-8769-21F0C8975052}"/>
              </a:ext>
            </a:extLst>
          </p:cNvPr>
          <p:cNvSpPr>
            <a:spLocks noGrp="1" noRot="1" noChangeAspect="1"/>
          </p:cNvSpPr>
          <p:nvPr>
            <p:ph type="sldImg"/>
          </p:nvPr>
        </p:nvSpPr>
        <p:spPr/>
        <p:txBody>
          <a:bodyPr/>
          <a:lstStyle/>
          <a:p>
            <a:endParaRPr lang="es-ES"/>
          </a:p>
        </p:txBody>
      </p:sp>
      <p:sp>
        <p:nvSpPr>
          <p:cNvPr id="3" name="Marcador de notas 2">
            <a:extLst>
              <a:ext uri="{FF2B5EF4-FFF2-40B4-BE49-F238E27FC236}">
                <a16:creationId xmlns:a16="http://schemas.microsoft.com/office/drawing/2014/main" id="{BC2AC7AF-DE3D-505F-7986-B50B73E6F3EB}"/>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006D7C4-0749-3FE7-8611-055E88A54E54}"/>
              </a:ext>
            </a:extLst>
          </p:cNvPr>
          <p:cNvSpPr>
            <a:spLocks noGrp="1"/>
          </p:cNvSpPr>
          <p:nvPr>
            <p:ph type="sldNum" sz="quarter" idx="5"/>
          </p:nvPr>
        </p:nvSpPr>
        <p:spPr/>
        <p:txBody>
          <a:bodyPr/>
          <a:lstStyle/>
          <a:p>
            <a:fld id="{676223B9-C868-4436-87D9-1A3152E1157A}" type="slidenum">
              <a:rPr lang="es-ES" smtClean="0"/>
              <a:t>29</a:t>
            </a:fld>
            <a:endParaRPr lang="es-ES"/>
          </a:p>
        </p:txBody>
      </p:sp>
    </p:spTree>
    <p:extLst>
      <p:ext uri="{BB962C8B-B14F-4D97-AF65-F5344CB8AC3E}">
        <p14:creationId xmlns:p14="http://schemas.microsoft.com/office/powerpoint/2010/main" val="17649241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4.0. LAYOUT</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4.0. LAYOUT</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4.0. LAYOUT</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exto simple">
    <p:spTree>
      <p:nvGrpSpPr>
        <p:cNvPr id="1" name=""/>
        <p:cNvGrpSpPr/>
        <p:nvPr/>
      </p:nvGrpSpPr>
      <p:grpSpPr>
        <a:xfrm>
          <a:off x="0" y="0"/>
          <a:ext cx="0" cy="0"/>
          <a:chOff x="0" y="0"/>
          <a:chExt cx="0" cy="0"/>
        </a:xfrm>
      </p:grpSpPr>
      <p:sp>
        <p:nvSpPr>
          <p:cNvPr id="6" name="Rectangle 47"/>
          <p:cNvSpPr/>
          <p:nvPr userDrawn="1"/>
        </p:nvSpPr>
        <p:spPr>
          <a:xfrm>
            <a:off x="608171" y="381001"/>
            <a:ext cx="45731" cy="68349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ítulo 8"/>
          <p:cNvSpPr>
            <a:spLocks noGrp="1"/>
          </p:cNvSpPr>
          <p:nvPr>
            <p:ph type="title" hasCustomPrompt="1"/>
          </p:nvPr>
        </p:nvSpPr>
        <p:spPr>
          <a:xfrm>
            <a:off x="736652" y="381000"/>
            <a:ext cx="7778317" cy="313782"/>
          </a:xfrm>
        </p:spPr>
        <p:txBody>
          <a:bodyPr>
            <a:normAutofit/>
          </a:bodyPr>
          <a:lstStyle>
            <a:lvl1pPr algn="l">
              <a:defRPr sz="2800" b="1" i="0" baseline="0">
                <a:solidFill>
                  <a:schemeClr val="tx1">
                    <a:lumMod val="65000"/>
                    <a:lumOff val="35000"/>
                  </a:schemeClr>
                </a:solidFill>
                <a:latin typeface="Calibri" panose="020F0502020204030204" pitchFamily="34" charset="0"/>
                <a:ea typeface="Open Sans Extrabold" panose="020B0906030804020204" pitchFamily="34" charset="0"/>
                <a:cs typeface="Calibri" panose="020F0502020204030204" pitchFamily="34" charset="0"/>
              </a:defRPr>
            </a:lvl1pPr>
          </a:lstStyle>
          <a:p>
            <a:r>
              <a:rPr lang="es-ES" dirty="0"/>
              <a:t>TITULO</a:t>
            </a:r>
          </a:p>
        </p:txBody>
      </p:sp>
      <p:sp>
        <p:nvSpPr>
          <p:cNvPr id="13" name="Marcador de texto 12"/>
          <p:cNvSpPr>
            <a:spLocks noGrp="1"/>
          </p:cNvSpPr>
          <p:nvPr>
            <p:ph type="body" sz="quarter" idx="10" hasCustomPrompt="1"/>
          </p:nvPr>
        </p:nvSpPr>
        <p:spPr>
          <a:xfrm>
            <a:off x="608171" y="1295401"/>
            <a:ext cx="11051877" cy="4958137"/>
          </a:xfrm>
        </p:spPr>
        <p:txBody>
          <a:bodyPr>
            <a:normAutofit/>
          </a:bodyPr>
          <a:lstStyle>
            <a:lvl1pPr>
              <a:defRPr sz="2400" baseline="0">
                <a:latin typeface="Calibri" panose="020F0502020204030204" pitchFamily="34" charset="0"/>
                <a:ea typeface="Open Sans Light" panose="020B0306030504020204" pitchFamily="34" charset="0"/>
                <a:cs typeface="Calibri" panose="020F0502020204030204" pitchFamily="34" charset="0"/>
              </a:defRPr>
            </a:lvl1pPr>
            <a:lvl2pPr>
              <a:defRPr sz="1800">
                <a:latin typeface="Calibri" panose="020F0502020204030204" pitchFamily="34" charset="0"/>
                <a:ea typeface="Open Sans Light" panose="020B0306030504020204" pitchFamily="34" charset="0"/>
                <a:cs typeface="Calibri" panose="020F0502020204030204" pitchFamily="34" charset="0"/>
              </a:defRPr>
            </a:lvl2pPr>
            <a:lvl3pPr>
              <a:defRPr sz="1600">
                <a:latin typeface="Calibri" panose="020F0502020204030204" pitchFamily="34" charset="0"/>
                <a:ea typeface="Open Sans Light" panose="020B0306030504020204" pitchFamily="34" charset="0"/>
                <a:cs typeface="Calibri" panose="020F0502020204030204" pitchFamily="34" charset="0"/>
              </a:defRPr>
            </a:lvl3pPr>
            <a:lvl4pPr>
              <a:defRPr sz="1400">
                <a:latin typeface="Calibri" panose="020F0502020204030204" pitchFamily="34" charset="0"/>
                <a:ea typeface="Open Sans Light" panose="020B0306030504020204" pitchFamily="34" charset="0"/>
                <a:cs typeface="Calibri" panose="020F0502020204030204" pitchFamily="34" charset="0"/>
              </a:defRPr>
            </a:lvl4pPr>
            <a:lvl5pPr>
              <a:defRPr sz="1400">
                <a:latin typeface="Calibri" panose="020F0502020204030204" pitchFamily="34" charset="0"/>
                <a:ea typeface="Open Sans Light" panose="020B0306030504020204" pitchFamily="34" charset="0"/>
                <a:cs typeface="Calibri" panose="020F0502020204030204" pitchFamily="34" charset="0"/>
              </a:defRPr>
            </a:lvl5pPr>
          </a:lstStyle>
          <a:p>
            <a:pPr lvl="0"/>
            <a:r>
              <a:rPr lang="es-ES" dirty="0"/>
              <a:t>Texto del contenido</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23" name="Marcador de texto 22"/>
          <p:cNvSpPr>
            <a:spLocks noGrp="1"/>
          </p:cNvSpPr>
          <p:nvPr>
            <p:ph type="body" sz="quarter" idx="11" hasCustomPrompt="1"/>
          </p:nvPr>
        </p:nvSpPr>
        <p:spPr>
          <a:xfrm>
            <a:off x="736652" y="730647"/>
            <a:ext cx="7778317" cy="381000"/>
          </a:xfrm>
        </p:spPr>
        <p:txBody>
          <a:bodyPr>
            <a:noAutofit/>
          </a:bodyPr>
          <a:lstStyle>
            <a:lvl1pPr marL="0" indent="0">
              <a:buNone/>
              <a:defRPr sz="2000">
                <a:latin typeface="Calibri" panose="020F0502020204030204" pitchFamily="34" charset="0"/>
                <a:ea typeface="Open Sans Light" panose="020B0306030504020204" pitchFamily="34" charset="0"/>
                <a:cs typeface="Calibri" panose="020F0502020204030204" pitchFamily="34" charset="0"/>
              </a:defRPr>
            </a:lvl1pPr>
          </a:lstStyle>
          <a:p>
            <a:pPr lvl="0"/>
            <a:r>
              <a:rPr lang="es-ES" dirty="0"/>
              <a:t>Subtítulo del artículo con una explicación corta a modo resumen</a:t>
            </a:r>
          </a:p>
        </p:txBody>
      </p:sp>
      <p:sp>
        <p:nvSpPr>
          <p:cNvPr id="11" name="Date Placeholder 3"/>
          <p:cNvSpPr>
            <a:spLocks noGrp="1"/>
          </p:cNvSpPr>
          <p:nvPr>
            <p:ph type="dt" sz="half" idx="2"/>
          </p:nvPr>
        </p:nvSpPr>
        <p:spPr>
          <a:xfrm>
            <a:off x="609600" y="6387407"/>
            <a:ext cx="1980287" cy="303019"/>
          </a:xfrm>
          <a:prstGeom prst="rect">
            <a:avLst/>
          </a:prstGeom>
        </p:spPr>
        <p:txBody>
          <a:bodyPr vert="horz" lIns="117208" tIns="58604" rIns="117208" bIns="58604" rtlCol="0" anchor="ctr"/>
          <a:lstStyle>
            <a:lvl1pPr algn="l">
              <a:defRPr sz="1200">
                <a:solidFill>
                  <a:schemeClr val="tx1">
                    <a:tint val="75000"/>
                  </a:schemeClr>
                </a:solidFill>
              </a:defRPr>
            </a:lvl1pPr>
          </a:lstStyle>
          <a:p>
            <a:endParaRPr lang="en-US" dirty="0"/>
          </a:p>
        </p:txBody>
      </p:sp>
      <p:sp>
        <p:nvSpPr>
          <p:cNvPr id="12" name="Footer Placeholder 4"/>
          <p:cNvSpPr>
            <a:spLocks noGrp="1"/>
          </p:cNvSpPr>
          <p:nvPr>
            <p:ph type="ftr" sz="quarter" idx="3"/>
          </p:nvPr>
        </p:nvSpPr>
        <p:spPr>
          <a:xfrm>
            <a:off x="2894768" y="6387407"/>
            <a:ext cx="6402465" cy="303019"/>
          </a:xfrm>
          <a:prstGeom prst="rect">
            <a:avLst/>
          </a:prstGeom>
        </p:spPr>
        <p:txBody>
          <a:bodyPr vert="horz" lIns="117208" tIns="58604" rIns="117208" bIns="58604" rtlCol="0" anchor="ctr"/>
          <a:lstStyle>
            <a:lvl1pPr algn="ctr">
              <a:defRPr sz="1200">
                <a:solidFill>
                  <a:schemeClr val="tx1">
                    <a:tint val="75000"/>
                  </a:schemeClr>
                </a:solidFill>
              </a:defRPr>
            </a:lvl1pPr>
          </a:lstStyle>
          <a:p>
            <a:r>
              <a:rPr lang="en-US"/>
              <a:t>LAB 4.0. LAYOUT</a:t>
            </a:r>
          </a:p>
        </p:txBody>
      </p:sp>
      <p:sp>
        <p:nvSpPr>
          <p:cNvPr id="14" name="Slide Number Placeholder 5"/>
          <p:cNvSpPr>
            <a:spLocks noGrp="1"/>
          </p:cNvSpPr>
          <p:nvPr>
            <p:ph type="sldNum" sz="quarter" idx="4"/>
          </p:nvPr>
        </p:nvSpPr>
        <p:spPr>
          <a:xfrm>
            <a:off x="11431389" y="6388096"/>
            <a:ext cx="760611" cy="303019"/>
          </a:xfrm>
          <a:prstGeom prst="rect">
            <a:avLst/>
          </a:prstGeom>
          <a:solidFill>
            <a:schemeClr val="bg2"/>
          </a:solidFill>
        </p:spPr>
        <p:txBody>
          <a:bodyPr vert="horz" lIns="117208" tIns="58604" rIns="117208" bIns="58604" rtlCol="0" anchor="ctr"/>
          <a:lstStyle>
            <a:lvl1pPr algn="r">
              <a:defRPr sz="1200">
                <a:solidFill>
                  <a:srgbClr val="FF6309"/>
                </a:solidFill>
              </a:defRPr>
            </a:lvl1pPr>
          </a:lstStyle>
          <a:p>
            <a:fld id="{C2F52289-4012-4053-9770-FE82CEB9514F}" type="slidenum">
              <a:rPr lang="en-US" smtClean="0"/>
              <a:pPr/>
              <a:t>‹#›</a:t>
            </a:fld>
            <a:endParaRPr lang="en-US" dirty="0"/>
          </a:p>
        </p:txBody>
      </p:sp>
    </p:spTree>
    <p:extLst>
      <p:ext uri="{BB962C8B-B14F-4D97-AF65-F5344CB8AC3E}">
        <p14:creationId xmlns:p14="http://schemas.microsoft.com/office/powerpoint/2010/main" val="3024640384"/>
      </p:ext>
    </p:extLst>
  </p:cSld>
  <p:clrMapOvr>
    <a:masterClrMapping/>
  </p:clrMapOvr>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8"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4.0. LAYOUT</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pascualmunoz/cifoin-lab4.git" TargetMode="External"/><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9213724" cy="505267"/>
          </a:xfrm>
          <a:prstGeom prst="rect">
            <a:avLst/>
          </a:prstGeom>
        </p:spPr>
        <p:txBody>
          <a:bodyPr vert="horz" wrap="square" lIns="0" tIns="12700" rIns="0" bIns="0" rtlCol="0">
            <a:spAutoFit/>
          </a:bodyPr>
          <a:lstStyle/>
          <a:p>
            <a:pPr marL="12700">
              <a:lnSpc>
                <a:spcPct val="100000"/>
              </a:lnSpc>
              <a:spcBef>
                <a:spcPts val="100"/>
              </a:spcBef>
            </a:pPr>
            <a:r>
              <a:rPr lang="es-ES" sz="3200" b="1" dirty="0">
                <a:latin typeface="Lucida Sans"/>
                <a:cs typeface="Lucida Sans"/>
              </a:rPr>
              <a:t>Lab Book 3.0 Circuits and Compact </a:t>
            </a:r>
            <a:r>
              <a:rPr lang="es-ES" sz="3200" b="1" dirty="0" err="1">
                <a:latin typeface="Lucida Sans"/>
                <a:cs typeface="Lucida Sans"/>
              </a:rPr>
              <a:t>Models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a:t>
            </a:r>
            <a:r>
              <a:rPr lang="es-ES" spc="165" dirty="0">
                <a:latin typeface="Arial"/>
                <a:cs typeface="Arial"/>
              </a:rPr>
              <a:t>: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a:t>
            </a:r>
            <a:r>
              <a:rPr lang="en-US" kern="0" dirty="0">
                <a:solidFill>
                  <a:sysClr val="windowText" lastClr="000000"/>
                </a:solidFill>
                <a:sym typeface="Wingdings" pitchFamily="2" charset="2"/>
                <a:hlinkClick r:id="rId3"/>
              </a:rPr>
              <a:t>https://github.com/pascualmunoz/cifoin-lab4.git</a:t>
            </a:r>
            <a:endParaRPr lang="en-US" kern="0" dirty="0">
              <a:solidFill>
                <a:sysClr val="windowText" lastClr="000000"/>
              </a:solidFill>
              <a:sym typeface="Wingdings" pitchFamily="2" charset="2"/>
            </a:endParaRP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Open folder / repo in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Open terminal: </a:t>
            </a:r>
            <a:r>
              <a:rPr lang="en-US" kern="0" dirty="0" err="1">
                <a:solidFill>
                  <a:sysClr val="windowText" lastClr="000000"/>
                </a:solidFill>
                <a:sym typeface="Wingdings" pitchFamily="2" charset="2"/>
              </a:rPr>
              <a:t>uv</a:t>
            </a:r>
            <a:r>
              <a:rPr lang="en-US" kern="0" dirty="0">
                <a:solidFill>
                  <a:sysClr val="windowText" lastClr="000000"/>
                </a:solidFill>
                <a:sym typeface="Wingdings" pitchFamily="2" charset="2"/>
              </a:rPr>
              <a:t> sync</a:t>
            </a: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err="1">
                <a:solidFill>
                  <a:sysClr val="windowText" lastClr="000000"/>
                </a:solidFill>
              </a:rPr>
              <a:t>LAYOUT_STUDENT.ipynb</a:t>
            </a:r>
            <a:r>
              <a:rPr lang="en-US" kern="0" dirty="0">
                <a:solidFill>
                  <a:sysClr val="windowText" lastClr="000000"/>
                </a:solidFill>
              </a:rPr>
              <a:t> </a:t>
            </a:r>
          </a:p>
          <a:p>
            <a:pPr marL="342900" indent="-342900" algn="just">
              <a:buFont typeface="Arial" panose="020B0604020202020204" pitchFamily="34" charset="0"/>
              <a:buChar char="•"/>
            </a:pPr>
            <a:endParaRPr lang="en-US" kern="0" dirty="0">
              <a:solidFill>
                <a:sysClr val="windowText" lastClr="000000"/>
              </a:solidFill>
            </a:endParaRPr>
          </a:p>
          <a:p>
            <a:pPr marL="342900" indent="-342900" algn="just">
              <a:buFont typeface="Arial" panose="020B0604020202020204" pitchFamily="34" charset="0"/>
              <a:buChar char="•"/>
            </a:pPr>
            <a:r>
              <a:rPr lang="en-US" b="1" kern="0" dirty="0">
                <a:solidFill>
                  <a:srgbClr val="FF0000"/>
                </a:solidFill>
              </a:rPr>
              <a:t>Points</a:t>
            </a:r>
          </a:p>
          <a:p>
            <a:pPr marL="800100" lvl="1" indent="-342900" algn="just">
              <a:buFont typeface="Arial" panose="020B0604020202020204" pitchFamily="34" charset="0"/>
              <a:buChar char="•"/>
            </a:pPr>
            <a:r>
              <a:rPr lang="en-US" b="1" kern="0" dirty="0">
                <a:solidFill>
                  <a:srgbClr val="FF0000"/>
                </a:solidFill>
              </a:rPr>
              <a:t>LO1: 3 points</a:t>
            </a:r>
          </a:p>
          <a:p>
            <a:pPr marL="800100" lvl="1" indent="-342900" algn="just">
              <a:buFont typeface="Arial" panose="020B0604020202020204" pitchFamily="34" charset="0"/>
              <a:buChar char="•"/>
            </a:pPr>
            <a:r>
              <a:rPr lang="en-US" b="1" kern="0" dirty="0">
                <a:solidFill>
                  <a:srgbClr val="FF0000"/>
                </a:solidFill>
              </a:rPr>
              <a:t>LO2: 3 points</a:t>
            </a:r>
          </a:p>
          <a:p>
            <a:pPr marL="800100" lvl="1" indent="-342900" algn="just">
              <a:buFont typeface="Arial" panose="020B0604020202020204" pitchFamily="34" charset="0"/>
              <a:buChar char="•"/>
            </a:pPr>
            <a:r>
              <a:rPr lang="en-US" b="1" kern="0" dirty="0">
                <a:solidFill>
                  <a:srgbClr val="FF0000"/>
                </a:solidFill>
              </a:rPr>
              <a:t>LO3: 1 points</a:t>
            </a:r>
          </a:p>
          <a:p>
            <a:pPr marL="800100" lvl="1" indent="-342900" algn="just">
              <a:buFont typeface="Arial" panose="020B0604020202020204" pitchFamily="34" charset="0"/>
              <a:buChar char="•"/>
            </a:pPr>
            <a:r>
              <a:rPr lang="en-US" b="1" kern="0" dirty="0">
                <a:solidFill>
                  <a:srgbClr val="FF0000"/>
                </a:solidFill>
              </a:rPr>
              <a:t>LO4: 3 points</a:t>
            </a:r>
          </a:p>
          <a:p>
            <a:pPr algn="just"/>
            <a:endParaRPr lang="en-US" b="1" i="1" dirty="0"/>
          </a:p>
          <a:p>
            <a:pPr algn="just"/>
            <a:endParaRPr lang="en-US" sz="2000" b="1" i="1" dirty="0"/>
          </a:p>
          <a:p>
            <a:pPr algn="just"/>
            <a:endParaRPr lang="en-US" sz="2000" kern="0" dirty="0">
              <a:solidFill>
                <a:sysClr val="windowText" lastClr="000000"/>
              </a:solidFill>
            </a:endParaRPr>
          </a:p>
        </p:txBody>
      </p:sp>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#1a – Notebook section 1. Technology</a:t>
            </a:r>
            <a:br>
              <a:rPr lang="es-ES" sz="2500" spc="-5" dirty="0">
                <a:latin typeface="+mj-lt"/>
                <a:cs typeface="Lucida Sans"/>
              </a:rPr>
            </a:br>
            <a:r>
              <a:rPr lang="es-ES" b="0" i="1" spc="-5" dirty="0">
                <a:latin typeface="+mj-lt"/>
              </a:rPr>
              <a:t>“</a:t>
            </a:r>
            <a:r>
              <a:rPr lang="es-ES" b="0" i="1" spc="-5" dirty="0" err="1">
                <a:latin typeface="+mj-lt"/>
              </a:rPr>
              <a:t>We</a:t>
            </a:r>
            <a:r>
              <a:rPr lang="es-ES" b="0" i="1" spc="-5" dirty="0">
                <a:latin typeface="+mj-lt"/>
              </a:rPr>
              <a:t> </a:t>
            </a:r>
            <a:r>
              <a:rPr lang="es-ES" b="0" i="1" spc="-5" dirty="0" err="1">
                <a:latin typeface="+mj-lt"/>
              </a:rPr>
              <a:t>will</a:t>
            </a:r>
            <a:r>
              <a:rPr lang="es-ES" b="0" i="1" spc="-5" dirty="0">
                <a:latin typeface="+mj-lt"/>
              </a:rPr>
              <a:t> </a:t>
            </a:r>
            <a:r>
              <a:rPr lang="es-ES" b="0" i="1" spc="-5" dirty="0" err="1">
                <a:latin typeface="+mj-lt"/>
              </a:rPr>
              <a:t>work</a:t>
            </a:r>
            <a:r>
              <a:rPr lang="es-ES" b="0" i="1" spc="-5" dirty="0">
                <a:latin typeface="+mj-lt"/>
                <a:cs typeface="Lucida Sans"/>
              </a:rPr>
              <a:t> </a:t>
            </a:r>
            <a:r>
              <a:rPr lang="es-ES" b="0" i="1" spc="-5" dirty="0" err="1">
                <a:latin typeface="+mj-lt"/>
                <a:cs typeface="Lucida Sans"/>
              </a:rPr>
              <a:t>with</a:t>
            </a:r>
            <a:r>
              <a:rPr lang="es-ES" b="0" i="1" spc="-5" dirty="0">
                <a:latin typeface="+mj-lt"/>
                <a:cs typeface="Lucida Sans"/>
              </a:rPr>
              <a:t> </a:t>
            </a:r>
            <a:r>
              <a:rPr lang="es-ES" b="0" i="1" spc="-5" dirty="0" err="1">
                <a:latin typeface="+mj-lt"/>
                <a:cs typeface="Lucida Sans"/>
              </a:rPr>
              <a:t>the</a:t>
            </a:r>
            <a:r>
              <a:rPr lang="es-ES" b="0" i="1" spc="-5" dirty="0">
                <a:latin typeface="+mj-lt"/>
                <a:cs typeface="Lucida Sans"/>
              </a:rPr>
              <a:t> demo UPVfab PDK. </a:t>
            </a:r>
            <a:r>
              <a:rPr lang="es-ES" b="0" i="1" spc="-5" dirty="0" err="1">
                <a:latin typeface="+mj-lt"/>
                <a:cs typeface="Lucida Sans"/>
              </a:rPr>
              <a:t>Let's</a:t>
            </a:r>
            <a:r>
              <a:rPr lang="es-ES" b="0" i="1" spc="-5" dirty="0">
                <a:latin typeface="+mj-lt"/>
                <a:cs typeface="Lucida Sans"/>
              </a:rPr>
              <a:t> </a:t>
            </a:r>
            <a:r>
              <a:rPr lang="es-ES" b="0" i="1" spc="-5" dirty="0" err="1">
                <a:latin typeface="+mj-lt"/>
                <a:cs typeface="Lucida Sans"/>
              </a:rPr>
              <a:t>view</a:t>
            </a:r>
            <a:r>
              <a:rPr lang="es-ES" b="0" i="1" spc="-5" dirty="0">
                <a:latin typeface="+mj-lt"/>
                <a:cs typeface="Lucida Sans"/>
              </a:rPr>
              <a:t> </a:t>
            </a:r>
            <a:r>
              <a:rPr lang="es-ES" b="0" i="1" spc="-5" dirty="0" err="1">
                <a:latin typeface="+mj-lt"/>
                <a:cs typeface="Lucida Sans"/>
              </a:rPr>
              <a:t>the</a:t>
            </a:r>
            <a:r>
              <a:rPr lang="es-ES" b="0" i="1" spc="-5" dirty="0">
                <a:latin typeface="+mj-lt"/>
                <a:cs typeface="Lucida Sans"/>
              </a:rPr>
              <a:t> </a:t>
            </a:r>
            <a:r>
              <a:rPr lang="es-ES" b="0" i="1" spc="-5" dirty="0" err="1">
                <a:latin typeface="+mj-lt"/>
                <a:cs typeface="Lucida Sans"/>
              </a:rPr>
              <a:t>layer</a:t>
            </a:r>
            <a:r>
              <a:rPr lang="es-ES" b="0" i="1" spc="-5" dirty="0">
                <a:latin typeface="+mj-lt"/>
                <a:cs typeface="Lucida Sans"/>
              </a:rPr>
              <a:t> </a:t>
            </a:r>
            <a:r>
              <a:rPr lang="es-ES" b="0" i="1" spc="-5" dirty="0" err="1">
                <a:latin typeface="+mj-lt"/>
                <a:cs typeface="Lucida Sans"/>
              </a:rPr>
              <a:t>distribution</a:t>
            </a:r>
            <a:r>
              <a:rPr lang="es-ES" b="0" i="1" spc="-5" dirty="0">
                <a:latin typeface="+mj-lt"/>
                <a:cs typeface="Lucida Sans"/>
              </a:rPr>
              <a:t> </a:t>
            </a:r>
            <a:r>
              <a:rPr lang="es-ES" b="0" i="1" spc="-5" dirty="0" err="1">
                <a:latin typeface="+mj-lt"/>
                <a:cs typeface="Lucida Sans"/>
              </a:rPr>
              <a:t>of</a:t>
            </a:r>
            <a:r>
              <a:rPr lang="es-ES" b="0" i="1" spc="-5" dirty="0">
                <a:latin typeface="+mj-lt"/>
                <a:cs typeface="Lucida Sans"/>
              </a:rPr>
              <a:t> </a:t>
            </a:r>
            <a:r>
              <a:rPr lang="es-ES" b="0" i="1" spc="-5" dirty="0" err="1">
                <a:latin typeface="+mj-lt"/>
                <a:cs typeface="Lucida Sans"/>
              </a:rPr>
              <a:t>this</a:t>
            </a:r>
            <a:r>
              <a:rPr lang="es-ES" b="0" i="1" spc="-5" dirty="0">
                <a:latin typeface="+mj-lt"/>
                <a:cs typeface="Lucida Sans"/>
              </a:rPr>
              <a:t> PDK”</a:t>
            </a:r>
            <a:endParaRPr sz="2500" b="0" i="1"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569660"/>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t>Un PDK es un conjunto de archivos de configuración, bibliotecas de componentes, reglas de diseño y modelos de simulación que una empresa </a:t>
            </a:r>
            <a:r>
              <a:rPr lang="es-ES" sz="1200" dirty="0" err="1"/>
              <a:t>foundry</a:t>
            </a:r>
            <a:r>
              <a:rPr lang="es-ES" sz="1200" dirty="0"/>
              <a:t> proporciona a los ingenieros. El objetivo es que todos los diseños hechos en el software puedan fabricarse</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En general, las capas para el </a:t>
            </a:r>
            <a:r>
              <a:rPr lang="es-ES" sz="1200" dirty="0" err="1">
                <a:latin typeface="Arial" panose="020B0604020202020204" pitchFamily="34" charset="0"/>
                <a:cs typeface="Arial" panose="020B0604020202020204" pitchFamily="34" charset="0"/>
              </a:rPr>
              <a:t>layout</a:t>
            </a:r>
            <a:r>
              <a:rPr lang="es-ES" sz="1200" dirty="0">
                <a:latin typeface="Arial" panose="020B0604020202020204" pitchFamily="34" charset="0"/>
                <a:cs typeface="Arial" panose="020B0604020202020204" pitchFamily="34" charset="0"/>
              </a:rPr>
              <a:t> son los materiales o capas que puede tener un diseño fotónico, tanto la guía de onda como material térmico como el die.</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Las </a:t>
            </a:r>
            <a:r>
              <a:rPr lang="en-US" sz="1200" dirty="0" err="1">
                <a:latin typeface="Arial" panose="020B0604020202020204" pitchFamily="34" charset="0"/>
                <a:cs typeface="Arial" panose="020B0604020202020204" pitchFamily="34" charset="0"/>
              </a:rPr>
              <a:t>capas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Podemos </a:t>
            </a:r>
            <a:r>
              <a:rPr lang="en-US" sz="1200" dirty="0" err="1">
                <a:latin typeface="Arial" panose="020B0604020202020204" pitchFamily="34" charset="0"/>
                <a:cs typeface="Arial" panose="020B0604020202020204" pitchFamily="34" charset="0"/>
              </a:rPr>
              <a:t>ver</a:t>
            </a:r>
            <a:r>
              <a:rPr lang="en-US" sz="1200" dirty="0">
                <a:latin typeface="Arial" panose="020B0604020202020204" pitchFamily="34" charset="0"/>
                <a:cs typeface="Arial" panose="020B0604020202020204" pitchFamily="34" charset="0"/>
              </a:rPr>
              <a:t> son: 1: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4: metal </a:t>
            </a:r>
            <a:r>
              <a:rPr lang="en-US" sz="1200" dirty="0" err="1">
                <a:latin typeface="Arial" panose="020B0604020202020204" pitchFamily="34" charset="0"/>
                <a:cs typeface="Arial" panose="020B0604020202020204" pitchFamily="34" charset="0"/>
              </a:rPr>
              <a:t>térmico</a:t>
            </a:r>
            <a:r>
              <a:rPr lang="en-US" sz="1200" dirty="0">
                <a:latin typeface="Arial" panose="020B0604020202020204" pitchFamily="34" charset="0"/>
                <a:cs typeface="Arial" panose="020B0604020202020204" pitchFamily="34" charset="0"/>
              </a:rPr>
              <a:t>, 21: </a:t>
            </a:r>
            <a:r>
              <a:rPr lang="en-US" sz="1200" dirty="0" err="1">
                <a:latin typeface="Arial" panose="020B0604020202020204" pitchFamily="34" charset="0"/>
                <a:cs typeface="Arial" panose="020B0604020202020204" pitchFamily="34" charset="0"/>
              </a:rPr>
              <a:t>silicio</a:t>
            </a:r>
            <a:r>
              <a:rPr lang="en-US" sz="1200" dirty="0">
                <a:latin typeface="Arial" panose="020B0604020202020204" pitchFamily="34" charset="0"/>
                <a:cs typeface="Arial" panose="020B0604020202020204" pitchFamily="34" charset="0"/>
              </a:rPr>
              <a:t> con </a:t>
            </a:r>
            <a:r>
              <a:rPr lang="en-US" sz="1200" dirty="0" err="1">
                <a:latin typeface="Arial" panose="020B0604020202020204" pitchFamily="34" charset="0"/>
                <a:cs typeface="Arial" panose="020B0604020202020204" pitchFamily="34" charset="0"/>
              </a:rPr>
              <a:t>grabado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parcial</a:t>
            </a:r>
            <a:r>
              <a:rPr lang="en-US" sz="1200" dirty="0">
                <a:latin typeface="Arial" panose="020B0604020202020204" pitchFamily="34" charset="0"/>
                <a:cs typeface="Arial" panose="020B0604020202020204" pitchFamily="34" charset="0"/>
              </a:rPr>
              <a:t>, 41: material para </a:t>
            </a:r>
            <a:r>
              <a:rPr lang="en-US" sz="1200" dirty="0" err="1">
                <a:latin typeface="Arial" panose="020B0604020202020204" pitchFamily="34" charset="0"/>
                <a:cs typeface="Arial" panose="020B0604020202020204" pitchFamily="34" charset="0"/>
              </a:rPr>
              <a:t>colocar</a:t>
            </a:r>
            <a:r>
              <a:rPr lang="en-US" sz="1200" dirty="0">
                <a:latin typeface="Arial" panose="020B0604020202020204" pitchFamily="34" charset="0"/>
                <a:cs typeface="Arial" panose="020B0604020202020204" pitchFamily="34" charset="0"/>
              </a:rPr>
              <a:t> las </a:t>
            </a:r>
            <a:r>
              <a:rPr lang="en-US" sz="1200" dirty="0" err="1">
                <a:latin typeface="Arial" panose="020B0604020202020204" pitchFamily="34" charset="0"/>
                <a:cs typeface="Arial" panose="020B0604020202020204" pitchFamily="34" charset="0"/>
              </a:rPr>
              <a:t>almohadillas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contacto</a:t>
            </a:r>
            <a:r>
              <a:rPr lang="en-US" sz="1200" dirty="0">
                <a:latin typeface="Arial" panose="020B0604020202020204" pitchFamily="34" charset="0"/>
                <a:cs typeface="Arial" panose="020B0604020202020204" pitchFamily="34" charset="0"/>
              </a:rPr>
              <a:t>, 99: </a:t>
            </a:r>
            <a:r>
              <a:rPr lang="en-US" sz="1200" dirty="0" err="1">
                <a:latin typeface="Arial" panose="020B0604020202020204" pitchFamily="34" charset="0"/>
                <a:cs typeface="Arial" panose="020B0604020202020204" pitchFamily="34" charset="0"/>
              </a:rPr>
              <a:t>capa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delimita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físicamente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diseño</a:t>
            </a:r>
            <a:r>
              <a:rPr lang="en-US" sz="1200" dirty="0">
                <a:latin typeface="Arial" panose="020B0604020202020204" pitchFamily="34" charset="0"/>
                <a:cs typeface="Arial" panose="020B0604020202020204" pitchFamily="34" charset="0"/>
              </a:rPr>
              <a:t>, 100: </a:t>
            </a:r>
            <a:r>
              <a:rPr lang="en-US" sz="1200" dirty="0" err="1">
                <a:latin typeface="Arial" panose="020B0604020202020204" pitchFamily="34" charset="0"/>
                <a:cs typeface="Arial" panose="020B0604020202020204" pitchFamily="34" charset="0"/>
              </a:rPr>
              <a:t>capa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manejaparámetros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lógicos</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propiedades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textos</a:t>
            </a:r>
            <a:r>
              <a:rPr lang="en-US" sz="1200" dirty="0">
                <a:latin typeface="Arial" panose="020B0604020202020204" pitchFamily="34" charset="0"/>
                <a:cs typeface="Arial" panose="020B0604020202020204" pitchFamily="34" charset="0"/>
              </a:rPr>
              <a:t>, 101: </a:t>
            </a:r>
            <a:r>
              <a:rPr lang="en-US" sz="1200" dirty="0" err="1">
                <a:latin typeface="Arial" panose="020B0604020202020204" pitchFamily="34" charset="0"/>
                <a:cs typeface="Arial" panose="020B0604020202020204" pitchFamily="34" charset="0"/>
              </a:rPr>
              <a:t>capa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almacena</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visualiza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nombres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celdas</a:t>
            </a:r>
            <a:r>
              <a:rPr lang="en-US" sz="1200" dirty="0">
                <a:latin typeface="Arial" panose="020B0604020202020204" pitchFamily="34" charset="0"/>
                <a:cs typeface="Arial" panose="020B0604020202020204" pitchFamily="34" charset="0"/>
              </a:rPr>
              <a:t>, components…</a:t>
            </a:r>
          </a:p>
        </p:txBody>
      </p:sp>
      <p:sp>
        <p:nvSpPr>
          <p:cNvPr id="6" name="Rectángulo 5">
            <a:extLst>
              <a:ext uri="{FF2B5EF4-FFF2-40B4-BE49-F238E27FC236}">
                <a16:creationId xmlns:a16="http://schemas.microsoft.com/office/drawing/2014/main" id="{82AE4A84-532D-D50D-F368-79FF1C11E97A}"/>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024B9AF7-5B09-CE7C-68D9-8620B8F4F607}"/>
              </a:ext>
            </a:extLst>
          </p:cNvPr>
          <p:cNvSpPr txBox="1"/>
          <p:nvPr/>
        </p:nvSpPr>
        <p:spPr>
          <a:xfrm>
            <a:off x="763342" y="2494306"/>
            <a:ext cx="3590598" cy="2031325"/>
          </a:xfrm>
          <a:prstGeom prst="rect">
            <a:avLst/>
          </a:prstGeom>
          <a:noFill/>
        </p:spPr>
        <p:txBody>
          <a:bodyPr wrap="none" rtlCol="0">
            <a:spAutoFit/>
          </a:bodyPr>
          <a:lstStyle/>
          <a:p>
            <a:r>
              <a:rPr lang="es-ES" dirty="0"/>
              <a:t>LAYER_VIEWS = </a:t>
            </a:r>
            <a:r>
              <a:rPr lang="es-ES" dirty="0" err="1"/>
              <a:t>PDK.layer_views</a:t>
            </a:r>
            <a:endParaRPr lang="es-ES" dirty="0"/>
          </a:p>
          <a:p>
            <a:r>
              <a:rPr lang="es-ES" dirty="0"/>
              <a:t>c = </a:t>
            </a:r>
            <a:r>
              <a:rPr lang="es-ES" dirty="0" err="1"/>
              <a:t>LAYER_VIEWS.preview_layerset</a:t>
            </a:r>
            <a:r>
              <a:rPr lang="es-ES" dirty="0"/>
              <a:t>()</a:t>
            </a:r>
          </a:p>
          <a:p>
            <a:r>
              <a:rPr lang="es-ES" dirty="0" err="1"/>
              <a:t>c.show</a:t>
            </a:r>
            <a:r>
              <a:rPr lang="es-ES" dirty="0"/>
              <a:t>()</a:t>
            </a:r>
          </a:p>
          <a:p>
            <a:r>
              <a:rPr lang="es-ES" dirty="0" err="1"/>
              <a:t>c.plot</a:t>
            </a:r>
            <a:r>
              <a:rPr lang="es-ES" dirty="0"/>
              <a:t>()</a:t>
            </a:r>
          </a:p>
          <a:p>
            <a:br>
              <a:rPr lang="es-ES" dirty="0"/>
            </a:br>
            <a:endParaRPr lang="es-ES" dirty="0"/>
          </a:p>
          <a:p>
            <a:pPr algn="ctr"/>
            <a:endParaRPr lang="en-US" dirty="0"/>
          </a:p>
        </p:txBody>
      </p:sp>
      <p:sp>
        <p:nvSpPr>
          <p:cNvPr id="8" name="Rectángulo 7">
            <a:extLst>
              <a:ext uri="{FF2B5EF4-FFF2-40B4-BE49-F238E27FC236}">
                <a16:creationId xmlns:a16="http://schemas.microsoft.com/office/drawing/2014/main" id="{8BEC3D78-C227-4F8E-7F5D-F398FB043D20}"/>
              </a:ext>
            </a:extLst>
          </p:cNvPr>
          <p:cNvSpPr/>
          <p:nvPr/>
        </p:nvSpPr>
        <p:spPr>
          <a:xfrm>
            <a:off x="6476841" y="1420406"/>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B5806D5A-9C65-5DDA-AF7C-30CC28E9C38F}"/>
              </a:ext>
            </a:extLst>
          </p:cNvPr>
          <p:cNvSpPr txBox="1"/>
          <p:nvPr/>
        </p:nvSpPr>
        <p:spPr>
          <a:xfrm>
            <a:off x="7925522" y="2496339"/>
            <a:ext cx="2435218" cy="369332"/>
          </a:xfrm>
          <a:prstGeom prst="rect">
            <a:avLst/>
          </a:prstGeom>
          <a:noFill/>
        </p:spPr>
        <p:txBody>
          <a:bodyPr wrap="none" rtlCol="0">
            <a:spAutoFit/>
          </a:bodyPr>
          <a:lstStyle/>
          <a:p>
            <a:pPr algn="ctr"/>
            <a:r>
              <a:rPr lang="es-ES" dirty="0"/>
              <a:t>Paste </a:t>
            </a:r>
            <a:r>
              <a:rPr lang="es-ES" dirty="0" err="1"/>
              <a:t>plot</a:t>
            </a:r>
            <a:r>
              <a:rPr lang="es-ES" dirty="0"/>
              <a:t> </a:t>
            </a:r>
            <a:r>
              <a:rPr lang="es-ES" dirty="0" err="1"/>
              <a:t>of</a:t>
            </a:r>
            <a:r>
              <a:rPr lang="es-ES" dirty="0"/>
              <a:t> </a:t>
            </a:r>
            <a:r>
              <a:rPr lang="es-ES" dirty="0" err="1"/>
              <a:t>layers</a:t>
            </a:r>
            <a:r>
              <a:rPr lang="es-ES" dirty="0"/>
              <a:t> </a:t>
            </a:r>
            <a:r>
              <a:rPr lang="es-ES" dirty="0" err="1"/>
              <a:t>here</a:t>
            </a:r>
            <a:endParaRPr lang="en-US" dirty="0"/>
          </a:p>
        </p:txBody>
      </p:sp>
      <p:pic>
        <p:nvPicPr>
          <p:cNvPr id="5" name="Picture 4">
            <a:extLst>
              <a:ext uri="{FF2B5EF4-FFF2-40B4-BE49-F238E27FC236}">
                <a16:creationId xmlns:a16="http://schemas.microsoft.com/office/drawing/2014/main" id="{EF92F6A2-E678-1C51-4A70-331B289D573C}"/>
              </a:ext>
            </a:extLst>
          </p:cNvPr>
          <p:cNvPicPr>
            <a:picLocks noChangeAspect="1"/>
          </p:cNvPicPr>
          <p:nvPr/>
        </p:nvPicPr>
        <p:blipFill>
          <a:blip r:embed="rId4"/>
          <a:stretch>
            <a:fillRect/>
          </a:stretch>
        </p:blipFill>
        <p:spPr>
          <a:xfrm>
            <a:off x="6934200" y="1391478"/>
            <a:ext cx="4379415" cy="3306029"/>
          </a:xfrm>
          <a:prstGeom prst="rect">
            <a:avLst/>
          </a:prstGeom>
        </p:spPr>
      </p:pic>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21758-3D0C-3510-194A-4075C73D458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F925C6-A9EE-0450-6CF3-EB5E905BE7E0}"/>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gn="ctr">
              <a:lnSpc>
                <a:spcPct val="100000"/>
              </a:lnSpc>
              <a:spcBef>
                <a:spcPts val="100"/>
              </a:spcBef>
            </a:pPr>
            <a:r>
              <a:rPr lang="en-US" sz="2500" dirty="0"/>
              <a:t>Learning outcome #1b – Notebook section 1. Technology – </a:t>
            </a:r>
            <a:r>
              <a:rPr lang="en-US" sz="2500" dirty="0">
                <a:solidFill>
                  <a:srgbClr val="FF0000"/>
                </a:solidFill>
              </a:rPr>
              <a:t>1 slide per component</a:t>
            </a:r>
            <a:br>
              <a:rPr lang="en-US" sz="2500" dirty="0"/>
            </a:br>
            <a:r>
              <a:rPr lang="en-US" sz="2500" dirty="0" err="1"/>
              <a:t>Acoplador</a:t>
            </a:r>
            <a:r>
              <a:rPr lang="en-US" sz="2500" dirty="0"/>
              <a:t> </a:t>
            </a:r>
            <a:r>
              <a:rPr lang="en-US" sz="2500" dirty="0" err="1"/>
              <a:t>direccional</a:t>
            </a:r>
            <a:endParaRPr sz="2500" b="0" i="1" dirty="0">
              <a:latin typeface="+mj-lt"/>
              <a:cs typeface="Lucida Sans"/>
            </a:endParaRPr>
          </a:p>
        </p:txBody>
      </p:sp>
      <p:pic>
        <p:nvPicPr>
          <p:cNvPr id="83" name="Gráfico 82">
            <a:extLst>
              <a:ext uri="{FF2B5EF4-FFF2-40B4-BE49-F238E27FC236}">
                <a16:creationId xmlns:a16="http://schemas.microsoft.com/office/drawing/2014/main" id="{61751C67-979A-7D64-9474-F594568485E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5A815B6-7BA3-E2CF-377E-EACA0F621FAA}"/>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018AEC9F-5174-0EEA-5CD3-65515392F16F}"/>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A1BE4500-9BE4-025B-9167-E8AC6466B028}"/>
              </a:ext>
            </a:extLst>
          </p:cNvPr>
          <p:cNvSpPr txBox="1"/>
          <p:nvPr/>
        </p:nvSpPr>
        <p:spPr>
          <a:xfrm>
            <a:off x="2667000" y="4860334"/>
            <a:ext cx="9142412" cy="46166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Este </a:t>
            </a:r>
            <a:r>
              <a:rPr lang="en-US" sz="1200" dirty="0" err="1">
                <a:latin typeface="Arial" panose="020B0604020202020204" pitchFamily="34" charset="0"/>
                <a:cs typeface="Arial" panose="020B0604020202020204" pitchFamily="34" charset="0"/>
              </a:rPr>
              <a:t>acoplador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direccional</a:t>
            </a:r>
            <a:r>
              <a:rPr lang="en-US" sz="1200" dirty="0">
                <a:latin typeface="Arial" panose="020B0604020202020204" pitchFamily="34" charset="0"/>
                <a:cs typeface="Arial" panose="020B0604020202020204" pitchFamily="34" charset="0"/>
              </a:rPr>
              <a:t> se ha </a:t>
            </a:r>
            <a:r>
              <a:rPr lang="en-US" sz="1200" dirty="0" err="1">
                <a:latin typeface="Arial" panose="020B0604020202020204" pitchFamily="34" charset="0"/>
                <a:cs typeface="Arial" panose="020B0604020202020204" pitchFamily="34" charset="0"/>
              </a:rPr>
              <a:t>utilizado</a:t>
            </a:r>
            <a:r>
              <a:rPr lang="en-US" sz="1200" dirty="0">
                <a:latin typeface="Arial" panose="020B0604020202020204" pitchFamily="34" charset="0"/>
                <a:cs typeface="Arial" panose="020B0604020202020204" pitchFamily="34" charset="0"/>
              </a:rPr>
              <a:t> para la </a:t>
            </a:r>
            <a:r>
              <a:rPr lang="en-US" sz="1200" dirty="0" err="1">
                <a:latin typeface="Arial" panose="020B0604020202020204" pitchFamily="34" charset="0"/>
                <a:cs typeface="Arial" panose="020B0604020202020204" pitchFamily="34" charset="0"/>
              </a:rPr>
              <a:t>práctica</a:t>
            </a:r>
            <a:r>
              <a:rPr lang="en-US" sz="1200" dirty="0">
                <a:latin typeface="Arial" panose="020B0604020202020204" pitchFamily="34" charset="0"/>
                <a:cs typeface="Arial" panose="020B0604020202020204" pitchFamily="34" charset="0"/>
              </a:rPr>
              <a:t> 2, </a:t>
            </a:r>
          </a:p>
          <a:p>
            <a:pPr algn="just"/>
            <a:endParaRPr lang="en-US" sz="1200" dirty="0">
              <a:latin typeface="Arial" panose="020B0604020202020204" pitchFamily="34" charset="0"/>
              <a:cs typeface="Arial" panose="020B0604020202020204" pitchFamily="34" charset="0"/>
            </a:endParaRPr>
          </a:p>
        </p:txBody>
      </p:sp>
      <p:sp>
        <p:nvSpPr>
          <p:cNvPr id="6" name="Rectángulo 5">
            <a:extLst>
              <a:ext uri="{FF2B5EF4-FFF2-40B4-BE49-F238E27FC236}">
                <a16:creationId xmlns:a16="http://schemas.microsoft.com/office/drawing/2014/main" id="{FB364273-7E07-9E83-F4A6-1AFD1AEFE243}"/>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ángulo 7">
            <a:extLst>
              <a:ext uri="{FF2B5EF4-FFF2-40B4-BE49-F238E27FC236}">
                <a16:creationId xmlns:a16="http://schemas.microsoft.com/office/drawing/2014/main" id="{8C1E968B-0AE0-37CB-7468-A50896329E70}"/>
              </a:ext>
            </a:extLst>
          </p:cNvPr>
          <p:cNvSpPr/>
          <p:nvPr/>
        </p:nvSpPr>
        <p:spPr>
          <a:xfrm>
            <a:off x="6476841" y="1420406"/>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89877566-4E2F-8CE5-3749-EB4B91552614}"/>
              </a:ext>
            </a:extLst>
          </p:cNvPr>
          <p:cNvSpPr txBox="1"/>
          <p:nvPr/>
        </p:nvSpPr>
        <p:spPr>
          <a:xfrm>
            <a:off x="7956912" y="2496339"/>
            <a:ext cx="2372445" cy="369332"/>
          </a:xfrm>
          <a:prstGeom prst="rect">
            <a:avLst/>
          </a:prstGeom>
          <a:noFill/>
        </p:spPr>
        <p:txBody>
          <a:bodyPr wrap="none" rtlCol="0">
            <a:spAutoFit/>
          </a:bodyPr>
          <a:lstStyle/>
          <a:p>
            <a:pPr algn="ctr"/>
            <a:r>
              <a:rPr lang="es-ES" dirty="0" err="1"/>
              <a:t>Component</a:t>
            </a:r>
            <a:r>
              <a:rPr lang="es-ES" dirty="0"/>
              <a:t> </a:t>
            </a:r>
            <a:r>
              <a:rPr lang="es-ES" dirty="0" err="1"/>
              <a:t>screenshot</a:t>
            </a:r>
            <a:endParaRPr lang="en-US" dirty="0"/>
          </a:p>
        </p:txBody>
      </p:sp>
      <p:pic>
        <p:nvPicPr>
          <p:cNvPr id="12" name="Picture 11">
            <a:extLst>
              <a:ext uri="{FF2B5EF4-FFF2-40B4-BE49-F238E27FC236}">
                <a16:creationId xmlns:a16="http://schemas.microsoft.com/office/drawing/2014/main" id="{5C97A0C9-06DB-6D52-872D-438E0874ADFE}"/>
              </a:ext>
            </a:extLst>
          </p:cNvPr>
          <p:cNvPicPr>
            <a:picLocks noChangeAspect="1"/>
          </p:cNvPicPr>
          <p:nvPr/>
        </p:nvPicPr>
        <p:blipFill>
          <a:blip r:embed="rId4"/>
          <a:stretch>
            <a:fillRect/>
          </a:stretch>
        </p:blipFill>
        <p:spPr>
          <a:xfrm>
            <a:off x="7026454" y="1418373"/>
            <a:ext cx="4428127" cy="3342801"/>
          </a:xfrm>
          <a:prstGeom prst="rect">
            <a:avLst/>
          </a:prstGeom>
        </p:spPr>
      </p:pic>
      <p:sp>
        <p:nvSpPr>
          <p:cNvPr id="13" name="TextBox 12">
            <a:extLst>
              <a:ext uri="{FF2B5EF4-FFF2-40B4-BE49-F238E27FC236}">
                <a16:creationId xmlns:a16="http://schemas.microsoft.com/office/drawing/2014/main" id="{B019482F-E6BA-6C56-E3F0-6BB8755C809A}"/>
              </a:ext>
            </a:extLst>
          </p:cNvPr>
          <p:cNvSpPr txBox="1"/>
          <p:nvPr/>
        </p:nvSpPr>
        <p:spPr>
          <a:xfrm>
            <a:off x="584691" y="914400"/>
            <a:ext cx="3334567" cy="5170646"/>
          </a:xfrm>
          <a:prstGeom prst="rect">
            <a:avLst/>
          </a:prstGeom>
          <a:noFill/>
        </p:spPr>
        <p:txBody>
          <a:bodyPr wrap="none" rtlCol="0">
            <a:spAutoFit/>
          </a:bodyPr>
          <a:lstStyle/>
          <a:p>
            <a:r>
              <a:rPr lang="es-ES" sz="600" dirty="0" err="1"/>
              <a:t>gf.clear_cache</a:t>
            </a:r>
            <a:r>
              <a:rPr lang="es-ES" sz="600" dirty="0"/>
              <a:t>()</a:t>
            </a:r>
          </a:p>
          <a:p>
            <a:r>
              <a:rPr lang="es-ES" sz="600" dirty="0"/>
              <a:t>acoplador = </a:t>
            </a:r>
            <a:r>
              <a:rPr lang="es-ES" sz="600" dirty="0" err="1"/>
              <a:t>gf.Component</a:t>
            </a:r>
            <a:r>
              <a:rPr lang="es-ES" sz="600" dirty="0"/>
              <a:t>("Acoplador simple")</a:t>
            </a:r>
          </a:p>
          <a:p>
            <a:r>
              <a:rPr lang="es-ES" sz="600" dirty="0"/>
              <a:t># =======================================================================</a:t>
            </a:r>
          </a:p>
          <a:p>
            <a:r>
              <a:rPr lang="es-ES" sz="600" dirty="0"/>
              <a:t># MODIFICACIÓN 1: Usamos la función constructora correcta de </a:t>
            </a:r>
            <a:r>
              <a:rPr lang="es-ES" sz="600" dirty="0" err="1"/>
              <a:t>gdsfactory</a:t>
            </a:r>
            <a:endParaRPr lang="es-ES" sz="600" dirty="0"/>
          </a:p>
          <a:p>
            <a:r>
              <a:rPr lang="es-ES" sz="600" dirty="0"/>
              <a:t># Extraemos la capa tecnológica base de una guía por defecto</a:t>
            </a:r>
          </a:p>
          <a:p>
            <a:r>
              <a:rPr lang="es-ES" sz="600" dirty="0" err="1"/>
              <a:t>capa_base</a:t>
            </a:r>
            <a:r>
              <a:rPr lang="es-ES" sz="600" dirty="0"/>
              <a:t> = </a:t>
            </a:r>
            <a:r>
              <a:rPr lang="es-ES" sz="600" dirty="0" err="1"/>
              <a:t>gf.components.straight</a:t>
            </a:r>
            <a:r>
              <a:rPr lang="es-ES" sz="600" dirty="0"/>
              <a:t>().</a:t>
            </a:r>
            <a:r>
              <a:rPr lang="es-ES" sz="600" dirty="0" err="1"/>
              <a:t>ports</a:t>
            </a:r>
            <a:r>
              <a:rPr lang="es-ES" sz="600" dirty="0"/>
              <a:t>["o1"].</a:t>
            </a:r>
            <a:r>
              <a:rPr lang="es-ES" sz="600" dirty="0" err="1"/>
              <a:t>layer</a:t>
            </a:r>
            <a:endParaRPr lang="es-ES" sz="600" dirty="0"/>
          </a:p>
          <a:p>
            <a:r>
              <a:rPr lang="es-ES" sz="600" dirty="0"/>
              <a:t># SOLUCIÓN: Cambiamos </a:t>
            </a:r>
            <a:r>
              <a:rPr lang="es-ES" sz="600" dirty="0" err="1"/>
              <a:t>gf.CrossSection</a:t>
            </a:r>
            <a:r>
              <a:rPr lang="es-ES" sz="600" dirty="0"/>
              <a:t> por </a:t>
            </a:r>
            <a:r>
              <a:rPr lang="es-ES" sz="600" dirty="0" err="1"/>
              <a:t>gf.cross_section.cross_section</a:t>
            </a:r>
            <a:endParaRPr lang="es-ES" sz="600" dirty="0"/>
          </a:p>
          <a:p>
            <a:r>
              <a:rPr lang="es-ES" sz="600" dirty="0"/>
              <a:t>seccion_300nm = </a:t>
            </a:r>
            <a:r>
              <a:rPr lang="es-ES" sz="600" dirty="0" err="1"/>
              <a:t>gf.cross_section.cross_section</a:t>
            </a:r>
            <a:r>
              <a:rPr lang="es-ES" sz="600" dirty="0"/>
              <a:t>(</a:t>
            </a:r>
            <a:r>
              <a:rPr lang="es-ES" sz="600" dirty="0" err="1"/>
              <a:t>width</a:t>
            </a:r>
            <a:r>
              <a:rPr lang="es-ES" sz="600" dirty="0"/>
              <a:t>=1.2, </a:t>
            </a:r>
            <a:r>
              <a:rPr lang="es-ES" sz="600" dirty="0" err="1"/>
              <a:t>layer</a:t>
            </a:r>
            <a:r>
              <a:rPr lang="es-ES" sz="600" dirty="0"/>
              <a:t>=</a:t>
            </a:r>
            <a:r>
              <a:rPr lang="es-ES" sz="600" dirty="0" err="1"/>
              <a:t>capa_base</a:t>
            </a:r>
            <a:r>
              <a:rPr lang="es-ES" sz="600" dirty="0"/>
              <a:t>)</a:t>
            </a:r>
          </a:p>
          <a:p>
            <a:r>
              <a:rPr lang="es-ES" sz="600" dirty="0"/>
              <a:t># =======================================================================</a:t>
            </a:r>
          </a:p>
          <a:p>
            <a:r>
              <a:rPr lang="es-ES" sz="600" dirty="0"/>
              <a:t># 2. Creamos la pieza "molde" de la recta usando la nueva sección</a:t>
            </a:r>
          </a:p>
          <a:p>
            <a:r>
              <a:rPr lang="es-ES" sz="600" dirty="0" err="1"/>
              <a:t>guia_recta</a:t>
            </a:r>
            <a:r>
              <a:rPr lang="es-ES" sz="600" dirty="0"/>
              <a:t> = </a:t>
            </a:r>
            <a:r>
              <a:rPr lang="es-ES" sz="600" dirty="0" err="1"/>
              <a:t>gf.components.straight</a:t>
            </a:r>
            <a:r>
              <a:rPr lang="es-ES" sz="600" dirty="0"/>
              <a:t>(</a:t>
            </a:r>
            <a:r>
              <a:rPr lang="es-ES" sz="600" dirty="0" err="1"/>
              <a:t>length</a:t>
            </a:r>
            <a:r>
              <a:rPr lang="es-ES" sz="600" dirty="0"/>
              <a:t>=93.83767536699492/2, </a:t>
            </a:r>
            <a:r>
              <a:rPr lang="es-ES" sz="600" dirty="0" err="1"/>
              <a:t>cross_section</a:t>
            </a:r>
            <a:r>
              <a:rPr lang="es-ES" sz="600" dirty="0"/>
              <a:t>=seccion_300nm) </a:t>
            </a:r>
          </a:p>
          <a:p>
            <a:r>
              <a:rPr lang="es-ES" sz="600" dirty="0"/>
              <a:t># 3. Añadimos la recta inferior (se queda en el origen)</a:t>
            </a:r>
          </a:p>
          <a:p>
            <a:r>
              <a:rPr lang="es-ES" sz="600" dirty="0" err="1"/>
              <a:t>recta_inferior</a:t>
            </a:r>
            <a:r>
              <a:rPr lang="es-ES" sz="600" dirty="0"/>
              <a:t> = </a:t>
            </a:r>
            <a:r>
              <a:rPr lang="es-ES" sz="600" dirty="0" err="1"/>
              <a:t>acoplador.add_ref</a:t>
            </a:r>
            <a:r>
              <a:rPr lang="es-ES" sz="600" dirty="0"/>
              <a:t>(</a:t>
            </a:r>
            <a:r>
              <a:rPr lang="es-ES" sz="600" dirty="0" err="1"/>
              <a:t>guia_recta</a:t>
            </a:r>
            <a:r>
              <a:rPr lang="es-ES" sz="600" dirty="0"/>
              <a:t>)</a:t>
            </a:r>
          </a:p>
          <a:p>
            <a:r>
              <a:rPr lang="es-ES" sz="600" dirty="0"/>
              <a:t># 4. Añadimos la recta superior como una NUEVA referencia</a:t>
            </a:r>
          </a:p>
          <a:p>
            <a:r>
              <a:rPr lang="es-ES" sz="600" dirty="0" err="1"/>
              <a:t>recta_superior</a:t>
            </a:r>
            <a:r>
              <a:rPr lang="es-ES" sz="600" dirty="0"/>
              <a:t> = </a:t>
            </a:r>
            <a:r>
              <a:rPr lang="es-ES" sz="600" dirty="0" err="1"/>
              <a:t>acoplador.add_ref</a:t>
            </a:r>
            <a:r>
              <a:rPr lang="es-ES" sz="600" dirty="0"/>
              <a:t>(</a:t>
            </a:r>
            <a:r>
              <a:rPr lang="es-ES" sz="600" dirty="0" err="1"/>
              <a:t>guia_recta</a:t>
            </a:r>
            <a:r>
              <a:rPr lang="es-ES" sz="600" dirty="0"/>
              <a:t>)</a:t>
            </a:r>
          </a:p>
          <a:p>
            <a:r>
              <a:rPr lang="es-ES" sz="600" dirty="0"/>
              <a:t># 5. Movemos la referencia manteniendo el gap de 600nm (0.6 </a:t>
            </a:r>
            <a:r>
              <a:rPr lang="es-ES" sz="600" dirty="0" err="1"/>
              <a:t>um</a:t>
            </a:r>
            <a:r>
              <a:rPr lang="es-ES" sz="600" dirty="0"/>
              <a:t>)</a:t>
            </a:r>
          </a:p>
          <a:p>
            <a:r>
              <a:rPr lang="es-ES" sz="600" dirty="0" err="1"/>
              <a:t>separacion_centros</a:t>
            </a:r>
            <a:r>
              <a:rPr lang="es-ES" sz="600" dirty="0"/>
              <a:t> = 0.6 + 1.2 </a:t>
            </a:r>
          </a:p>
          <a:p>
            <a:r>
              <a:rPr lang="es-ES" sz="600" dirty="0" err="1"/>
              <a:t>recta_superior.movey</a:t>
            </a:r>
            <a:r>
              <a:rPr lang="es-ES" sz="600" dirty="0"/>
              <a:t>(-</a:t>
            </a:r>
            <a:r>
              <a:rPr lang="es-ES" sz="600" dirty="0" err="1"/>
              <a:t>separacion_centros</a:t>
            </a:r>
            <a:r>
              <a:rPr lang="es-ES" sz="600" dirty="0"/>
              <a:t>)</a:t>
            </a:r>
          </a:p>
          <a:p>
            <a:r>
              <a:rPr lang="es-ES" sz="600" dirty="0"/>
              <a:t># ==========================================</a:t>
            </a:r>
          </a:p>
          <a:p>
            <a:r>
              <a:rPr lang="es-ES" sz="600" dirty="0"/>
              <a:t># CÓDIGO AÑADIDO PARA COMPLETAR EL ACOPLADOR</a:t>
            </a:r>
          </a:p>
          <a:p>
            <a:r>
              <a:rPr lang="es-ES" sz="600" dirty="0"/>
              <a:t># ==========================================</a:t>
            </a:r>
          </a:p>
          <a:p>
            <a:r>
              <a:rPr lang="es-ES" sz="600" dirty="0"/>
              <a:t># 1. Definimos los brazos de acceso</a:t>
            </a:r>
          </a:p>
          <a:p>
            <a:r>
              <a:rPr lang="es-ES" sz="600" dirty="0" err="1"/>
              <a:t>distancia_separacion_y</a:t>
            </a:r>
            <a:r>
              <a:rPr lang="es-ES" sz="600" dirty="0"/>
              <a:t> = 30</a:t>
            </a:r>
          </a:p>
          <a:p>
            <a:r>
              <a:rPr lang="es-ES" sz="600" dirty="0" err="1"/>
              <a:t>longitud_transicion</a:t>
            </a:r>
            <a:r>
              <a:rPr lang="es-ES" sz="600" dirty="0"/>
              <a:t> = 30 </a:t>
            </a:r>
          </a:p>
          <a:p>
            <a:r>
              <a:rPr lang="es-ES" sz="600" dirty="0"/>
              <a:t># Calculamos el desplazamiento vertical (offset) que debe hacer cada curva</a:t>
            </a:r>
          </a:p>
          <a:p>
            <a:r>
              <a:rPr lang="es-ES" sz="600" dirty="0" err="1"/>
              <a:t>offset_y</a:t>
            </a:r>
            <a:r>
              <a:rPr lang="es-ES" sz="600" dirty="0"/>
              <a:t> = (</a:t>
            </a:r>
            <a:r>
              <a:rPr lang="es-ES" sz="600" dirty="0" err="1"/>
              <a:t>distancia_separacion_y</a:t>
            </a:r>
            <a:r>
              <a:rPr lang="es-ES" sz="600" dirty="0"/>
              <a:t> - </a:t>
            </a:r>
            <a:r>
              <a:rPr lang="es-ES" sz="600" dirty="0" err="1"/>
              <a:t>separacion_centros</a:t>
            </a:r>
            <a:r>
              <a:rPr lang="es-ES" sz="600" dirty="0"/>
              <a:t>) / 2</a:t>
            </a:r>
          </a:p>
          <a:p>
            <a:r>
              <a:rPr lang="es-ES" sz="600" dirty="0"/>
              <a:t># Pasamos la misma 'seccion_300nm' a la curva en S</a:t>
            </a:r>
          </a:p>
          <a:p>
            <a:r>
              <a:rPr lang="es-ES" sz="600" dirty="0" err="1"/>
              <a:t>s_bend</a:t>
            </a:r>
            <a:r>
              <a:rPr lang="es-ES" sz="600" dirty="0"/>
              <a:t> = </a:t>
            </a:r>
            <a:r>
              <a:rPr lang="es-ES" sz="600" dirty="0" err="1"/>
              <a:t>gf.components.bend_s</a:t>
            </a:r>
            <a:r>
              <a:rPr lang="es-ES" sz="600" dirty="0"/>
              <a:t>(</a:t>
            </a:r>
            <a:r>
              <a:rPr lang="es-ES" sz="600" dirty="0" err="1"/>
              <a:t>size</a:t>
            </a:r>
            <a:r>
              <a:rPr lang="es-ES" sz="600" dirty="0"/>
              <a:t>=(</a:t>
            </a:r>
            <a:r>
              <a:rPr lang="es-ES" sz="600" dirty="0" err="1"/>
              <a:t>longitud_transicion</a:t>
            </a:r>
            <a:r>
              <a:rPr lang="es-ES" sz="600" dirty="0"/>
              <a:t>, </a:t>
            </a:r>
            <a:r>
              <a:rPr lang="es-ES" sz="600" dirty="0" err="1"/>
              <a:t>offset_y</a:t>
            </a:r>
            <a:r>
              <a:rPr lang="es-ES" sz="600" dirty="0"/>
              <a:t>), </a:t>
            </a:r>
            <a:r>
              <a:rPr lang="es-ES" sz="600" dirty="0" err="1"/>
              <a:t>cross_section</a:t>
            </a:r>
            <a:r>
              <a:rPr lang="es-ES" sz="600" dirty="0"/>
              <a:t>=seccion_300nm)</a:t>
            </a:r>
          </a:p>
          <a:p>
            <a:r>
              <a:rPr lang="es-ES" sz="600" dirty="0"/>
              <a:t># 2. Añadir y conectar los accesos del LADO IZQUIERDO (Entradas)</a:t>
            </a:r>
          </a:p>
          <a:p>
            <a:r>
              <a:rPr lang="es-ES" sz="600" dirty="0" err="1"/>
              <a:t>s_in_top</a:t>
            </a:r>
            <a:r>
              <a:rPr lang="es-ES" sz="600" dirty="0"/>
              <a:t> = </a:t>
            </a:r>
            <a:r>
              <a:rPr lang="es-ES" sz="600" dirty="0" err="1"/>
              <a:t>acoplador.add_ref</a:t>
            </a:r>
            <a:r>
              <a:rPr lang="es-ES" sz="600" dirty="0"/>
              <a:t>(</a:t>
            </a:r>
            <a:r>
              <a:rPr lang="es-ES" sz="600" dirty="0" err="1"/>
              <a:t>s_bend</a:t>
            </a:r>
            <a:r>
              <a:rPr lang="es-ES" sz="600" dirty="0"/>
              <a:t>)</a:t>
            </a:r>
          </a:p>
          <a:p>
            <a:r>
              <a:rPr lang="es-ES" sz="600" dirty="0" err="1"/>
              <a:t>s_in_top.connect</a:t>
            </a:r>
            <a:r>
              <a:rPr lang="es-ES" sz="600" dirty="0"/>
              <a:t>("o2", </a:t>
            </a:r>
            <a:r>
              <a:rPr lang="es-ES" sz="600" dirty="0" err="1"/>
              <a:t>recta_superior.ports</a:t>
            </a:r>
            <a:r>
              <a:rPr lang="es-ES" sz="600" dirty="0"/>
              <a:t>["o1"]) </a:t>
            </a:r>
          </a:p>
          <a:p>
            <a:r>
              <a:rPr lang="es-ES" sz="600" dirty="0" err="1"/>
              <a:t>s_in_bot</a:t>
            </a:r>
            <a:r>
              <a:rPr lang="es-ES" sz="600" dirty="0"/>
              <a:t> = </a:t>
            </a:r>
            <a:r>
              <a:rPr lang="es-ES" sz="600" dirty="0" err="1"/>
              <a:t>acoplador.add_ref</a:t>
            </a:r>
            <a:r>
              <a:rPr lang="es-ES" sz="600" dirty="0"/>
              <a:t>(</a:t>
            </a:r>
            <a:r>
              <a:rPr lang="es-ES" sz="600" dirty="0" err="1"/>
              <a:t>s_bend</a:t>
            </a:r>
            <a:r>
              <a:rPr lang="es-ES" sz="600" dirty="0"/>
              <a:t>)</a:t>
            </a:r>
          </a:p>
          <a:p>
            <a:r>
              <a:rPr lang="es-ES" sz="600" dirty="0" err="1"/>
              <a:t>s_in_bot.mirror_y</a:t>
            </a:r>
            <a:r>
              <a:rPr lang="es-ES" sz="600" dirty="0"/>
              <a:t>()</a:t>
            </a:r>
          </a:p>
          <a:p>
            <a:r>
              <a:rPr lang="es-ES" sz="600" dirty="0" err="1"/>
              <a:t>s_in_bot.connect</a:t>
            </a:r>
            <a:r>
              <a:rPr lang="es-ES" sz="600" dirty="0"/>
              <a:t>("o2", </a:t>
            </a:r>
            <a:r>
              <a:rPr lang="es-ES" sz="600" dirty="0" err="1"/>
              <a:t>recta_inferior.ports</a:t>
            </a:r>
            <a:r>
              <a:rPr lang="es-ES" sz="600" dirty="0"/>
              <a:t>["o1"])</a:t>
            </a:r>
          </a:p>
          <a:p>
            <a:r>
              <a:rPr lang="es-ES" sz="600" dirty="0"/>
              <a:t># 3. Añadir y conectar los accesos del LADO DERECHO (Salidas)</a:t>
            </a:r>
          </a:p>
          <a:p>
            <a:r>
              <a:rPr lang="es-ES" sz="600" dirty="0" err="1"/>
              <a:t>s_out_top</a:t>
            </a:r>
            <a:r>
              <a:rPr lang="es-ES" sz="600" dirty="0"/>
              <a:t> = </a:t>
            </a:r>
            <a:r>
              <a:rPr lang="es-ES" sz="600" dirty="0" err="1"/>
              <a:t>acoplador.add_ref</a:t>
            </a:r>
            <a:r>
              <a:rPr lang="es-ES" sz="600" dirty="0"/>
              <a:t>(</a:t>
            </a:r>
            <a:r>
              <a:rPr lang="es-ES" sz="600" dirty="0" err="1"/>
              <a:t>s_bend</a:t>
            </a:r>
            <a:r>
              <a:rPr lang="es-ES" sz="600" dirty="0"/>
              <a:t>)</a:t>
            </a:r>
          </a:p>
          <a:p>
            <a:r>
              <a:rPr lang="es-ES" sz="600" dirty="0" err="1"/>
              <a:t>s_out_top.mirror_x</a:t>
            </a:r>
            <a:r>
              <a:rPr lang="es-ES" sz="600" dirty="0"/>
              <a:t>() </a:t>
            </a:r>
          </a:p>
          <a:p>
            <a:r>
              <a:rPr lang="es-ES" sz="600" dirty="0" err="1"/>
              <a:t>s_out_top.connect</a:t>
            </a:r>
            <a:r>
              <a:rPr lang="es-ES" sz="600" dirty="0"/>
              <a:t>("o2", </a:t>
            </a:r>
            <a:r>
              <a:rPr lang="es-ES" sz="600" dirty="0" err="1"/>
              <a:t>recta_superior.ports</a:t>
            </a:r>
            <a:r>
              <a:rPr lang="es-ES" sz="600" dirty="0"/>
              <a:t>["o2"])</a:t>
            </a:r>
          </a:p>
          <a:p>
            <a:r>
              <a:rPr lang="es-ES" sz="600" dirty="0" err="1"/>
              <a:t>s_out_bot</a:t>
            </a:r>
            <a:r>
              <a:rPr lang="es-ES" sz="600" dirty="0"/>
              <a:t> = </a:t>
            </a:r>
            <a:r>
              <a:rPr lang="es-ES" sz="600" dirty="0" err="1"/>
              <a:t>acoplador.add_ref</a:t>
            </a:r>
            <a:r>
              <a:rPr lang="es-ES" sz="600" dirty="0"/>
              <a:t>(</a:t>
            </a:r>
            <a:r>
              <a:rPr lang="es-ES" sz="600" dirty="0" err="1"/>
              <a:t>s_bend</a:t>
            </a:r>
            <a:r>
              <a:rPr lang="es-ES" sz="600" dirty="0"/>
              <a:t>)</a:t>
            </a:r>
          </a:p>
          <a:p>
            <a:r>
              <a:rPr lang="es-ES" sz="600" dirty="0" err="1"/>
              <a:t>s_out_bot.mirror_y</a:t>
            </a:r>
            <a:r>
              <a:rPr lang="es-ES" sz="600" dirty="0"/>
              <a:t>() </a:t>
            </a:r>
          </a:p>
          <a:p>
            <a:r>
              <a:rPr lang="es-ES" sz="600" dirty="0" err="1"/>
              <a:t>s_out_bot.mirror_x</a:t>
            </a:r>
            <a:r>
              <a:rPr lang="es-ES" sz="600" dirty="0"/>
              <a:t>() </a:t>
            </a:r>
          </a:p>
          <a:p>
            <a:r>
              <a:rPr lang="es-ES" sz="600" dirty="0" err="1"/>
              <a:t>s_out_bot.connect</a:t>
            </a:r>
            <a:r>
              <a:rPr lang="es-ES" sz="600" dirty="0"/>
              <a:t>("o2", </a:t>
            </a:r>
            <a:r>
              <a:rPr lang="es-ES" sz="600" dirty="0" err="1"/>
              <a:t>recta_inferior.ports</a:t>
            </a:r>
            <a:r>
              <a:rPr lang="es-ES" sz="600" dirty="0"/>
              <a:t>["o2"])</a:t>
            </a:r>
          </a:p>
          <a:p>
            <a:r>
              <a:rPr lang="es-ES" sz="600" dirty="0"/>
              <a:t># 4. DEFINICIÓN DE LOS PUERTOS GLOBALES DEL CIRCUITO</a:t>
            </a:r>
          </a:p>
          <a:p>
            <a:r>
              <a:rPr lang="es-ES" sz="600" dirty="0" err="1"/>
              <a:t>acoplador.add_port</a:t>
            </a:r>
            <a:r>
              <a:rPr lang="es-ES" sz="600" dirty="0"/>
              <a:t>("</a:t>
            </a:r>
            <a:r>
              <a:rPr lang="es-ES" sz="600" dirty="0" err="1"/>
              <a:t>in_top</a:t>
            </a:r>
            <a:r>
              <a:rPr lang="es-ES" sz="600" dirty="0"/>
              <a:t>", </a:t>
            </a:r>
            <a:r>
              <a:rPr lang="es-ES" sz="600" dirty="0" err="1"/>
              <a:t>port</a:t>
            </a:r>
            <a:r>
              <a:rPr lang="es-ES" sz="600" dirty="0"/>
              <a:t>=</a:t>
            </a:r>
            <a:r>
              <a:rPr lang="es-ES" sz="600" dirty="0" err="1"/>
              <a:t>s_in_top.ports</a:t>
            </a:r>
            <a:r>
              <a:rPr lang="es-ES" sz="600" dirty="0"/>
              <a:t>["o1"])</a:t>
            </a:r>
          </a:p>
          <a:p>
            <a:r>
              <a:rPr lang="es-ES" sz="600" dirty="0" err="1"/>
              <a:t>acoplador.add_port</a:t>
            </a:r>
            <a:r>
              <a:rPr lang="es-ES" sz="600" dirty="0"/>
              <a:t>("</a:t>
            </a:r>
            <a:r>
              <a:rPr lang="es-ES" sz="600" dirty="0" err="1"/>
              <a:t>in_bot</a:t>
            </a:r>
            <a:r>
              <a:rPr lang="es-ES" sz="600" dirty="0"/>
              <a:t>", </a:t>
            </a:r>
            <a:r>
              <a:rPr lang="es-ES" sz="600" dirty="0" err="1"/>
              <a:t>port</a:t>
            </a:r>
            <a:r>
              <a:rPr lang="es-ES" sz="600" dirty="0"/>
              <a:t>=</a:t>
            </a:r>
            <a:r>
              <a:rPr lang="es-ES" sz="600" dirty="0" err="1"/>
              <a:t>s_in_bot.ports</a:t>
            </a:r>
            <a:r>
              <a:rPr lang="es-ES" sz="600" dirty="0"/>
              <a:t>["o1"])</a:t>
            </a:r>
          </a:p>
          <a:p>
            <a:r>
              <a:rPr lang="es-ES" sz="600" dirty="0" err="1"/>
              <a:t>acoplador.add_port</a:t>
            </a:r>
            <a:r>
              <a:rPr lang="es-ES" sz="600" dirty="0"/>
              <a:t>("</a:t>
            </a:r>
            <a:r>
              <a:rPr lang="es-ES" sz="600" dirty="0" err="1"/>
              <a:t>out_top</a:t>
            </a:r>
            <a:r>
              <a:rPr lang="es-ES" sz="600" dirty="0"/>
              <a:t>", </a:t>
            </a:r>
            <a:r>
              <a:rPr lang="es-ES" sz="600" dirty="0" err="1"/>
              <a:t>port</a:t>
            </a:r>
            <a:r>
              <a:rPr lang="es-ES" sz="600" dirty="0"/>
              <a:t>=</a:t>
            </a:r>
            <a:r>
              <a:rPr lang="es-ES" sz="600" dirty="0" err="1"/>
              <a:t>s_out_top.ports</a:t>
            </a:r>
            <a:r>
              <a:rPr lang="es-ES" sz="600" dirty="0"/>
              <a:t>["o1"])</a:t>
            </a:r>
          </a:p>
          <a:p>
            <a:r>
              <a:rPr lang="es-ES" sz="600" dirty="0" err="1"/>
              <a:t>acoplador.add_port</a:t>
            </a:r>
            <a:r>
              <a:rPr lang="es-ES" sz="600" dirty="0"/>
              <a:t>("</a:t>
            </a:r>
            <a:r>
              <a:rPr lang="es-ES" sz="600" dirty="0" err="1"/>
              <a:t>out_bot</a:t>
            </a:r>
            <a:r>
              <a:rPr lang="es-ES" sz="600" dirty="0"/>
              <a:t>", </a:t>
            </a:r>
            <a:r>
              <a:rPr lang="es-ES" sz="600" dirty="0" err="1"/>
              <a:t>port</a:t>
            </a:r>
            <a:r>
              <a:rPr lang="es-ES" sz="600" dirty="0"/>
              <a:t>=</a:t>
            </a:r>
            <a:r>
              <a:rPr lang="es-ES" sz="600" dirty="0" err="1"/>
              <a:t>s_out_bot.ports</a:t>
            </a:r>
            <a:r>
              <a:rPr lang="es-ES" sz="600" dirty="0"/>
              <a:t>["o1"])</a:t>
            </a:r>
          </a:p>
          <a:p>
            <a:r>
              <a:rPr lang="es-ES" sz="600" dirty="0"/>
              <a:t># ==========================================</a:t>
            </a:r>
          </a:p>
          <a:p>
            <a:r>
              <a:rPr lang="es-ES" sz="600" dirty="0"/>
              <a:t># VISUALIZACIÓN</a:t>
            </a:r>
          </a:p>
          <a:p>
            <a:r>
              <a:rPr lang="es-ES" sz="600" dirty="0"/>
              <a:t># ==========================================</a:t>
            </a:r>
          </a:p>
          <a:p>
            <a:r>
              <a:rPr lang="es-ES" sz="600" dirty="0" err="1"/>
              <a:t>acoplador.plot</a:t>
            </a:r>
            <a:r>
              <a:rPr lang="es-ES" sz="600" dirty="0"/>
              <a:t>() </a:t>
            </a:r>
          </a:p>
          <a:p>
            <a:r>
              <a:rPr lang="es-ES" sz="600" dirty="0" err="1"/>
              <a:t>acoplador.show</a:t>
            </a:r>
            <a:r>
              <a:rPr lang="es-ES" sz="600" dirty="0"/>
              <a:t>() </a:t>
            </a:r>
          </a:p>
          <a:p>
            <a:r>
              <a:rPr lang="es-ES" sz="600" dirty="0" err="1"/>
              <a:t>scene</a:t>
            </a:r>
            <a:r>
              <a:rPr lang="es-ES" sz="600" dirty="0"/>
              <a:t> = acoplador.to_3d()</a:t>
            </a:r>
          </a:p>
          <a:p>
            <a:r>
              <a:rPr lang="es-ES" sz="600" dirty="0" err="1"/>
              <a:t>scene.show</a:t>
            </a:r>
            <a:r>
              <a:rPr lang="es-ES" sz="600" dirty="0"/>
              <a:t>()</a:t>
            </a:r>
          </a:p>
          <a:p>
            <a:endParaRPr lang="es-ES" sz="600" dirty="0"/>
          </a:p>
        </p:txBody>
      </p:sp>
    </p:spTree>
    <p:extLst>
      <p:ext uri="{BB962C8B-B14F-4D97-AF65-F5344CB8AC3E}">
        <p14:creationId xmlns:p14="http://schemas.microsoft.com/office/powerpoint/2010/main" val="1196424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6EC4B-E2F8-E3F3-62B6-621557DB86B1}"/>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CB8EA4F1-8846-DE3E-8B60-70C4F2AB4F44}"/>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gn="ctr">
              <a:lnSpc>
                <a:spcPct val="100000"/>
              </a:lnSpc>
              <a:spcBef>
                <a:spcPts val="100"/>
              </a:spcBef>
            </a:pPr>
            <a:r>
              <a:rPr lang="en-US" sz="2500" dirty="0"/>
              <a:t>Learning outcome #1b – Notebook section 1. Technology – </a:t>
            </a:r>
            <a:r>
              <a:rPr lang="en-US" sz="2500" dirty="0">
                <a:solidFill>
                  <a:srgbClr val="FF0000"/>
                </a:solidFill>
              </a:rPr>
              <a:t>1 slide per component</a:t>
            </a:r>
            <a:br>
              <a:rPr lang="en-US" sz="2500" dirty="0"/>
            </a:br>
            <a:r>
              <a:rPr lang="en-US" sz="2500" dirty="0"/>
              <a:t>MMI</a:t>
            </a:r>
            <a:endParaRPr sz="2500" b="0" i="1" dirty="0">
              <a:latin typeface="+mj-lt"/>
              <a:cs typeface="Lucida Sans"/>
            </a:endParaRPr>
          </a:p>
        </p:txBody>
      </p:sp>
      <p:pic>
        <p:nvPicPr>
          <p:cNvPr id="83" name="Gráfico 82">
            <a:extLst>
              <a:ext uri="{FF2B5EF4-FFF2-40B4-BE49-F238E27FC236}">
                <a16:creationId xmlns:a16="http://schemas.microsoft.com/office/drawing/2014/main" id="{39D72504-7040-80C4-9C7C-C6B0AB754F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8F45A34-BD8C-26BC-21AE-FD97F8D60360}"/>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27A08C5D-B654-86DC-2D3D-480C72224BE9}"/>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9CD638AC-B330-C106-4B18-9238DC72EB90}"/>
              </a:ext>
            </a:extLst>
          </p:cNvPr>
          <p:cNvSpPr txBox="1"/>
          <p:nvPr/>
        </p:nvSpPr>
        <p:spPr>
          <a:xfrm>
            <a:off x="3733800" y="4860334"/>
            <a:ext cx="8075612" cy="830997"/>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Describe component. </a:t>
            </a:r>
            <a:r>
              <a:rPr lang="en-US" sz="1200" dirty="0">
                <a:solidFill>
                  <a:srgbClr val="FF0000"/>
                </a:solidFill>
                <a:latin typeface="Arial" panose="020B0604020202020204" pitchFamily="34" charset="0"/>
                <a:cs typeface="Arial" panose="020B0604020202020204" pitchFamily="34" charset="0"/>
              </a:rPr>
              <a:t>Example</a:t>
            </a:r>
            <a:r>
              <a:rPr lang="en-US" sz="1200" dirty="0">
                <a:latin typeface="Arial" panose="020B0604020202020204" pitchFamily="34" charset="0"/>
                <a:cs typeface="Arial" panose="020B0604020202020204" pitchFamily="34" charset="0"/>
              </a:rPr>
              <a:t>: this is the MMI we designed in Lab2, it is a 2x2 with paired interference, target coupling constant K = 0.5. The relevant dimensions are W_MMI = XX µm L_MMI = YY µm and the I/O positions with respect to center are at +/- </a:t>
            </a:r>
            <a:r>
              <a:rPr lang="en-US" sz="1200" dirty="0" err="1">
                <a:latin typeface="Arial" panose="020B0604020202020204" pitchFamily="34" charset="0"/>
                <a:cs typeface="Arial" panose="020B0604020202020204" pitchFamily="34" charset="0"/>
              </a:rPr>
              <a:t>dY</a:t>
            </a:r>
            <a:r>
              <a:rPr lang="en-US" sz="1200" dirty="0">
                <a:latin typeface="Arial" panose="020B0604020202020204" pitchFamily="34" charset="0"/>
                <a:cs typeface="Arial" panose="020B0604020202020204" pitchFamily="34" charset="0"/>
              </a:rPr>
              <a:t> µm</a:t>
            </a:r>
          </a:p>
          <a:p>
            <a:pPr algn="just"/>
            <a:endParaRPr lang="en-US" sz="1200" dirty="0">
              <a:latin typeface="Arial" panose="020B0604020202020204" pitchFamily="34" charset="0"/>
              <a:cs typeface="Arial" panose="020B0604020202020204" pitchFamily="34" charset="0"/>
            </a:endParaRPr>
          </a:p>
        </p:txBody>
      </p:sp>
      <p:sp>
        <p:nvSpPr>
          <p:cNvPr id="7" name="CuadroTexto 6">
            <a:extLst>
              <a:ext uri="{FF2B5EF4-FFF2-40B4-BE49-F238E27FC236}">
                <a16:creationId xmlns:a16="http://schemas.microsoft.com/office/drawing/2014/main" id="{8313A1F3-9376-EEC5-5D99-C9E9B24FC275}"/>
              </a:ext>
            </a:extLst>
          </p:cNvPr>
          <p:cNvSpPr txBox="1"/>
          <p:nvPr/>
        </p:nvSpPr>
        <p:spPr>
          <a:xfrm>
            <a:off x="629657" y="1186883"/>
            <a:ext cx="3180343" cy="4985980"/>
          </a:xfrm>
          <a:prstGeom prst="rect">
            <a:avLst/>
          </a:prstGeom>
          <a:noFill/>
        </p:spPr>
        <p:txBody>
          <a:bodyPr wrap="square" rtlCol="0">
            <a:spAutoFit/>
          </a:bodyPr>
          <a:lstStyle/>
          <a:p>
            <a:r>
              <a:rPr lang="es-ES" sz="600" dirty="0" err="1"/>
              <a:t>gf.clear_cache</a:t>
            </a:r>
            <a:r>
              <a:rPr lang="es-ES" sz="600" dirty="0"/>
              <a:t>()</a:t>
            </a:r>
          </a:p>
          <a:p>
            <a:r>
              <a:rPr lang="es-ES" sz="600" dirty="0"/>
              <a:t>mmi2x2 = </a:t>
            </a:r>
            <a:r>
              <a:rPr lang="es-ES" sz="600" dirty="0" err="1"/>
              <a:t>gf.Component</a:t>
            </a:r>
            <a:r>
              <a:rPr lang="es-ES" sz="600" dirty="0"/>
              <a:t>("MMI_2x2_Limpio")</a:t>
            </a:r>
          </a:p>
          <a:p>
            <a:r>
              <a:rPr lang="es-ES" sz="600" dirty="0"/>
              <a:t># =======================================================================</a:t>
            </a:r>
          </a:p>
          <a:p>
            <a:r>
              <a:rPr lang="es-ES" sz="600" dirty="0"/>
              <a:t># 1. CAPAS Y SECCIONES TRANSVERSALES</a:t>
            </a:r>
          </a:p>
          <a:p>
            <a:r>
              <a:rPr lang="es-ES" sz="600" dirty="0"/>
              <a:t># Extraemos la capa tecnológica base del PDK</a:t>
            </a:r>
          </a:p>
          <a:p>
            <a:r>
              <a:rPr lang="es-ES" sz="600" dirty="0" err="1"/>
              <a:t>capa_base</a:t>
            </a:r>
            <a:r>
              <a:rPr lang="es-ES" sz="600" dirty="0"/>
              <a:t> = </a:t>
            </a:r>
            <a:r>
              <a:rPr lang="es-ES" sz="600" dirty="0" err="1"/>
              <a:t>gf.components.straight</a:t>
            </a:r>
            <a:r>
              <a:rPr lang="es-ES" sz="600" dirty="0"/>
              <a:t>().</a:t>
            </a:r>
            <a:r>
              <a:rPr lang="es-ES" sz="600" dirty="0" err="1"/>
              <a:t>ports</a:t>
            </a:r>
            <a:r>
              <a:rPr lang="es-ES" sz="600" dirty="0"/>
              <a:t>["o1"].</a:t>
            </a:r>
            <a:r>
              <a:rPr lang="es-ES" sz="600" dirty="0" err="1"/>
              <a:t>layer</a:t>
            </a:r>
            <a:endParaRPr lang="es-ES" sz="600" dirty="0"/>
          </a:p>
          <a:p>
            <a:r>
              <a:rPr lang="es-ES" sz="600" dirty="0"/>
              <a:t># Guías de acceso (ancho estándar de 1.2 </a:t>
            </a:r>
            <a:r>
              <a:rPr lang="es-ES" sz="600" dirty="0" err="1"/>
              <a:t>um</a:t>
            </a:r>
            <a:r>
              <a:rPr lang="es-ES" sz="600" dirty="0"/>
              <a:t>)</a:t>
            </a:r>
          </a:p>
          <a:p>
            <a:r>
              <a:rPr lang="es-ES" sz="600" dirty="0" err="1"/>
              <a:t>seccion_acceso</a:t>
            </a:r>
            <a:r>
              <a:rPr lang="es-ES" sz="600" dirty="0"/>
              <a:t> = </a:t>
            </a:r>
            <a:r>
              <a:rPr lang="es-ES" sz="600" dirty="0" err="1"/>
              <a:t>gf.cross_section.cross_section</a:t>
            </a:r>
            <a:r>
              <a:rPr lang="es-ES" sz="600" dirty="0"/>
              <a:t>(</a:t>
            </a:r>
            <a:r>
              <a:rPr lang="es-ES" sz="600" dirty="0" err="1"/>
              <a:t>width</a:t>
            </a:r>
            <a:r>
              <a:rPr lang="es-ES" sz="600" dirty="0"/>
              <a:t>=1.2, </a:t>
            </a:r>
            <a:r>
              <a:rPr lang="es-ES" sz="600" dirty="0" err="1"/>
              <a:t>layer</a:t>
            </a:r>
            <a:r>
              <a:rPr lang="es-ES" sz="600" dirty="0"/>
              <a:t>=</a:t>
            </a:r>
            <a:r>
              <a:rPr lang="es-ES" sz="600" dirty="0" err="1"/>
              <a:t>capa_base</a:t>
            </a:r>
            <a:r>
              <a:rPr lang="es-ES" sz="600" dirty="0"/>
              <a:t>)</a:t>
            </a:r>
          </a:p>
          <a:p>
            <a:r>
              <a:rPr lang="es-ES" sz="600" dirty="0"/>
              <a:t># Cuerpo (</a:t>
            </a:r>
            <a:r>
              <a:rPr lang="es-ES" sz="600" dirty="0" err="1"/>
              <a:t>body</a:t>
            </a:r>
            <a:r>
              <a:rPr lang="es-ES" sz="600" dirty="0"/>
              <a:t>) del MMI (ancho solicitado de 6.6 </a:t>
            </a:r>
            <a:r>
              <a:rPr lang="es-ES" sz="600" dirty="0" err="1"/>
              <a:t>um</a:t>
            </a:r>
            <a:r>
              <a:rPr lang="es-ES" sz="600" dirty="0"/>
              <a:t>)</a:t>
            </a:r>
          </a:p>
          <a:p>
            <a:r>
              <a:rPr lang="es-ES" sz="600" dirty="0" err="1"/>
              <a:t>ancho_body</a:t>
            </a:r>
            <a:r>
              <a:rPr lang="es-ES" sz="600" dirty="0"/>
              <a:t> = 6.6</a:t>
            </a:r>
          </a:p>
          <a:p>
            <a:r>
              <a:rPr lang="es-ES" sz="600" dirty="0" err="1"/>
              <a:t>seccion_body</a:t>
            </a:r>
            <a:r>
              <a:rPr lang="es-ES" sz="600" dirty="0"/>
              <a:t> = </a:t>
            </a:r>
            <a:r>
              <a:rPr lang="es-ES" sz="600" dirty="0" err="1"/>
              <a:t>gf.cross_section.cross_section</a:t>
            </a:r>
            <a:r>
              <a:rPr lang="es-ES" sz="600" dirty="0"/>
              <a:t>(</a:t>
            </a:r>
            <a:r>
              <a:rPr lang="es-ES" sz="600" dirty="0" err="1"/>
              <a:t>width</a:t>
            </a:r>
            <a:r>
              <a:rPr lang="es-ES" sz="600" dirty="0"/>
              <a:t>=</a:t>
            </a:r>
            <a:r>
              <a:rPr lang="es-ES" sz="600" dirty="0" err="1"/>
              <a:t>ancho_body</a:t>
            </a:r>
            <a:r>
              <a:rPr lang="es-ES" sz="600" dirty="0"/>
              <a:t>, </a:t>
            </a:r>
            <a:r>
              <a:rPr lang="es-ES" sz="600" dirty="0" err="1"/>
              <a:t>layer</a:t>
            </a:r>
            <a:r>
              <a:rPr lang="es-ES" sz="600" dirty="0"/>
              <a:t>=</a:t>
            </a:r>
            <a:r>
              <a:rPr lang="es-ES" sz="600" dirty="0" err="1"/>
              <a:t>capa_base</a:t>
            </a:r>
            <a:r>
              <a:rPr lang="es-ES" sz="600" dirty="0"/>
              <a:t>)</a:t>
            </a:r>
          </a:p>
          <a:p>
            <a:r>
              <a:rPr lang="es-ES" sz="600" dirty="0"/>
              <a:t># =======================================================================</a:t>
            </a:r>
          </a:p>
          <a:p>
            <a:r>
              <a:rPr lang="es-ES" sz="600" dirty="0"/>
              <a:t># 2. CUERPO (BODY) DEL MMI</a:t>
            </a:r>
          </a:p>
          <a:p>
            <a:r>
              <a:rPr lang="es-ES" sz="600" dirty="0"/>
              <a:t># Longitud para interferencia pareada (</a:t>
            </a:r>
            <a:r>
              <a:rPr lang="es-ES" sz="600" dirty="0" err="1"/>
              <a:t>paired</a:t>
            </a:r>
            <a:r>
              <a:rPr lang="es-ES" sz="600" dirty="0"/>
              <a:t> </a:t>
            </a:r>
            <a:r>
              <a:rPr lang="es-ES" sz="600" dirty="0" err="1"/>
              <a:t>interference</a:t>
            </a:r>
            <a:r>
              <a:rPr lang="es-ES" sz="600" dirty="0"/>
              <a:t>) en un divisor 3dB (L = </a:t>
            </a:r>
            <a:r>
              <a:rPr lang="es-ES" sz="600" dirty="0" err="1"/>
              <a:t>L_pi</a:t>
            </a:r>
            <a:r>
              <a:rPr lang="es-ES" sz="600" dirty="0"/>
              <a:t> / 2)</a:t>
            </a:r>
          </a:p>
          <a:p>
            <a:r>
              <a:rPr lang="es-ES" sz="600" dirty="0" err="1"/>
              <a:t>L_pi</a:t>
            </a:r>
            <a:r>
              <a:rPr lang="es-ES" sz="600" dirty="0"/>
              <a:t> = 69.03598607255596</a:t>
            </a:r>
          </a:p>
          <a:p>
            <a:r>
              <a:rPr lang="es-ES" sz="600" dirty="0" err="1"/>
              <a:t>longitud_mmi</a:t>
            </a:r>
            <a:r>
              <a:rPr lang="es-ES" sz="600" dirty="0"/>
              <a:t> = </a:t>
            </a:r>
            <a:r>
              <a:rPr lang="es-ES" sz="600" dirty="0" err="1"/>
              <a:t>L_pi</a:t>
            </a:r>
            <a:r>
              <a:rPr lang="es-ES" sz="600" dirty="0"/>
              <a:t> / 2 </a:t>
            </a:r>
          </a:p>
          <a:p>
            <a:r>
              <a:rPr lang="es-ES" sz="600" dirty="0"/>
              <a:t>cuerpo = </a:t>
            </a:r>
            <a:r>
              <a:rPr lang="es-ES" sz="600" dirty="0" err="1"/>
              <a:t>gf.components.straight</a:t>
            </a:r>
            <a:r>
              <a:rPr lang="es-ES" sz="600" dirty="0"/>
              <a:t>(</a:t>
            </a:r>
            <a:r>
              <a:rPr lang="es-ES" sz="600" dirty="0" err="1"/>
              <a:t>length</a:t>
            </a:r>
            <a:r>
              <a:rPr lang="es-ES" sz="600" dirty="0"/>
              <a:t>=</a:t>
            </a:r>
            <a:r>
              <a:rPr lang="es-ES" sz="600" dirty="0" err="1"/>
              <a:t>longitud_mmi</a:t>
            </a:r>
            <a:r>
              <a:rPr lang="es-ES" sz="600" dirty="0"/>
              <a:t>, </a:t>
            </a:r>
            <a:r>
              <a:rPr lang="es-ES" sz="600" dirty="0" err="1"/>
              <a:t>cross_section</a:t>
            </a:r>
            <a:r>
              <a:rPr lang="es-ES" sz="600" dirty="0"/>
              <a:t>=</a:t>
            </a:r>
            <a:r>
              <a:rPr lang="es-ES" sz="600" dirty="0" err="1"/>
              <a:t>seccion_body</a:t>
            </a:r>
            <a:r>
              <a:rPr lang="es-ES" sz="600" dirty="0"/>
              <a:t>)</a:t>
            </a:r>
          </a:p>
          <a:p>
            <a:r>
              <a:rPr lang="es-ES" sz="600" dirty="0" err="1"/>
              <a:t>body_ref</a:t>
            </a:r>
            <a:r>
              <a:rPr lang="es-ES" sz="600" dirty="0"/>
              <a:t> = mmi2x2.add_ref(cuerpo)</a:t>
            </a:r>
          </a:p>
          <a:p>
            <a:r>
              <a:rPr lang="es-ES" sz="600" dirty="0"/>
              <a:t># 3. GUÍAS DE ACCESO RECTAS (ENTRADAS Y SALIDAS)</a:t>
            </a:r>
          </a:p>
          <a:p>
            <a:r>
              <a:rPr lang="es-ES" sz="600" dirty="0"/>
              <a:t># Posiciones a 1/6 y -1/6 del ancho del </a:t>
            </a:r>
            <a:r>
              <a:rPr lang="es-ES" sz="600" dirty="0" err="1"/>
              <a:t>body</a:t>
            </a:r>
            <a:r>
              <a:rPr lang="es-ES" sz="600" dirty="0"/>
              <a:t> (6.6 / 6 = 1.1 </a:t>
            </a:r>
            <a:r>
              <a:rPr lang="es-ES" sz="600" dirty="0" err="1"/>
              <a:t>um</a:t>
            </a:r>
            <a:r>
              <a:rPr lang="es-ES" sz="600" dirty="0"/>
              <a:t>)</a:t>
            </a:r>
          </a:p>
          <a:p>
            <a:r>
              <a:rPr lang="es-ES" sz="600" dirty="0" err="1"/>
              <a:t>posicion_y</a:t>
            </a:r>
            <a:r>
              <a:rPr lang="es-ES" sz="600" dirty="0"/>
              <a:t> = </a:t>
            </a:r>
            <a:r>
              <a:rPr lang="es-ES" sz="600" dirty="0" err="1"/>
              <a:t>ancho_body</a:t>
            </a:r>
            <a:r>
              <a:rPr lang="es-ES" sz="600" dirty="0"/>
              <a:t> / 6.0  </a:t>
            </a:r>
          </a:p>
          <a:p>
            <a:r>
              <a:rPr lang="es-ES" sz="600" dirty="0" err="1"/>
              <a:t>longitud_acceso</a:t>
            </a:r>
            <a:r>
              <a:rPr lang="es-ES" sz="600" dirty="0"/>
              <a:t> = 10.0  # Longitud de los "rabillos" de entrada/salida</a:t>
            </a:r>
          </a:p>
          <a:p>
            <a:r>
              <a:rPr lang="es-ES" sz="600" dirty="0" err="1"/>
              <a:t>guia_recta</a:t>
            </a:r>
            <a:r>
              <a:rPr lang="es-ES" sz="600" dirty="0"/>
              <a:t> = </a:t>
            </a:r>
            <a:r>
              <a:rPr lang="es-ES" sz="600" dirty="0" err="1"/>
              <a:t>gf.components.straight</a:t>
            </a:r>
            <a:r>
              <a:rPr lang="es-ES" sz="600" dirty="0"/>
              <a:t>(</a:t>
            </a:r>
            <a:r>
              <a:rPr lang="es-ES" sz="600" dirty="0" err="1"/>
              <a:t>length</a:t>
            </a:r>
            <a:r>
              <a:rPr lang="es-ES" sz="600" dirty="0"/>
              <a:t>=</a:t>
            </a:r>
            <a:r>
              <a:rPr lang="es-ES" sz="600" dirty="0" err="1"/>
              <a:t>longitud_acceso</a:t>
            </a:r>
            <a:r>
              <a:rPr lang="es-ES" sz="600" dirty="0"/>
              <a:t>, </a:t>
            </a:r>
            <a:r>
              <a:rPr lang="es-ES" sz="600" dirty="0" err="1"/>
              <a:t>cross_section</a:t>
            </a:r>
            <a:r>
              <a:rPr lang="es-ES" sz="600" dirty="0"/>
              <a:t>=</a:t>
            </a:r>
            <a:r>
              <a:rPr lang="es-ES" sz="600" dirty="0" err="1"/>
              <a:t>seccion_acceso</a:t>
            </a:r>
            <a:r>
              <a:rPr lang="es-ES" sz="600" dirty="0"/>
              <a:t>)</a:t>
            </a:r>
          </a:p>
          <a:p>
            <a:r>
              <a:rPr lang="es-ES" sz="600" dirty="0"/>
              <a:t># --- LADO IZQUIERDO (Entradas en X = 0) ---</a:t>
            </a:r>
          </a:p>
          <a:p>
            <a:r>
              <a:rPr lang="es-ES" sz="600" dirty="0" err="1"/>
              <a:t>in_top</a:t>
            </a:r>
            <a:r>
              <a:rPr lang="es-ES" sz="600" dirty="0"/>
              <a:t> = mmi2x2.add_ref(</a:t>
            </a:r>
            <a:r>
              <a:rPr lang="es-ES" sz="600" dirty="0" err="1"/>
              <a:t>guia_recta</a:t>
            </a:r>
            <a:r>
              <a:rPr lang="es-ES" sz="600" dirty="0"/>
              <a:t>)</a:t>
            </a:r>
          </a:p>
          <a:p>
            <a:r>
              <a:rPr lang="es-ES" sz="600" dirty="0" err="1"/>
              <a:t>in_top.movex</a:t>
            </a:r>
            <a:r>
              <a:rPr lang="es-ES" sz="600" dirty="0"/>
              <a:t>(-</a:t>
            </a:r>
            <a:r>
              <a:rPr lang="es-ES" sz="600" dirty="0" err="1"/>
              <a:t>longitud_acceso</a:t>
            </a:r>
            <a:r>
              <a:rPr lang="es-ES" sz="600" dirty="0"/>
              <a:t>)</a:t>
            </a:r>
          </a:p>
          <a:p>
            <a:r>
              <a:rPr lang="es-ES" sz="600" dirty="0" err="1"/>
              <a:t>in_top.movey</a:t>
            </a:r>
            <a:r>
              <a:rPr lang="es-ES" sz="600" dirty="0"/>
              <a:t>(</a:t>
            </a:r>
            <a:r>
              <a:rPr lang="es-ES" sz="600" dirty="0" err="1"/>
              <a:t>posicion_y</a:t>
            </a:r>
            <a:r>
              <a:rPr lang="es-ES" sz="600" dirty="0"/>
              <a:t>)</a:t>
            </a:r>
          </a:p>
          <a:p>
            <a:r>
              <a:rPr lang="es-ES" sz="600" dirty="0" err="1"/>
              <a:t>in_bot</a:t>
            </a:r>
            <a:r>
              <a:rPr lang="es-ES" sz="600" dirty="0"/>
              <a:t> = mmi2x2.add_ref(</a:t>
            </a:r>
            <a:r>
              <a:rPr lang="es-ES" sz="600" dirty="0" err="1"/>
              <a:t>guia_recta</a:t>
            </a:r>
            <a:r>
              <a:rPr lang="es-ES" sz="600" dirty="0"/>
              <a:t>)</a:t>
            </a:r>
          </a:p>
          <a:p>
            <a:r>
              <a:rPr lang="es-ES" sz="600" dirty="0" err="1"/>
              <a:t>in_bot.movex</a:t>
            </a:r>
            <a:r>
              <a:rPr lang="es-ES" sz="600" dirty="0"/>
              <a:t>(-</a:t>
            </a:r>
            <a:r>
              <a:rPr lang="es-ES" sz="600" dirty="0" err="1"/>
              <a:t>longitud_acceso</a:t>
            </a:r>
            <a:r>
              <a:rPr lang="es-ES" sz="600" dirty="0"/>
              <a:t>)</a:t>
            </a:r>
          </a:p>
          <a:p>
            <a:r>
              <a:rPr lang="es-ES" sz="600" dirty="0" err="1"/>
              <a:t>in_bot.movey</a:t>
            </a:r>
            <a:r>
              <a:rPr lang="es-ES" sz="600" dirty="0"/>
              <a:t>(-</a:t>
            </a:r>
            <a:r>
              <a:rPr lang="es-ES" sz="600" dirty="0" err="1"/>
              <a:t>posicion_y</a:t>
            </a:r>
            <a:r>
              <a:rPr lang="es-ES" sz="600" dirty="0"/>
              <a:t>)</a:t>
            </a:r>
          </a:p>
          <a:p>
            <a:r>
              <a:rPr lang="es-ES" sz="600" dirty="0"/>
              <a:t># --- LADO DERECHO (Salidas en X = </a:t>
            </a:r>
            <a:r>
              <a:rPr lang="es-ES" sz="600" dirty="0" err="1"/>
              <a:t>longitud_mmi</a:t>
            </a:r>
            <a:r>
              <a:rPr lang="es-ES" sz="600" dirty="0"/>
              <a:t>) ---</a:t>
            </a:r>
          </a:p>
          <a:p>
            <a:r>
              <a:rPr lang="es-ES" sz="600" dirty="0" err="1"/>
              <a:t>out_top</a:t>
            </a:r>
            <a:r>
              <a:rPr lang="es-ES" sz="600" dirty="0"/>
              <a:t> = mmi2x2.add_ref(</a:t>
            </a:r>
            <a:r>
              <a:rPr lang="es-ES" sz="600" dirty="0" err="1"/>
              <a:t>guia_recta</a:t>
            </a:r>
            <a:r>
              <a:rPr lang="es-ES" sz="600" dirty="0"/>
              <a:t>)</a:t>
            </a:r>
          </a:p>
          <a:p>
            <a:r>
              <a:rPr lang="es-ES" sz="600" dirty="0" err="1"/>
              <a:t>out_top.movex</a:t>
            </a:r>
            <a:r>
              <a:rPr lang="es-ES" sz="600" dirty="0"/>
              <a:t>(</a:t>
            </a:r>
            <a:r>
              <a:rPr lang="es-ES" sz="600" dirty="0" err="1"/>
              <a:t>longitud_mmi</a:t>
            </a:r>
            <a:r>
              <a:rPr lang="es-ES" sz="600" dirty="0"/>
              <a:t>)</a:t>
            </a:r>
          </a:p>
          <a:p>
            <a:r>
              <a:rPr lang="es-ES" sz="600" dirty="0" err="1"/>
              <a:t>out_top.movey</a:t>
            </a:r>
            <a:r>
              <a:rPr lang="es-ES" sz="600" dirty="0"/>
              <a:t>(</a:t>
            </a:r>
            <a:r>
              <a:rPr lang="es-ES" sz="600" dirty="0" err="1"/>
              <a:t>posicion_y</a:t>
            </a:r>
            <a:r>
              <a:rPr lang="es-ES" sz="600" dirty="0"/>
              <a:t>)</a:t>
            </a:r>
          </a:p>
          <a:p>
            <a:r>
              <a:rPr lang="es-ES" sz="600" dirty="0" err="1"/>
              <a:t>out_bot</a:t>
            </a:r>
            <a:r>
              <a:rPr lang="es-ES" sz="600" dirty="0"/>
              <a:t> = mmi2x2.add_ref(</a:t>
            </a:r>
            <a:r>
              <a:rPr lang="es-ES" sz="600" dirty="0" err="1"/>
              <a:t>guia_recta</a:t>
            </a:r>
            <a:r>
              <a:rPr lang="es-ES" sz="600" dirty="0"/>
              <a:t>)</a:t>
            </a:r>
          </a:p>
          <a:p>
            <a:r>
              <a:rPr lang="es-ES" sz="600" dirty="0" err="1"/>
              <a:t>out_bot.movex</a:t>
            </a:r>
            <a:r>
              <a:rPr lang="es-ES" sz="600" dirty="0"/>
              <a:t>(</a:t>
            </a:r>
            <a:r>
              <a:rPr lang="es-ES" sz="600" dirty="0" err="1"/>
              <a:t>longitud_mmi</a:t>
            </a:r>
            <a:r>
              <a:rPr lang="es-ES" sz="600" dirty="0"/>
              <a:t>)</a:t>
            </a:r>
          </a:p>
          <a:p>
            <a:r>
              <a:rPr lang="es-ES" sz="600" dirty="0" err="1"/>
              <a:t>out_bot.movey</a:t>
            </a:r>
            <a:r>
              <a:rPr lang="es-ES" sz="600" dirty="0"/>
              <a:t>(-</a:t>
            </a:r>
            <a:r>
              <a:rPr lang="es-ES" sz="600" dirty="0" err="1"/>
              <a:t>posicion_y</a:t>
            </a:r>
            <a:r>
              <a:rPr lang="es-ES" sz="600" dirty="0"/>
              <a:t>)</a:t>
            </a:r>
          </a:p>
          <a:p>
            <a:r>
              <a:rPr lang="es-ES" sz="600" dirty="0"/>
              <a:t># =======================================================================</a:t>
            </a:r>
          </a:p>
          <a:p>
            <a:r>
              <a:rPr lang="es-ES" sz="600" dirty="0"/>
              <a:t># 4. DEFINICIÓN DE LOS PUERTOS GLOBALES DEL CIRCUITO</a:t>
            </a:r>
          </a:p>
          <a:p>
            <a:r>
              <a:rPr lang="es-ES" sz="600" dirty="0"/>
              <a:t># =======================================================================</a:t>
            </a:r>
          </a:p>
          <a:p>
            <a:r>
              <a:rPr lang="es-ES" sz="600" dirty="0"/>
              <a:t># Los puertos exteriores quedan apuntando hacia fuera listos para conectar</a:t>
            </a:r>
          </a:p>
          <a:p>
            <a:r>
              <a:rPr lang="es-ES" sz="600" dirty="0"/>
              <a:t>mmi2x2.add_port("</a:t>
            </a:r>
            <a:r>
              <a:rPr lang="es-ES" sz="600" dirty="0" err="1"/>
              <a:t>in_top</a:t>
            </a:r>
            <a:r>
              <a:rPr lang="es-ES" sz="600" dirty="0"/>
              <a:t>", </a:t>
            </a:r>
            <a:r>
              <a:rPr lang="es-ES" sz="600" dirty="0" err="1"/>
              <a:t>port</a:t>
            </a:r>
            <a:r>
              <a:rPr lang="es-ES" sz="600" dirty="0"/>
              <a:t>=</a:t>
            </a:r>
            <a:r>
              <a:rPr lang="es-ES" sz="600" dirty="0" err="1"/>
              <a:t>in_top.ports</a:t>
            </a:r>
            <a:r>
              <a:rPr lang="es-ES" sz="600" dirty="0"/>
              <a:t>["o1"])</a:t>
            </a:r>
          </a:p>
          <a:p>
            <a:r>
              <a:rPr lang="es-ES" sz="600" dirty="0"/>
              <a:t>mmi2x2.add_port("</a:t>
            </a:r>
            <a:r>
              <a:rPr lang="es-ES" sz="600" dirty="0" err="1"/>
              <a:t>in_bot</a:t>
            </a:r>
            <a:r>
              <a:rPr lang="es-ES" sz="600" dirty="0"/>
              <a:t>", </a:t>
            </a:r>
            <a:r>
              <a:rPr lang="es-ES" sz="600" dirty="0" err="1"/>
              <a:t>port</a:t>
            </a:r>
            <a:r>
              <a:rPr lang="es-ES" sz="600" dirty="0"/>
              <a:t>=</a:t>
            </a:r>
            <a:r>
              <a:rPr lang="es-ES" sz="600" dirty="0" err="1"/>
              <a:t>in_bot.ports</a:t>
            </a:r>
            <a:r>
              <a:rPr lang="es-ES" sz="600" dirty="0"/>
              <a:t>["o1"])</a:t>
            </a:r>
          </a:p>
          <a:p>
            <a:r>
              <a:rPr lang="es-ES" sz="600" dirty="0"/>
              <a:t>mmi2x2.add_port("</a:t>
            </a:r>
            <a:r>
              <a:rPr lang="es-ES" sz="600" dirty="0" err="1"/>
              <a:t>out_top</a:t>
            </a:r>
            <a:r>
              <a:rPr lang="es-ES" sz="600" dirty="0"/>
              <a:t>", </a:t>
            </a:r>
            <a:r>
              <a:rPr lang="es-ES" sz="600" dirty="0" err="1"/>
              <a:t>port</a:t>
            </a:r>
            <a:r>
              <a:rPr lang="es-ES" sz="600" dirty="0"/>
              <a:t>=</a:t>
            </a:r>
            <a:r>
              <a:rPr lang="es-ES" sz="600" dirty="0" err="1"/>
              <a:t>out_top.ports</a:t>
            </a:r>
            <a:r>
              <a:rPr lang="es-ES" sz="600" dirty="0"/>
              <a:t>["o2"])</a:t>
            </a:r>
          </a:p>
          <a:p>
            <a:r>
              <a:rPr lang="es-ES" sz="600" dirty="0"/>
              <a:t>mmi2x2.add_port("</a:t>
            </a:r>
            <a:r>
              <a:rPr lang="es-ES" sz="600" dirty="0" err="1"/>
              <a:t>out_bot</a:t>
            </a:r>
            <a:r>
              <a:rPr lang="es-ES" sz="600" dirty="0"/>
              <a:t>", </a:t>
            </a:r>
            <a:r>
              <a:rPr lang="es-ES" sz="600" dirty="0" err="1"/>
              <a:t>port</a:t>
            </a:r>
            <a:r>
              <a:rPr lang="es-ES" sz="600" dirty="0"/>
              <a:t>=</a:t>
            </a:r>
            <a:r>
              <a:rPr lang="es-ES" sz="600" dirty="0" err="1"/>
              <a:t>out_bot.ports</a:t>
            </a:r>
            <a:r>
              <a:rPr lang="es-ES" sz="600" dirty="0"/>
              <a:t>["o2"])</a:t>
            </a:r>
          </a:p>
          <a:p>
            <a:r>
              <a:rPr lang="es-ES" sz="600" dirty="0"/>
              <a:t># ==========================================</a:t>
            </a:r>
          </a:p>
          <a:p>
            <a:r>
              <a:rPr lang="es-ES" sz="600" dirty="0"/>
              <a:t># VISUALIZACIÓN</a:t>
            </a:r>
          </a:p>
          <a:p>
            <a:r>
              <a:rPr lang="es-ES" sz="600" dirty="0"/>
              <a:t># ==========================================</a:t>
            </a:r>
          </a:p>
          <a:p>
            <a:r>
              <a:rPr lang="es-ES" sz="600" dirty="0"/>
              <a:t>mmi2x2.plot() </a:t>
            </a:r>
          </a:p>
          <a:p>
            <a:r>
              <a:rPr lang="es-ES" sz="600" dirty="0"/>
              <a:t>mmi2x2.show() </a:t>
            </a:r>
          </a:p>
          <a:p>
            <a:r>
              <a:rPr lang="es-ES" sz="600" dirty="0" err="1"/>
              <a:t>scene</a:t>
            </a:r>
            <a:r>
              <a:rPr lang="es-ES" sz="600" dirty="0"/>
              <a:t> = mmi2x2.to_3d()</a:t>
            </a:r>
          </a:p>
          <a:p>
            <a:r>
              <a:rPr lang="es-ES" sz="600" dirty="0" err="1"/>
              <a:t>scene.show</a:t>
            </a:r>
            <a:r>
              <a:rPr lang="es-ES" sz="600" dirty="0"/>
              <a:t>()</a:t>
            </a:r>
          </a:p>
          <a:p>
            <a:pPr algn="ctr"/>
            <a:endParaRPr lang="en-US" sz="600" dirty="0"/>
          </a:p>
        </p:txBody>
      </p:sp>
      <p:sp>
        <p:nvSpPr>
          <p:cNvPr id="8" name="Rectángulo 7">
            <a:extLst>
              <a:ext uri="{FF2B5EF4-FFF2-40B4-BE49-F238E27FC236}">
                <a16:creationId xmlns:a16="http://schemas.microsoft.com/office/drawing/2014/main" id="{DA595338-1A81-6060-EEF3-15418B2F1E83}"/>
              </a:ext>
            </a:extLst>
          </p:cNvPr>
          <p:cNvSpPr/>
          <p:nvPr/>
        </p:nvSpPr>
        <p:spPr>
          <a:xfrm>
            <a:off x="6476841" y="1420406"/>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7C9E7205-6AD1-9C1A-E378-F5E4B731E8E3}"/>
              </a:ext>
            </a:extLst>
          </p:cNvPr>
          <p:cNvSpPr txBox="1"/>
          <p:nvPr/>
        </p:nvSpPr>
        <p:spPr>
          <a:xfrm>
            <a:off x="7956912" y="2496339"/>
            <a:ext cx="2372445" cy="369332"/>
          </a:xfrm>
          <a:prstGeom prst="rect">
            <a:avLst/>
          </a:prstGeom>
          <a:noFill/>
        </p:spPr>
        <p:txBody>
          <a:bodyPr wrap="none" rtlCol="0">
            <a:spAutoFit/>
          </a:bodyPr>
          <a:lstStyle/>
          <a:p>
            <a:pPr algn="ctr"/>
            <a:r>
              <a:rPr lang="es-ES" dirty="0" err="1"/>
              <a:t>Component</a:t>
            </a:r>
            <a:r>
              <a:rPr lang="es-ES" dirty="0"/>
              <a:t> </a:t>
            </a:r>
            <a:r>
              <a:rPr lang="es-ES" dirty="0" err="1"/>
              <a:t>screenshot</a:t>
            </a:r>
            <a:endParaRPr lang="en-US" dirty="0"/>
          </a:p>
        </p:txBody>
      </p:sp>
      <p:pic>
        <p:nvPicPr>
          <p:cNvPr id="5" name="Picture 4">
            <a:extLst>
              <a:ext uri="{FF2B5EF4-FFF2-40B4-BE49-F238E27FC236}">
                <a16:creationId xmlns:a16="http://schemas.microsoft.com/office/drawing/2014/main" id="{D3E52483-5C61-8C7D-614D-B6124C9BB3BC}"/>
              </a:ext>
            </a:extLst>
          </p:cNvPr>
          <p:cNvPicPr>
            <a:picLocks noChangeAspect="1"/>
          </p:cNvPicPr>
          <p:nvPr/>
        </p:nvPicPr>
        <p:blipFill>
          <a:blip r:embed="rId4"/>
          <a:stretch>
            <a:fillRect/>
          </a:stretch>
        </p:blipFill>
        <p:spPr>
          <a:xfrm>
            <a:off x="6953419" y="1434954"/>
            <a:ext cx="4379414" cy="3306028"/>
          </a:xfrm>
          <a:prstGeom prst="rect">
            <a:avLst/>
          </a:prstGeom>
        </p:spPr>
      </p:pic>
    </p:spTree>
    <p:extLst>
      <p:ext uri="{BB962C8B-B14F-4D97-AF65-F5344CB8AC3E}">
        <p14:creationId xmlns:p14="http://schemas.microsoft.com/office/powerpoint/2010/main" val="1422350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7923B-B965-604F-C25D-2183283D2641}"/>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917122DE-0540-0A7A-0A39-B3E2A8A08A95}"/>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gn="ctr">
              <a:lnSpc>
                <a:spcPct val="100000"/>
              </a:lnSpc>
              <a:spcBef>
                <a:spcPts val="100"/>
              </a:spcBef>
            </a:pPr>
            <a:r>
              <a:rPr lang="en-US" sz="2500" dirty="0"/>
              <a:t>Learning outcome #1b – Notebook section 1. Technology – </a:t>
            </a:r>
            <a:r>
              <a:rPr lang="en-US" sz="2500" dirty="0">
                <a:solidFill>
                  <a:srgbClr val="FF0000"/>
                </a:solidFill>
              </a:rPr>
              <a:t>1 slide per component</a:t>
            </a:r>
            <a:br>
              <a:rPr lang="en-US" sz="2500" dirty="0"/>
            </a:br>
            <a:r>
              <a:rPr lang="en-US" sz="2500" dirty="0"/>
              <a:t>MZI </a:t>
            </a:r>
            <a:r>
              <a:rPr lang="en-US" sz="2500" dirty="0" err="1"/>
              <a:t>desequilibrado</a:t>
            </a:r>
            <a:endParaRPr sz="2500" b="0" i="1" dirty="0">
              <a:latin typeface="+mj-lt"/>
              <a:cs typeface="Lucida Sans"/>
            </a:endParaRPr>
          </a:p>
        </p:txBody>
      </p:sp>
      <p:pic>
        <p:nvPicPr>
          <p:cNvPr id="83" name="Gráfico 82">
            <a:extLst>
              <a:ext uri="{FF2B5EF4-FFF2-40B4-BE49-F238E27FC236}">
                <a16:creationId xmlns:a16="http://schemas.microsoft.com/office/drawing/2014/main" id="{1D8E4991-6607-8BED-3E10-BAAC4C14AEC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AD299DD3-E90F-2D33-2553-7E3E89FE4528}"/>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96A8FE6C-CFD9-7F14-EA77-381A94747328}"/>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CE63A744-3932-83FA-1851-1D09B98C5292}"/>
              </a:ext>
            </a:extLst>
          </p:cNvPr>
          <p:cNvSpPr txBox="1"/>
          <p:nvPr/>
        </p:nvSpPr>
        <p:spPr>
          <a:xfrm>
            <a:off x="3886200" y="4860334"/>
            <a:ext cx="7923212" cy="830997"/>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Describe component. </a:t>
            </a:r>
            <a:r>
              <a:rPr lang="en-US" sz="1200" dirty="0">
                <a:solidFill>
                  <a:srgbClr val="FF0000"/>
                </a:solidFill>
                <a:latin typeface="Arial" panose="020B0604020202020204" pitchFamily="34" charset="0"/>
                <a:cs typeface="Arial" panose="020B0604020202020204" pitchFamily="34" charset="0"/>
              </a:rPr>
              <a:t>Example</a:t>
            </a:r>
            <a:r>
              <a:rPr lang="en-US" sz="1200" dirty="0">
                <a:latin typeface="Arial" panose="020B0604020202020204" pitchFamily="34" charset="0"/>
                <a:cs typeface="Arial" panose="020B0604020202020204" pitchFamily="34" charset="0"/>
              </a:rPr>
              <a:t>: this is the MMI we designed in Lab2, it is a 2x2 with paired interference, target coupling constant K = 0.5. The relevant dimensions are W_MMI = XX µm L_MMI = YY µm and the I/O positions with respect to center are at +/- </a:t>
            </a:r>
            <a:r>
              <a:rPr lang="en-US" sz="1200" dirty="0" err="1">
                <a:latin typeface="Arial" panose="020B0604020202020204" pitchFamily="34" charset="0"/>
                <a:cs typeface="Arial" panose="020B0604020202020204" pitchFamily="34" charset="0"/>
              </a:rPr>
              <a:t>dY</a:t>
            </a:r>
            <a:r>
              <a:rPr lang="en-US" sz="1200" dirty="0">
                <a:latin typeface="Arial" panose="020B0604020202020204" pitchFamily="34" charset="0"/>
                <a:cs typeface="Arial" panose="020B0604020202020204" pitchFamily="34" charset="0"/>
              </a:rPr>
              <a:t> µm</a:t>
            </a:r>
          </a:p>
          <a:p>
            <a:pPr algn="just"/>
            <a:endParaRPr lang="en-US" sz="1200" dirty="0">
              <a:latin typeface="Arial" panose="020B0604020202020204" pitchFamily="34" charset="0"/>
              <a:cs typeface="Arial" panose="020B0604020202020204" pitchFamily="34" charset="0"/>
            </a:endParaRPr>
          </a:p>
        </p:txBody>
      </p:sp>
      <p:sp>
        <p:nvSpPr>
          <p:cNvPr id="6" name="Rectángulo 5">
            <a:extLst>
              <a:ext uri="{FF2B5EF4-FFF2-40B4-BE49-F238E27FC236}">
                <a16:creationId xmlns:a16="http://schemas.microsoft.com/office/drawing/2014/main" id="{AE1B89FB-464E-E418-C0A3-948D5D24BC1A}"/>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2233D97E-12A2-B99D-AABD-CAB13656CBE3}"/>
              </a:ext>
            </a:extLst>
          </p:cNvPr>
          <p:cNvSpPr txBox="1"/>
          <p:nvPr/>
        </p:nvSpPr>
        <p:spPr>
          <a:xfrm>
            <a:off x="609441" y="1009412"/>
            <a:ext cx="3179075" cy="10802957"/>
          </a:xfrm>
          <a:prstGeom prst="rect">
            <a:avLst/>
          </a:prstGeom>
          <a:noFill/>
        </p:spPr>
        <p:txBody>
          <a:bodyPr wrap="none" rtlCol="0">
            <a:spAutoFit/>
          </a:bodyPr>
          <a:lstStyle/>
          <a:p>
            <a:r>
              <a:rPr lang="es-ES" sz="600" dirty="0" err="1"/>
              <a:t>gf.clear_cache</a:t>
            </a:r>
            <a:r>
              <a:rPr lang="es-ES" sz="600" dirty="0"/>
              <a:t>()</a:t>
            </a:r>
          </a:p>
          <a:p>
            <a:br>
              <a:rPr lang="es-ES" sz="600" dirty="0"/>
            </a:br>
            <a:endParaRPr lang="es-ES" sz="600" dirty="0"/>
          </a:p>
          <a:p>
            <a:r>
              <a:rPr lang="es-ES" sz="600" dirty="0"/>
              <a:t># =======================================================================</a:t>
            </a:r>
          </a:p>
          <a:p>
            <a:r>
              <a:rPr lang="es-ES" sz="600" dirty="0"/>
              <a:t># 1. CELDA DEL MMI 2x2 (Bloque base limpio)</a:t>
            </a:r>
          </a:p>
          <a:p>
            <a:r>
              <a:rPr lang="es-ES" sz="600" dirty="0"/>
              <a:t># =======================================================================</a:t>
            </a:r>
          </a:p>
          <a:p>
            <a:r>
              <a:rPr lang="es-ES" sz="600" dirty="0"/>
              <a:t>@gf.cell</a:t>
            </a:r>
          </a:p>
          <a:p>
            <a:r>
              <a:rPr lang="es-ES" sz="600" dirty="0" err="1"/>
              <a:t>def</a:t>
            </a:r>
            <a:r>
              <a:rPr lang="es-ES" sz="600" dirty="0"/>
              <a:t> mmi_2x2_base() -&gt; </a:t>
            </a:r>
            <a:r>
              <a:rPr lang="es-ES" sz="600" dirty="0" err="1"/>
              <a:t>gf.Component</a:t>
            </a:r>
            <a:r>
              <a:rPr lang="es-ES" sz="600" dirty="0"/>
              <a:t>:</a:t>
            </a:r>
          </a:p>
          <a:p>
            <a:r>
              <a:rPr lang="es-ES" sz="600" dirty="0"/>
              <a:t>    </a:t>
            </a:r>
            <a:r>
              <a:rPr lang="es-ES" sz="600" dirty="0" err="1"/>
              <a:t>mmi</a:t>
            </a:r>
            <a:r>
              <a:rPr lang="es-ES" sz="600" dirty="0"/>
              <a:t> = </a:t>
            </a:r>
            <a:r>
              <a:rPr lang="es-ES" sz="600" dirty="0" err="1"/>
              <a:t>gf.Component</a:t>
            </a:r>
            <a:r>
              <a:rPr lang="es-ES" sz="600" dirty="0"/>
              <a:t>("mmi_2x2_base")</a:t>
            </a:r>
          </a:p>
          <a:p>
            <a:r>
              <a:rPr lang="es-ES" sz="600" dirty="0"/>
              <a:t>    capa = </a:t>
            </a:r>
            <a:r>
              <a:rPr lang="es-ES" sz="600" dirty="0" err="1"/>
              <a:t>gf.components.straight</a:t>
            </a:r>
            <a:r>
              <a:rPr lang="es-ES" sz="600" dirty="0"/>
              <a:t>().</a:t>
            </a:r>
            <a:r>
              <a:rPr lang="es-ES" sz="600" dirty="0" err="1"/>
              <a:t>ports</a:t>
            </a:r>
            <a:r>
              <a:rPr lang="es-ES" sz="600" dirty="0"/>
              <a:t>["o1"].</a:t>
            </a:r>
            <a:r>
              <a:rPr lang="es-ES" sz="600" dirty="0" err="1"/>
              <a:t>layer</a:t>
            </a:r>
            <a:endParaRPr lang="es-ES" sz="600" dirty="0"/>
          </a:p>
          <a:p>
            <a:r>
              <a:rPr lang="es-ES" sz="600" dirty="0"/>
              <a:t>    </a:t>
            </a:r>
            <a:r>
              <a:rPr lang="es-ES" sz="600" dirty="0" err="1"/>
              <a:t>sec_acceso</a:t>
            </a:r>
            <a:r>
              <a:rPr lang="es-ES" sz="600" dirty="0"/>
              <a:t> = </a:t>
            </a:r>
            <a:r>
              <a:rPr lang="es-ES" sz="600" dirty="0" err="1"/>
              <a:t>gf.cross_section.cross_section</a:t>
            </a:r>
            <a:r>
              <a:rPr lang="es-ES" sz="600" dirty="0"/>
              <a:t>(</a:t>
            </a:r>
            <a:r>
              <a:rPr lang="es-ES" sz="600" dirty="0" err="1"/>
              <a:t>width</a:t>
            </a:r>
            <a:r>
              <a:rPr lang="es-ES" sz="600" dirty="0"/>
              <a:t>=1.2, </a:t>
            </a:r>
            <a:r>
              <a:rPr lang="es-ES" sz="600" dirty="0" err="1"/>
              <a:t>layer</a:t>
            </a:r>
            <a:r>
              <a:rPr lang="es-ES" sz="600" dirty="0"/>
              <a:t>=capa)</a:t>
            </a:r>
          </a:p>
          <a:p>
            <a:r>
              <a:rPr lang="es-ES" sz="600" dirty="0"/>
              <a:t>    </a:t>
            </a:r>
            <a:r>
              <a:rPr lang="es-ES" sz="600" dirty="0" err="1"/>
              <a:t>sec_body</a:t>
            </a:r>
            <a:r>
              <a:rPr lang="es-ES" sz="600" dirty="0"/>
              <a:t> = </a:t>
            </a:r>
            <a:r>
              <a:rPr lang="es-ES" sz="600" dirty="0" err="1"/>
              <a:t>gf.cross_section.cross_section</a:t>
            </a:r>
            <a:r>
              <a:rPr lang="es-ES" sz="600" dirty="0"/>
              <a:t>(</a:t>
            </a:r>
            <a:r>
              <a:rPr lang="es-ES" sz="600" dirty="0" err="1"/>
              <a:t>width</a:t>
            </a:r>
            <a:r>
              <a:rPr lang="es-ES" sz="600" dirty="0"/>
              <a:t>=6.6, </a:t>
            </a:r>
            <a:r>
              <a:rPr lang="es-ES" sz="600" dirty="0" err="1"/>
              <a:t>layer</a:t>
            </a:r>
            <a:r>
              <a:rPr lang="es-ES" sz="600" dirty="0"/>
              <a:t>=capa)</a:t>
            </a:r>
          </a:p>
          <a:p>
            <a:r>
              <a:rPr lang="es-ES" sz="600" dirty="0"/>
              <a:t>    </a:t>
            </a:r>
          </a:p>
          <a:p>
            <a:r>
              <a:rPr lang="es-ES" sz="600" dirty="0"/>
              <a:t>    # Cuerpo del MMI</a:t>
            </a:r>
          </a:p>
          <a:p>
            <a:r>
              <a:rPr lang="es-ES" sz="600" dirty="0"/>
              <a:t>    </a:t>
            </a:r>
            <a:r>
              <a:rPr lang="es-ES" sz="600" dirty="0" err="1"/>
              <a:t>longitud_mmi</a:t>
            </a:r>
            <a:r>
              <a:rPr lang="es-ES" sz="600" dirty="0"/>
              <a:t> = 69.03598607255596 / 2 </a:t>
            </a:r>
          </a:p>
          <a:p>
            <a:r>
              <a:rPr lang="es-ES" sz="600" dirty="0"/>
              <a:t>    </a:t>
            </a:r>
            <a:r>
              <a:rPr lang="es-ES" sz="600" dirty="0" err="1"/>
              <a:t>body</a:t>
            </a:r>
            <a:r>
              <a:rPr lang="es-ES" sz="600" dirty="0"/>
              <a:t> = </a:t>
            </a:r>
            <a:r>
              <a:rPr lang="es-ES" sz="600" dirty="0" err="1"/>
              <a:t>mmi.add_ref</a:t>
            </a:r>
            <a:r>
              <a:rPr lang="es-ES" sz="600" dirty="0"/>
              <a:t>(</a:t>
            </a:r>
            <a:r>
              <a:rPr lang="es-ES" sz="600" dirty="0" err="1"/>
              <a:t>gf.components.straight</a:t>
            </a:r>
            <a:r>
              <a:rPr lang="es-ES" sz="600" dirty="0"/>
              <a:t>(</a:t>
            </a:r>
            <a:r>
              <a:rPr lang="es-ES" sz="600" dirty="0" err="1"/>
              <a:t>length</a:t>
            </a:r>
            <a:r>
              <a:rPr lang="es-ES" sz="600" dirty="0"/>
              <a:t>=</a:t>
            </a:r>
            <a:r>
              <a:rPr lang="es-ES" sz="600" dirty="0" err="1"/>
              <a:t>longitud_mmi</a:t>
            </a:r>
            <a:r>
              <a:rPr lang="es-ES" sz="600" dirty="0"/>
              <a:t>, </a:t>
            </a:r>
            <a:r>
              <a:rPr lang="es-ES" sz="600" dirty="0" err="1"/>
              <a:t>cross_section</a:t>
            </a:r>
            <a:r>
              <a:rPr lang="es-ES" sz="600" dirty="0"/>
              <a:t>=</a:t>
            </a:r>
            <a:r>
              <a:rPr lang="es-ES" sz="600" dirty="0" err="1"/>
              <a:t>sec_body</a:t>
            </a:r>
            <a:r>
              <a:rPr lang="es-ES" sz="600" dirty="0"/>
              <a:t>))</a:t>
            </a:r>
          </a:p>
          <a:p>
            <a:r>
              <a:rPr lang="es-ES" sz="600" dirty="0"/>
              <a:t>    </a:t>
            </a:r>
          </a:p>
          <a:p>
            <a:r>
              <a:rPr lang="es-ES" sz="600" dirty="0"/>
              <a:t>    # Accesos rectos (1/6 y -1/6)</a:t>
            </a:r>
          </a:p>
          <a:p>
            <a:r>
              <a:rPr lang="es-ES" sz="600" dirty="0"/>
              <a:t>    </a:t>
            </a:r>
            <a:r>
              <a:rPr lang="es-ES" sz="600" dirty="0" err="1"/>
              <a:t>pos_y</a:t>
            </a:r>
            <a:r>
              <a:rPr lang="es-ES" sz="600" dirty="0"/>
              <a:t> = 6.6 / 6.0  </a:t>
            </a:r>
          </a:p>
          <a:p>
            <a:r>
              <a:rPr lang="es-ES" sz="600" dirty="0"/>
              <a:t>    </a:t>
            </a:r>
            <a:r>
              <a:rPr lang="es-ES" sz="600" dirty="0" err="1"/>
              <a:t>l_acc</a:t>
            </a:r>
            <a:r>
              <a:rPr lang="es-ES" sz="600" dirty="0"/>
              <a:t> = 5.0</a:t>
            </a:r>
          </a:p>
          <a:p>
            <a:r>
              <a:rPr lang="es-ES" sz="600" dirty="0"/>
              <a:t>    </a:t>
            </a:r>
            <a:r>
              <a:rPr lang="es-ES" sz="600" dirty="0" err="1"/>
              <a:t>guia_r</a:t>
            </a:r>
            <a:r>
              <a:rPr lang="es-ES" sz="600" dirty="0"/>
              <a:t> = </a:t>
            </a:r>
            <a:r>
              <a:rPr lang="es-ES" sz="600" dirty="0" err="1"/>
              <a:t>gf.components.straight</a:t>
            </a:r>
            <a:r>
              <a:rPr lang="es-ES" sz="600" dirty="0"/>
              <a:t>(</a:t>
            </a:r>
            <a:r>
              <a:rPr lang="es-ES" sz="600" dirty="0" err="1"/>
              <a:t>length</a:t>
            </a:r>
            <a:r>
              <a:rPr lang="es-ES" sz="600" dirty="0"/>
              <a:t>=</a:t>
            </a:r>
            <a:r>
              <a:rPr lang="es-ES" sz="600" dirty="0" err="1"/>
              <a:t>l_acc</a:t>
            </a:r>
            <a:r>
              <a:rPr lang="es-ES" sz="600" dirty="0"/>
              <a:t>, </a:t>
            </a:r>
            <a:r>
              <a:rPr lang="es-ES" sz="600" dirty="0" err="1"/>
              <a:t>cross_section</a:t>
            </a:r>
            <a:r>
              <a:rPr lang="es-ES" sz="600" dirty="0"/>
              <a:t>=</a:t>
            </a:r>
            <a:r>
              <a:rPr lang="es-ES" sz="600" dirty="0" err="1"/>
              <a:t>sec_acceso</a:t>
            </a:r>
            <a:r>
              <a:rPr lang="es-ES" sz="600" dirty="0"/>
              <a:t>)</a:t>
            </a:r>
          </a:p>
          <a:p>
            <a:r>
              <a:rPr lang="es-ES" sz="600" dirty="0"/>
              <a:t>    </a:t>
            </a:r>
            <a:r>
              <a:rPr lang="es-ES" sz="600" dirty="0" err="1"/>
              <a:t>it</a:t>
            </a:r>
            <a:r>
              <a:rPr lang="es-ES" sz="600" dirty="0"/>
              <a:t> = </a:t>
            </a:r>
            <a:r>
              <a:rPr lang="es-ES" sz="600" dirty="0" err="1"/>
              <a:t>mmi.add_ref</a:t>
            </a:r>
            <a:r>
              <a:rPr lang="es-ES" sz="600" dirty="0"/>
              <a:t>(</a:t>
            </a:r>
            <a:r>
              <a:rPr lang="es-ES" sz="600" dirty="0" err="1"/>
              <a:t>guia_r</a:t>
            </a:r>
            <a:r>
              <a:rPr lang="es-ES" sz="600" dirty="0"/>
              <a:t>).</a:t>
            </a:r>
            <a:r>
              <a:rPr lang="es-ES" sz="600" dirty="0" err="1"/>
              <a:t>movex</a:t>
            </a:r>
            <a:r>
              <a:rPr lang="es-ES" sz="600" dirty="0"/>
              <a:t>(-</a:t>
            </a:r>
            <a:r>
              <a:rPr lang="es-ES" sz="600" dirty="0" err="1"/>
              <a:t>l_acc</a:t>
            </a:r>
            <a:r>
              <a:rPr lang="es-ES" sz="600" dirty="0"/>
              <a:t>).</a:t>
            </a:r>
            <a:r>
              <a:rPr lang="es-ES" sz="600" dirty="0" err="1"/>
              <a:t>movey</a:t>
            </a:r>
            <a:r>
              <a:rPr lang="es-ES" sz="600" dirty="0"/>
              <a:t>(</a:t>
            </a:r>
            <a:r>
              <a:rPr lang="es-ES" sz="600" dirty="0" err="1"/>
              <a:t>pos_y</a:t>
            </a:r>
            <a:r>
              <a:rPr lang="es-ES" sz="600" dirty="0"/>
              <a:t>)</a:t>
            </a:r>
          </a:p>
          <a:p>
            <a:r>
              <a:rPr lang="es-ES" sz="600" dirty="0"/>
              <a:t>    </a:t>
            </a:r>
            <a:r>
              <a:rPr lang="es-ES" sz="600" dirty="0" err="1"/>
              <a:t>ib</a:t>
            </a:r>
            <a:r>
              <a:rPr lang="es-ES" sz="600" dirty="0"/>
              <a:t> = </a:t>
            </a:r>
            <a:r>
              <a:rPr lang="es-ES" sz="600" dirty="0" err="1"/>
              <a:t>mmi.add_ref</a:t>
            </a:r>
            <a:r>
              <a:rPr lang="es-ES" sz="600" dirty="0"/>
              <a:t>(</a:t>
            </a:r>
            <a:r>
              <a:rPr lang="es-ES" sz="600" dirty="0" err="1"/>
              <a:t>guia_r</a:t>
            </a:r>
            <a:r>
              <a:rPr lang="es-ES" sz="600" dirty="0"/>
              <a:t>).</a:t>
            </a:r>
            <a:r>
              <a:rPr lang="es-ES" sz="600" dirty="0" err="1"/>
              <a:t>movex</a:t>
            </a:r>
            <a:r>
              <a:rPr lang="es-ES" sz="600" dirty="0"/>
              <a:t>(-</a:t>
            </a:r>
            <a:r>
              <a:rPr lang="es-ES" sz="600" dirty="0" err="1"/>
              <a:t>l_acc</a:t>
            </a:r>
            <a:r>
              <a:rPr lang="es-ES" sz="600" dirty="0"/>
              <a:t>).</a:t>
            </a:r>
            <a:r>
              <a:rPr lang="es-ES" sz="600" dirty="0" err="1"/>
              <a:t>movey</a:t>
            </a:r>
            <a:r>
              <a:rPr lang="es-ES" sz="600" dirty="0"/>
              <a:t>(-</a:t>
            </a:r>
            <a:r>
              <a:rPr lang="es-ES" sz="600" dirty="0" err="1"/>
              <a:t>pos_y</a:t>
            </a:r>
            <a:r>
              <a:rPr lang="es-ES" sz="600" dirty="0"/>
              <a:t>)</a:t>
            </a:r>
          </a:p>
          <a:p>
            <a:r>
              <a:rPr lang="es-ES" sz="600" dirty="0"/>
              <a:t>    </a:t>
            </a:r>
            <a:r>
              <a:rPr lang="es-ES" sz="600" dirty="0" err="1"/>
              <a:t>ot</a:t>
            </a:r>
            <a:r>
              <a:rPr lang="es-ES" sz="600" dirty="0"/>
              <a:t> = </a:t>
            </a:r>
            <a:r>
              <a:rPr lang="es-ES" sz="600" dirty="0" err="1"/>
              <a:t>mmi.add_ref</a:t>
            </a:r>
            <a:r>
              <a:rPr lang="es-ES" sz="600" dirty="0"/>
              <a:t>(</a:t>
            </a:r>
            <a:r>
              <a:rPr lang="es-ES" sz="600" dirty="0" err="1"/>
              <a:t>guia_r</a:t>
            </a:r>
            <a:r>
              <a:rPr lang="es-ES" sz="600" dirty="0"/>
              <a:t>).</a:t>
            </a:r>
            <a:r>
              <a:rPr lang="es-ES" sz="600" dirty="0" err="1"/>
              <a:t>movex</a:t>
            </a:r>
            <a:r>
              <a:rPr lang="es-ES" sz="600" dirty="0"/>
              <a:t>(</a:t>
            </a:r>
            <a:r>
              <a:rPr lang="es-ES" sz="600" dirty="0" err="1"/>
              <a:t>longitud_mmi</a:t>
            </a:r>
            <a:r>
              <a:rPr lang="es-ES" sz="600" dirty="0"/>
              <a:t>).</a:t>
            </a:r>
            <a:r>
              <a:rPr lang="es-ES" sz="600" dirty="0" err="1"/>
              <a:t>movey</a:t>
            </a:r>
            <a:r>
              <a:rPr lang="es-ES" sz="600" dirty="0"/>
              <a:t>(</a:t>
            </a:r>
            <a:r>
              <a:rPr lang="es-ES" sz="600" dirty="0" err="1"/>
              <a:t>pos_y</a:t>
            </a:r>
            <a:r>
              <a:rPr lang="es-ES" sz="600" dirty="0"/>
              <a:t>)</a:t>
            </a:r>
          </a:p>
          <a:p>
            <a:r>
              <a:rPr lang="es-ES" sz="600" dirty="0"/>
              <a:t>    </a:t>
            </a:r>
            <a:r>
              <a:rPr lang="es-ES" sz="600" dirty="0" err="1"/>
              <a:t>ob</a:t>
            </a:r>
            <a:r>
              <a:rPr lang="es-ES" sz="600" dirty="0"/>
              <a:t> = </a:t>
            </a:r>
            <a:r>
              <a:rPr lang="es-ES" sz="600" dirty="0" err="1"/>
              <a:t>mmi.add_ref</a:t>
            </a:r>
            <a:r>
              <a:rPr lang="es-ES" sz="600" dirty="0"/>
              <a:t>(</a:t>
            </a:r>
            <a:r>
              <a:rPr lang="es-ES" sz="600" dirty="0" err="1"/>
              <a:t>guia_r</a:t>
            </a:r>
            <a:r>
              <a:rPr lang="es-ES" sz="600" dirty="0"/>
              <a:t>).</a:t>
            </a:r>
            <a:r>
              <a:rPr lang="es-ES" sz="600" dirty="0" err="1"/>
              <a:t>movex</a:t>
            </a:r>
            <a:r>
              <a:rPr lang="es-ES" sz="600" dirty="0"/>
              <a:t>(</a:t>
            </a:r>
            <a:r>
              <a:rPr lang="es-ES" sz="600" dirty="0" err="1"/>
              <a:t>longitud_mmi</a:t>
            </a:r>
            <a:r>
              <a:rPr lang="es-ES" sz="600" dirty="0"/>
              <a:t>).</a:t>
            </a:r>
            <a:r>
              <a:rPr lang="es-ES" sz="600" dirty="0" err="1"/>
              <a:t>movey</a:t>
            </a:r>
            <a:r>
              <a:rPr lang="es-ES" sz="600" dirty="0"/>
              <a:t>(-</a:t>
            </a:r>
            <a:r>
              <a:rPr lang="es-ES" sz="600" dirty="0" err="1"/>
              <a:t>pos_y</a:t>
            </a:r>
            <a:r>
              <a:rPr lang="es-ES" sz="600" dirty="0"/>
              <a:t>)</a:t>
            </a:r>
          </a:p>
          <a:p>
            <a:r>
              <a:rPr lang="es-ES" sz="600" dirty="0"/>
              <a:t>    </a:t>
            </a:r>
            <a:r>
              <a:rPr lang="es-ES" sz="600" dirty="0" err="1"/>
              <a:t>mmi.add_port</a:t>
            </a:r>
            <a:r>
              <a:rPr lang="es-ES" sz="600" dirty="0"/>
              <a:t>("</a:t>
            </a:r>
            <a:r>
              <a:rPr lang="es-ES" sz="600" dirty="0" err="1"/>
              <a:t>in_top</a:t>
            </a:r>
            <a:r>
              <a:rPr lang="es-ES" sz="600" dirty="0"/>
              <a:t>", </a:t>
            </a:r>
            <a:r>
              <a:rPr lang="es-ES" sz="600" dirty="0" err="1"/>
              <a:t>port</a:t>
            </a:r>
            <a:r>
              <a:rPr lang="es-ES" sz="600" dirty="0"/>
              <a:t>=</a:t>
            </a:r>
            <a:r>
              <a:rPr lang="es-ES" sz="600" dirty="0" err="1"/>
              <a:t>it.ports</a:t>
            </a:r>
            <a:r>
              <a:rPr lang="es-ES" sz="600" dirty="0"/>
              <a:t>["o1"])</a:t>
            </a:r>
          </a:p>
          <a:p>
            <a:r>
              <a:rPr lang="es-ES" sz="600" dirty="0"/>
              <a:t>    </a:t>
            </a:r>
            <a:r>
              <a:rPr lang="es-ES" sz="600" dirty="0" err="1"/>
              <a:t>mmi.add_port</a:t>
            </a:r>
            <a:r>
              <a:rPr lang="es-ES" sz="600" dirty="0"/>
              <a:t>("</a:t>
            </a:r>
            <a:r>
              <a:rPr lang="es-ES" sz="600" dirty="0" err="1"/>
              <a:t>in_bot</a:t>
            </a:r>
            <a:r>
              <a:rPr lang="es-ES" sz="600" dirty="0"/>
              <a:t>", </a:t>
            </a:r>
            <a:r>
              <a:rPr lang="es-ES" sz="600" dirty="0" err="1"/>
              <a:t>port</a:t>
            </a:r>
            <a:r>
              <a:rPr lang="es-ES" sz="600" dirty="0"/>
              <a:t>=</a:t>
            </a:r>
            <a:r>
              <a:rPr lang="es-ES" sz="600" dirty="0" err="1"/>
              <a:t>ib.ports</a:t>
            </a:r>
            <a:r>
              <a:rPr lang="es-ES" sz="600" dirty="0"/>
              <a:t>["o1"])</a:t>
            </a:r>
          </a:p>
          <a:p>
            <a:r>
              <a:rPr lang="es-ES" sz="600" dirty="0"/>
              <a:t>    </a:t>
            </a:r>
            <a:r>
              <a:rPr lang="es-ES" sz="600" dirty="0" err="1"/>
              <a:t>mmi.add_port</a:t>
            </a:r>
            <a:r>
              <a:rPr lang="es-ES" sz="600" dirty="0"/>
              <a:t>("</a:t>
            </a:r>
            <a:r>
              <a:rPr lang="es-ES" sz="600" dirty="0" err="1"/>
              <a:t>out_top</a:t>
            </a:r>
            <a:r>
              <a:rPr lang="es-ES" sz="600" dirty="0"/>
              <a:t>", </a:t>
            </a:r>
            <a:r>
              <a:rPr lang="es-ES" sz="600" dirty="0" err="1"/>
              <a:t>port</a:t>
            </a:r>
            <a:r>
              <a:rPr lang="es-ES" sz="600" dirty="0"/>
              <a:t>=</a:t>
            </a:r>
            <a:r>
              <a:rPr lang="es-ES" sz="600" dirty="0" err="1"/>
              <a:t>ot.ports</a:t>
            </a:r>
            <a:r>
              <a:rPr lang="es-ES" sz="600" dirty="0"/>
              <a:t>["o2"])</a:t>
            </a:r>
          </a:p>
          <a:p>
            <a:r>
              <a:rPr lang="es-ES" sz="600" dirty="0"/>
              <a:t>    </a:t>
            </a:r>
            <a:r>
              <a:rPr lang="es-ES" sz="600" dirty="0" err="1"/>
              <a:t>mmi.add_port</a:t>
            </a:r>
            <a:r>
              <a:rPr lang="es-ES" sz="600" dirty="0"/>
              <a:t>("</a:t>
            </a:r>
            <a:r>
              <a:rPr lang="es-ES" sz="600" dirty="0" err="1"/>
              <a:t>out_bot</a:t>
            </a:r>
            <a:r>
              <a:rPr lang="es-ES" sz="600" dirty="0"/>
              <a:t>", </a:t>
            </a:r>
            <a:r>
              <a:rPr lang="es-ES" sz="600" dirty="0" err="1"/>
              <a:t>port</a:t>
            </a:r>
            <a:r>
              <a:rPr lang="es-ES" sz="600" dirty="0"/>
              <a:t>=</a:t>
            </a:r>
            <a:r>
              <a:rPr lang="es-ES" sz="600" dirty="0" err="1"/>
              <a:t>ob.ports</a:t>
            </a:r>
            <a:r>
              <a:rPr lang="es-ES" sz="600" dirty="0"/>
              <a:t>["o2"])</a:t>
            </a:r>
          </a:p>
          <a:p>
            <a:r>
              <a:rPr lang="es-ES" sz="600" dirty="0"/>
              <a:t>    </a:t>
            </a:r>
            <a:r>
              <a:rPr lang="es-ES" sz="600" dirty="0" err="1"/>
              <a:t>return</a:t>
            </a:r>
            <a:r>
              <a:rPr lang="es-ES" sz="600" dirty="0"/>
              <a:t> </a:t>
            </a:r>
            <a:r>
              <a:rPr lang="es-ES" sz="600" dirty="0" err="1"/>
              <a:t>mmi</a:t>
            </a:r>
            <a:endParaRPr lang="es-ES" sz="600" dirty="0"/>
          </a:p>
          <a:p>
            <a:r>
              <a:rPr lang="es-ES" sz="600" dirty="0"/>
              <a:t># =======================================================================</a:t>
            </a:r>
          </a:p>
          <a:p>
            <a:r>
              <a:rPr lang="es-ES" sz="600" dirty="0"/>
              <a:t># 2. CONSTRUCCIÓN DEL MZI (Topografía image_e153d4)</a:t>
            </a:r>
          </a:p>
          <a:p>
            <a:r>
              <a:rPr lang="es-ES" sz="600" dirty="0"/>
              <a:t># =======================================================================</a:t>
            </a:r>
          </a:p>
          <a:p>
            <a:r>
              <a:rPr lang="es-ES" sz="600" dirty="0" err="1"/>
              <a:t>mzi</a:t>
            </a:r>
            <a:r>
              <a:rPr lang="es-ES" sz="600" dirty="0"/>
              <a:t> = </a:t>
            </a:r>
            <a:r>
              <a:rPr lang="es-ES" sz="600" dirty="0" err="1"/>
              <a:t>gf.Component</a:t>
            </a:r>
            <a:r>
              <a:rPr lang="es-ES" sz="600" dirty="0"/>
              <a:t>("MZI_DeltaL_100")</a:t>
            </a:r>
          </a:p>
          <a:p>
            <a:br>
              <a:rPr lang="es-ES" sz="600" dirty="0"/>
            </a:br>
            <a:endParaRPr lang="es-ES" sz="600" dirty="0"/>
          </a:p>
          <a:p>
            <a:r>
              <a:rPr lang="es-ES" sz="600" dirty="0" err="1"/>
              <a:t>capa_base</a:t>
            </a:r>
            <a:r>
              <a:rPr lang="es-ES" sz="600" dirty="0"/>
              <a:t> = </a:t>
            </a:r>
            <a:r>
              <a:rPr lang="es-ES" sz="600" dirty="0" err="1"/>
              <a:t>gf.components.straight</a:t>
            </a:r>
            <a:r>
              <a:rPr lang="es-ES" sz="600" dirty="0"/>
              <a:t>().</a:t>
            </a:r>
            <a:r>
              <a:rPr lang="es-ES" sz="600" dirty="0" err="1"/>
              <a:t>ports</a:t>
            </a:r>
            <a:r>
              <a:rPr lang="es-ES" sz="600" dirty="0"/>
              <a:t>["o1"].</a:t>
            </a:r>
            <a:r>
              <a:rPr lang="es-ES" sz="600" dirty="0" err="1"/>
              <a:t>layer</a:t>
            </a:r>
            <a:endParaRPr lang="es-ES" sz="600" dirty="0"/>
          </a:p>
          <a:p>
            <a:r>
              <a:rPr lang="es-ES" sz="600" dirty="0" err="1"/>
              <a:t>width_wg</a:t>
            </a:r>
            <a:r>
              <a:rPr lang="es-ES" sz="600" dirty="0"/>
              <a:t> = 1.2</a:t>
            </a:r>
          </a:p>
          <a:p>
            <a:r>
              <a:rPr lang="es-ES" sz="600" dirty="0" err="1"/>
              <a:t>seccion_acceso</a:t>
            </a:r>
            <a:r>
              <a:rPr lang="es-ES" sz="600" dirty="0"/>
              <a:t> = </a:t>
            </a:r>
            <a:r>
              <a:rPr lang="es-ES" sz="600" dirty="0" err="1"/>
              <a:t>gf.cross_section.cross_section</a:t>
            </a:r>
            <a:r>
              <a:rPr lang="es-ES" sz="600" dirty="0"/>
              <a:t>(</a:t>
            </a:r>
            <a:r>
              <a:rPr lang="es-ES" sz="600" dirty="0" err="1"/>
              <a:t>width</a:t>
            </a:r>
            <a:r>
              <a:rPr lang="es-ES" sz="600" dirty="0"/>
              <a:t>=</a:t>
            </a:r>
            <a:r>
              <a:rPr lang="es-ES" sz="600" dirty="0" err="1"/>
              <a:t>width_wg</a:t>
            </a:r>
            <a:r>
              <a:rPr lang="es-ES" sz="600" dirty="0"/>
              <a:t>, </a:t>
            </a:r>
            <a:r>
              <a:rPr lang="es-ES" sz="600" dirty="0" err="1"/>
              <a:t>layer</a:t>
            </a:r>
            <a:r>
              <a:rPr lang="es-ES" sz="600" dirty="0"/>
              <a:t>=</a:t>
            </a:r>
            <a:r>
              <a:rPr lang="es-ES" sz="600" dirty="0" err="1"/>
              <a:t>capa_base</a:t>
            </a:r>
            <a:r>
              <a:rPr lang="es-ES" sz="600" dirty="0"/>
              <a:t>)</a:t>
            </a:r>
          </a:p>
          <a:p>
            <a:r>
              <a:rPr lang="es-ES" sz="600" dirty="0" err="1"/>
              <a:t>layer_heater</a:t>
            </a:r>
            <a:r>
              <a:rPr lang="es-ES" sz="600" dirty="0"/>
              <a:t> = "HEATER"</a:t>
            </a:r>
          </a:p>
          <a:p>
            <a:br>
              <a:rPr lang="es-ES" sz="600" dirty="0"/>
            </a:br>
            <a:endParaRPr lang="es-ES" sz="600" dirty="0"/>
          </a:p>
          <a:p>
            <a:r>
              <a:rPr lang="es-ES" sz="600" dirty="0"/>
              <a:t># Instanciamos Splitter y </a:t>
            </a:r>
            <a:r>
              <a:rPr lang="es-ES" sz="600" dirty="0" err="1"/>
              <a:t>Combiner</a:t>
            </a:r>
            <a:r>
              <a:rPr lang="es-ES" sz="600" dirty="0"/>
              <a:t> usando nuestro bloque MMI</a:t>
            </a:r>
          </a:p>
          <a:p>
            <a:r>
              <a:rPr lang="es-ES" sz="600" dirty="0" err="1"/>
              <a:t>splitter</a:t>
            </a:r>
            <a:r>
              <a:rPr lang="es-ES" sz="600" dirty="0"/>
              <a:t> = </a:t>
            </a:r>
            <a:r>
              <a:rPr lang="es-ES" sz="600" dirty="0" err="1"/>
              <a:t>mzi.add_ref</a:t>
            </a:r>
            <a:r>
              <a:rPr lang="es-ES" sz="600" dirty="0"/>
              <a:t>(mmi_2x2_base())</a:t>
            </a:r>
          </a:p>
          <a:p>
            <a:r>
              <a:rPr lang="es-ES" sz="600" dirty="0" err="1"/>
              <a:t>combiner</a:t>
            </a:r>
            <a:r>
              <a:rPr lang="es-ES" sz="600" dirty="0"/>
              <a:t> = </a:t>
            </a:r>
            <a:r>
              <a:rPr lang="es-ES" sz="600" dirty="0" err="1"/>
              <a:t>mzi.add_ref</a:t>
            </a:r>
            <a:r>
              <a:rPr lang="es-ES" sz="600" dirty="0"/>
              <a:t>(mmi_2x2_base())</a:t>
            </a:r>
          </a:p>
          <a:p>
            <a:br>
              <a:rPr lang="es-ES" sz="600" dirty="0"/>
            </a:br>
            <a:endParaRPr lang="es-ES" sz="600" dirty="0"/>
          </a:p>
          <a:p>
            <a:r>
              <a:rPr lang="es-ES" sz="600" dirty="0"/>
              <a:t># Parámetros del interferómetro y de los moduladores térmicos</a:t>
            </a:r>
          </a:p>
          <a:p>
            <a:r>
              <a:rPr lang="es-ES" sz="600" dirty="0" err="1"/>
              <a:t>delta_l</a:t>
            </a:r>
            <a:r>
              <a:rPr lang="es-ES" sz="600" dirty="0"/>
              <a:t> = 100.0            # Desequilibrio total deseado (</a:t>
            </a:r>
            <a:r>
              <a:rPr lang="es-ES" sz="600" dirty="0" err="1"/>
              <a:t>um</a:t>
            </a:r>
            <a:r>
              <a:rPr lang="es-ES" sz="600" dirty="0"/>
              <a:t>)</a:t>
            </a:r>
          </a:p>
          <a:p>
            <a:r>
              <a:rPr lang="es-ES" sz="600" dirty="0" err="1"/>
              <a:t>radius</a:t>
            </a:r>
            <a:r>
              <a:rPr lang="es-ES" sz="600" dirty="0"/>
              <a:t> = 10.0              # Radio de curvatura (</a:t>
            </a:r>
            <a:r>
              <a:rPr lang="es-ES" sz="600" dirty="0" err="1"/>
              <a:t>um</a:t>
            </a:r>
            <a:r>
              <a:rPr lang="es-ES" sz="600" dirty="0"/>
              <a:t>)</a:t>
            </a:r>
          </a:p>
          <a:p>
            <a:r>
              <a:rPr lang="es-ES" sz="600" dirty="0" err="1"/>
              <a:t>L_h</a:t>
            </a:r>
            <a:r>
              <a:rPr lang="es-ES" sz="600" dirty="0"/>
              <a:t> = 40.0                 # Longitud de la zona recta activa horizontal (</a:t>
            </a:r>
            <a:r>
              <a:rPr lang="es-ES" sz="600" dirty="0" err="1"/>
              <a:t>um</a:t>
            </a:r>
            <a:r>
              <a:rPr lang="es-ES" sz="600" dirty="0"/>
              <a:t>)</a:t>
            </a:r>
          </a:p>
          <a:p>
            <a:r>
              <a:rPr lang="es-ES" sz="600" dirty="0" err="1"/>
              <a:t>ancho_tuner</a:t>
            </a:r>
            <a:r>
              <a:rPr lang="es-ES" sz="600" dirty="0"/>
              <a:t> = 2.0          # Ancho de las pistas de metal (</a:t>
            </a:r>
            <a:r>
              <a:rPr lang="es-ES" sz="600" dirty="0" err="1"/>
              <a:t>um</a:t>
            </a:r>
            <a:r>
              <a:rPr lang="es-ES" sz="600" dirty="0"/>
              <a:t>)</a:t>
            </a:r>
          </a:p>
          <a:p>
            <a:r>
              <a:rPr lang="es-ES" sz="600" dirty="0" err="1"/>
              <a:t>gap_tuner</a:t>
            </a:r>
            <a:r>
              <a:rPr lang="es-ES" sz="600" dirty="0"/>
              <a:t> = 1.5            # Espacio de aislamiento para que el metal no toque la guía (</a:t>
            </a:r>
            <a:r>
              <a:rPr lang="es-ES" sz="600" dirty="0" err="1"/>
              <a:t>um</a:t>
            </a:r>
            <a:r>
              <a:rPr lang="es-ES" sz="600" dirty="0"/>
              <a:t>)</a:t>
            </a:r>
          </a:p>
          <a:p>
            <a:br>
              <a:rPr lang="es-ES" sz="600" dirty="0"/>
            </a:br>
            <a:endParaRPr lang="es-ES" sz="600" dirty="0"/>
          </a:p>
          <a:p>
            <a:r>
              <a:rPr lang="es-ES" sz="600" dirty="0"/>
              <a:t># Moldes geométricos base</a:t>
            </a:r>
          </a:p>
          <a:p>
            <a:r>
              <a:rPr lang="es-ES" sz="600" dirty="0"/>
              <a:t>b90 = </a:t>
            </a:r>
            <a:r>
              <a:rPr lang="es-ES" sz="600" dirty="0" err="1"/>
              <a:t>gf.components.bend_circular</a:t>
            </a:r>
            <a:r>
              <a:rPr lang="es-ES" sz="600" dirty="0"/>
              <a:t>(</a:t>
            </a:r>
            <a:r>
              <a:rPr lang="es-ES" sz="600" dirty="0" err="1"/>
              <a:t>radius</a:t>
            </a:r>
            <a:r>
              <a:rPr lang="es-ES" sz="600" dirty="0"/>
              <a:t>=</a:t>
            </a:r>
            <a:r>
              <a:rPr lang="es-ES" sz="600" dirty="0" err="1"/>
              <a:t>radius</a:t>
            </a:r>
            <a:r>
              <a:rPr lang="es-ES" sz="600" dirty="0"/>
              <a:t>, </a:t>
            </a:r>
            <a:r>
              <a:rPr lang="es-ES" sz="600" dirty="0" err="1"/>
              <a:t>cross_section</a:t>
            </a:r>
            <a:r>
              <a:rPr lang="es-ES" sz="600" dirty="0"/>
              <a:t>=</a:t>
            </a:r>
            <a:r>
              <a:rPr lang="es-ES" sz="600" dirty="0" err="1"/>
              <a:t>seccion_acceso</a:t>
            </a:r>
            <a:r>
              <a:rPr lang="es-ES" sz="600" dirty="0"/>
              <a:t>)</a:t>
            </a:r>
          </a:p>
          <a:p>
            <a:r>
              <a:rPr lang="es-ES" sz="600" dirty="0" err="1"/>
              <a:t>guia_horizontal</a:t>
            </a:r>
            <a:r>
              <a:rPr lang="es-ES" sz="600" dirty="0"/>
              <a:t> = </a:t>
            </a:r>
            <a:r>
              <a:rPr lang="es-ES" sz="600" dirty="0" err="1"/>
              <a:t>gf.components.straight</a:t>
            </a:r>
            <a:r>
              <a:rPr lang="es-ES" sz="600" dirty="0"/>
              <a:t>(</a:t>
            </a:r>
            <a:r>
              <a:rPr lang="es-ES" sz="600" dirty="0" err="1"/>
              <a:t>length</a:t>
            </a:r>
            <a:r>
              <a:rPr lang="es-ES" sz="600" dirty="0"/>
              <a:t>=</a:t>
            </a:r>
            <a:r>
              <a:rPr lang="es-ES" sz="600" dirty="0" err="1"/>
              <a:t>L_h</a:t>
            </a:r>
            <a:r>
              <a:rPr lang="es-ES" sz="600" dirty="0"/>
              <a:t>, </a:t>
            </a:r>
            <a:r>
              <a:rPr lang="es-ES" sz="600" dirty="0" err="1"/>
              <a:t>cross_section</a:t>
            </a:r>
            <a:r>
              <a:rPr lang="es-ES" sz="600" dirty="0"/>
              <a:t>=</a:t>
            </a:r>
            <a:r>
              <a:rPr lang="es-ES" sz="600" dirty="0" err="1"/>
              <a:t>seccion_acceso</a:t>
            </a:r>
            <a:r>
              <a:rPr lang="es-ES" sz="600" dirty="0"/>
              <a:t>)</a:t>
            </a:r>
          </a:p>
          <a:p>
            <a:r>
              <a:rPr lang="es-ES" sz="600" dirty="0" err="1"/>
              <a:t>guia_vertical_dL</a:t>
            </a:r>
            <a:r>
              <a:rPr lang="es-ES" sz="600" dirty="0"/>
              <a:t> = </a:t>
            </a:r>
            <a:r>
              <a:rPr lang="es-ES" sz="600" dirty="0" err="1"/>
              <a:t>gf.components.straight</a:t>
            </a:r>
            <a:r>
              <a:rPr lang="es-ES" sz="600" dirty="0"/>
              <a:t>(</a:t>
            </a:r>
            <a:r>
              <a:rPr lang="es-ES" sz="600" dirty="0" err="1"/>
              <a:t>length</a:t>
            </a:r>
            <a:r>
              <a:rPr lang="es-ES" sz="600" dirty="0"/>
              <a:t>=</a:t>
            </a:r>
            <a:r>
              <a:rPr lang="es-ES" sz="600" dirty="0" err="1"/>
              <a:t>delta_l</a:t>
            </a:r>
            <a:r>
              <a:rPr lang="es-ES" sz="600" dirty="0"/>
              <a:t> / 2.0, </a:t>
            </a:r>
            <a:r>
              <a:rPr lang="es-ES" sz="600" dirty="0" err="1"/>
              <a:t>cross_section</a:t>
            </a:r>
            <a:r>
              <a:rPr lang="es-ES" sz="600" dirty="0"/>
              <a:t>=</a:t>
            </a:r>
            <a:r>
              <a:rPr lang="es-ES" sz="600" dirty="0" err="1"/>
              <a:t>seccion_acceso</a:t>
            </a:r>
            <a:r>
              <a:rPr lang="es-ES" sz="600" dirty="0"/>
              <a:t>)</a:t>
            </a:r>
          </a:p>
          <a:p>
            <a:br>
              <a:rPr lang="es-ES" sz="600" dirty="0"/>
            </a:br>
            <a:br>
              <a:rPr lang="es-ES" sz="600" dirty="0"/>
            </a:br>
            <a:endParaRPr lang="es-ES" sz="600" dirty="0"/>
          </a:p>
          <a:p>
            <a:r>
              <a:rPr lang="es-ES" sz="600" dirty="0"/>
              <a:t># --- BRAZO INFERIOR (Camino de referencia corto) ---</a:t>
            </a:r>
          </a:p>
          <a:p>
            <a:r>
              <a:rPr lang="es-ES" sz="600" dirty="0"/>
              <a:t>b1_bot = </a:t>
            </a:r>
            <a:r>
              <a:rPr lang="es-ES" sz="600" dirty="0" err="1"/>
              <a:t>mzi.add_ref</a:t>
            </a:r>
            <a:r>
              <a:rPr lang="es-ES" sz="600" dirty="0"/>
              <a:t>(b90)</a:t>
            </a:r>
          </a:p>
          <a:p>
            <a:r>
              <a:rPr lang="es-ES" sz="600" dirty="0"/>
              <a:t>b1_bot.mirror_y()</a:t>
            </a:r>
          </a:p>
          <a:p>
            <a:r>
              <a:rPr lang="es-ES" sz="600" dirty="0"/>
              <a:t>b1_bot.connect("o1", </a:t>
            </a:r>
            <a:r>
              <a:rPr lang="es-ES" sz="600" dirty="0" err="1"/>
              <a:t>splitter.ports</a:t>
            </a:r>
            <a:r>
              <a:rPr lang="es-ES" sz="600" dirty="0"/>
              <a:t>["</a:t>
            </a:r>
            <a:r>
              <a:rPr lang="es-ES" sz="600" dirty="0" err="1"/>
              <a:t>out_bot</a:t>
            </a:r>
            <a:r>
              <a:rPr lang="es-ES" sz="600" dirty="0"/>
              <a:t>"])</a:t>
            </a:r>
          </a:p>
          <a:p>
            <a:br>
              <a:rPr lang="es-ES" sz="600" dirty="0"/>
            </a:br>
            <a:endParaRPr lang="es-ES" sz="600" dirty="0"/>
          </a:p>
          <a:p>
            <a:r>
              <a:rPr lang="es-ES" sz="600" dirty="0"/>
              <a:t>b2_bot = </a:t>
            </a:r>
            <a:r>
              <a:rPr lang="es-ES" sz="600" dirty="0" err="1"/>
              <a:t>mzi.add_ref</a:t>
            </a:r>
            <a:r>
              <a:rPr lang="es-ES" sz="600" dirty="0"/>
              <a:t>(b90)</a:t>
            </a:r>
          </a:p>
          <a:p>
            <a:r>
              <a:rPr lang="es-ES" sz="600" dirty="0"/>
              <a:t>b2_bot.connect("o1", b1_bot.ports["o2"])</a:t>
            </a:r>
          </a:p>
          <a:p>
            <a:r>
              <a:rPr lang="es-ES" sz="600" dirty="0" err="1"/>
              <a:t>h_bot</a:t>
            </a:r>
            <a:r>
              <a:rPr lang="es-ES" sz="600" dirty="0"/>
              <a:t> = </a:t>
            </a:r>
            <a:r>
              <a:rPr lang="es-ES" sz="600" dirty="0" err="1"/>
              <a:t>mzi.add_ref</a:t>
            </a:r>
            <a:r>
              <a:rPr lang="es-ES" sz="600" dirty="0"/>
              <a:t>(</a:t>
            </a:r>
            <a:r>
              <a:rPr lang="es-ES" sz="600" dirty="0" err="1"/>
              <a:t>guia_horizontal</a:t>
            </a:r>
            <a:r>
              <a:rPr lang="es-ES" sz="600" dirty="0"/>
              <a:t>)</a:t>
            </a:r>
          </a:p>
          <a:p>
            <a:r>
              <a:rPr lang="es-ES" sz="600" dirty="0" err="1"/>
              <a:t>h_bot.connect</a:t>
            </a:r>
            <a:r>
              <a:rPr lang="es-ES" sz="600" dirty="0"/>
              <a:t>("o1", b2_bot.ports["o2"])</a:t>
            </a:r>
          </a:p>
          <a:p>
            <a:r>
              <a:rPr lang="es-ES" sz="600" dirty="0"/>
              <a:t>b3_bot = </a:t>
            </a:r>
            <a:r>
              <a:rPr lang="es-ES" sz="600" dirty="0" err="1"/>
              <a:t>mzi.add_ref</a:t>
            </a:r>
            <a:r>
              <a:rPr lang="es-ES" sz="600" dirty="0"/>
              <a:t>(b90)</a:t>
            </a:r>
          </a:p>
          <a:p>
            <a:r>
              <a:rPr lang="es-ES" sz="600" dirty="0"/>
              <a:t>b3_bot.connect("o1", </a:t>
            </a:r>
            <a:r>
              <a:rPr lang="es-ES" sz="600" dirty="0" err="1"/>
              <a:t>h_bot.ports</a:t>
            </a:r>
            <a:r>
              <a:rPr lang="es-ES" sz="600" dirty="0"/>
              <a:t>["o2"])</a:t>
            </a:r>
          </a:p>
          <a:p>
            <a:r>
              <a:rPr lang="es-ES" sz="600" dirty="0"/>
              <a:t>b4_bot = </a:t>
            </a:r>
            <a:r>
              <a:rPr lang="es-ES" sz="600" dirty="0" err="1"/>
              <a:t>mzi.add_ref</a:t>
            </a:r>
            <a:r>
              <a:rPr lang="es-ES" sz="600" dirty="0"/>
              <a:t>(b90)</a:t>
            </a:r>
          </a:p>
          <a:p>
            <a:r>
              <a:rPr lang="es-ES" sz="600" dirty="0"/>
              <a:t>b4_bot.mirror_y()</a:t>
            </a:r>
          </a:p>
          <a:p>
            <a:r>
              <a:rPr lang="es-ES" sz="600" dirty="0"/>
              <a:t>b4_bot.connect("o1", b3_bot.ports["o2"])</a:t>
            </a:r>
          </a:p>
          <a:p>
            <a:r>
              <a:rPr lang="es-ES" sz="600" dirty="0"/>
              <a:t># Fijamos la posición del </a:t>
            </a:r>
            <a:r>
              <a:rPr lang="es-ES" sz="600" dirty="0" err="1"/>
              <a:t>combiner</a:t>
            </a:r>
            <a:r>
              <a:rPr lang="es-ES" sz="600" dirty="0"/>
              <a:t> usando este brazo inferior</a:t>
            </a:r>
          </a:p>
          <a:p>
            <a:r>
              <a:rPr lang="es-ES" sz="600" dirty="0" err="1"/>
              <a:t>combiner.connect</a:t>
            </a:r>
            <a:r>
              <a:rPr lang="es-ES" sz="600" dirty="0"/>
              <a:t>("</a:t>
            </a:r>
            <a:r>
              <a:rPr lang="es-ES" sz="600" dirty="0" err="1"/>
              <a:t>in_bot</a:t>
            </a:r>
            <a:r>
              <a:rPr lang="es-ES" sz="600" dirty="0"/>
              <a:t>", b4_bot.ports["o2"])</a:t>
            </a:r>
          </a:p>
          <a:p>
            <a:r>
              <a:rPr lang="es-ES" sz="600" dirty="0"/>
              <a:t># --- BRAZO SUPERIOR (Camino largo con tramos </a:t>
            </a:r>
            <a:r>
              <a:rPr lang="es-ES" sz="600" dirty="0" err="1"/>
              <a:t>DeltaL</a:t>
            </a:r>
            <a:r>
              <a:rPr lang="es-ES" sz="600" dirty="0"/>
              <a:t>/2) ---</a:t>
            </a:r>
          </a:p>
          <a:p>
            <a:r>
              <a:rPr lang="es-ES" sz="600" dirty="0"/>
              <a:t>b1_top = </a:t>
            </a:r>
            <a:r>
              <a:rPr lang="es-ES" sz="600" dirty="0" err="1"/>
              <a:t>mzi.add_ref</a:t>
            </a:r>
            <a:r>
              <a:rPr lang="es-ES" sz="600" dirty="0"/>
              <a:t>(b90)</a:t>
            </a:r>
          </a:p>
          <a:p>
            <a:r>
              <a:rPr lang="es-ES" sz="600" dirty="0"/>
              <a:t>b1_top.connect("o1", </a:t>
            </a:r>
            <a:r>
              <a:rPr lang="es-ES" sz="600" dirty="0" err="1"/>
              <a:t>splitter.ports</a:t>
            </a:r>
            <a:r>
              <a:rPr lang="es-ES" sz="600" dirty="0"/>
              <a:t>["</a:t>
            </a:r>
            <a:r>
              <a:rPr lang="es-ES" sz="600" dirty="0" err="1"/>
              <a:t>out_top</a:t>
            </a:r>
            <a:r>
              <a:rPr lang="es-ES" sz="600" dirty="0"/>
              <a:t>"])</a:t>
            </a:r>
          </a:p>
          <a:p>
            <a:r>
              <a:rPr lang="es-ES" sz="600" dirty="0"/>
              <a:t># Tramo vertical de subida (aporta la primera mitad del desfase: Delta L / 2)</a:t>
            </a:r>
          </a:p>
          <a:p>
            <a:r>
              <a:rPr lang="es-ES" sz="600" dirty="0"/>
              <a:t>v1_top = </a:t>
            </a:r>
            <a:r>
              <a:rPr lang="es-ES" sz="600" dirty="0" err="1"/>
              <a:t>mzi.add_ref</a:t>
            </a:r>
            <a:r>
              <a:rPr lang="es-ES" sz="600" dirty="0"/>
              <a:t>(</a:t>
            </a:r>
            <a:r>
              <a:rPr lang="es-ES" sz="600" dirty="0" err="1"/>
              <a:t>guia_vertical_dL</a:t>
            </a:r>
            <a:r>
              <a:rPr lang="es-ES" sz="600" dirty="0"/>
              <a:t>)</a:t>
            </a:r>
          </a:p>
          <a:p>
            <a:r>
              <a:rPr lang="es-ES" sz="600" dirty="0"/>
              <a:t>v1_top.connect("o1", b1_top.ports["o2"])</a:t>
            </a:r>
          </a:p>
          <a:p>
            <a:r>
              <a:rPr lang="es-ES" sz="600" dirty="0"/>
              <a:t>b2_top = </a:t>
            </a:r>
            <a:r>
              <a:rPr lang="es-ES" sz="600" dirty="0" err="1"/>
              <a:t>mzi.add_ref</a:t>
            </a:r>
            <a:r>
              <a:rPr lang="es-ES" sz="600" dirty="0"/>
              <a:t>(b90)</a:t>
            </a:r>
          </a:p>
          <a:p>
            <a:r>
              <a:rPr lang="es-ES" sz="600" dirty="0"/>
              <a:t>b2_top.mirror_y()</a:t>
            </a:r>
          </a:p>
          <a:p>
            <a:r>
              <a:rPr lang="es-ES" sz="600" dirty="0"/>
              <a:t>b2_top.connect("o1", v1_top.ports["o2"])</a:t>
            </a:r>
          </a:p>
          <a:p>
            <a:r>
              <a:rPr lang="es-ES" sz="600" dirty="0"/>
              <a:t># Tramo horizontal superior (Misma longitud exacta </a:t>
            </a:r>
            <a:r>
              <a:rPr lang="es-ES" sz="600" dirty="0" err="1"/>
              <a:t>L_h</a:t>
            </a:r>
            <a:r>
              <a:rPr lang="es-ES" sz="600" dirty="0"/>
              <a:t> que el inferior)</a:t>
            </a:r>
          </a:p>
          <a:p>
            <a:r>
              <a:rPr lang="es-ES" sz="600" dirty="0" err="1"/>
              <a:t>h_top</a:t>
            </a:r>
            <a:r>
              <a:rPr lang="es-ES" sz="600" dirty="0"/>
              <a:t> = </a:t>
            </a:r>
            <a:r>
              <a:rPr lang="es-ES" sz="600" dirty="0" err="1"/>
              <a:t>mzi.add_ref</a:t>
            </a:r>
            <a:r>
              <a:rPr lang="es-ES" sz="600" dirty="0"/>
              <a:t>(</a:t>
            </a:r>
            <a:r>
              <a:rPr lang="es-ES" sz="600" dirty="0" err="1"/>
              <a:t>guia_horizontal</a:t>
            </a:r>
            <a:r>
              <a:rPr lang="es-ES" sz="600" dirty="0"/>
              <a:t>)</a:t>
            </a:r>
          </a:p>
          <a:p>
            <a:r>
              <a:rPr lang="es-ES" sz="600" dirty="0" err="1"/>
              <a:t>h_top.connect</a:t>
            </a:r>
            <a:r>
              <a:rPr lang="es-ES" sz="600" dirty="0"/>
              <a:t>("o1", b2_top.ports["o2"])</a:t>
            </a:r>
          </a:p>
          <a:p>
            <a:r>
              <a:rPr lang="es-ES" sz="600" dirty="0"/>
              <a:t>b3_top = </a:t>
            </a:r>
            <a:r>
              <a:rPr lang="es-ES" sz="600" dirty="0" err="1"/>
              <a:t>mzi.add_ref</a:t>
            </a:r>
            <a:r>
              <a:rPr lang="es-ES" sz="600" dirty="0"/>
              <a:t>(b90)</a:t>
            </a:r>
          </a:p>
          <a:p>
            <a:r>
              <a:rPr lang="es-ES" sz="600" dirty="0"/>
              <a:t>b3_top.mirror_y()</a:t>
            </a:r>
          </a:p>
          <a:p>
            <a:r>
              <a:rPr lang="es-ES" sz="600" dirty="0"/>
              <a:t>b3_top.connect("o1", </a:t>
            </a:r>
            <a:r>
              <a:rPr lang="es-ES" sz="600" dirty="0" err="1"/>
              <a:t>h_top.ports</a:t>
            </a:r>
            <a:r>
              <a:rPr lang="es-ES" sz="600" dirty="0"/>
              <a:t>["o2"])</a:t>
            </a:r>
          </a:p>
          <a:p>
            <a:r>
              <a:rPr lang="es-ES" sz="600" dirty="0"/>
              <a:t># Tramo vertical de bajada (aporta la segunda mitad del desfase: Delta L / 2)</a:t>
            </a:r>
          </a:p>
          <a:p>
            <a:r>
              <a:rPr lang="es-ES" sz="600" dirty="0"/>
              <a:t>v2_top = </a:t>
            </a:r>
            <a:r>
              <a:rPr lang="es-ES" sz="600" dirty="0" err="1"/>
              <a:t>mzi.add_ref</a:t>
            </a:r>
            <a:r>
              <a:rPr lang="es-ES" sz="600" dirty="0"/>
              <a:t>(</a:t>
            </a:r>
            <a:r>
              <a:rPr lang="es-ES" sz="600" dirty="0" err="1"/>
              <a:t>guia_vertical_dL</a:t>
            </a:r>
            <a:r>
              <a:rPr lang="es-ES" sz="600" dirty="0"/>
              <a:t>)</a:t>
            </a:r>
          </a:p>
          <a:p>
            <a:r>
              <a:rPr lang="es-ES" sz="600" dirty="0"/>
              <a:t>v2_top.connect("o1", b3_top.ports["o2"])</a:t>
            </a:r>
          </a:p>
          <a:p>
            <a:r>
              <a:rPr lang="es-ES" sz="600" dirty="0"/>
              <a:t>b4_top = </a:t>
            </a:r>
            <a:r>
              <a:rPr lang="es-ES" sz="600" dirty="0" err="1"/>
              <a:t>mzi.add_ref</a:t>
            </a:r>
            <a:r>
              <a:rPr lang="es-ES" sz="600" dirty="0"/>
              <a:t>(b90)</a:t>
            </a:r>
          </a:p>
          <a:p>
            <a:r>
              <a:rPr lang="es-ES" sz="600" dirty="0"/>
              <a:t>b4_top.connect("o1", v2_top.ports["o2"])</a:t>
            </a:r>
          </a:p>
          <a:p>
            <a:r>
              <a:rPr lang="es-ES" sz="600" dirty="0"/>
              <a:t># =======================================================================</a:t>
            </a:r>
          </a:p>
          <a:p>
            <a:r>
              <a:rPr lang="es-ES" sz="600" dirty="0"/>
              <a:t># 3. PUERTOS GLOBALES DEL MZI</a:t>
            </a:r>
          </a:p>
          <a:p>
            <a:r>
              <a:rPr lang="es-ES" sz="600" dirty="0"/>
              <a:t># =======================================================================</a:t>
            </a:r>
          </a:p>
          <a:p>
            <a:r>
              <a:rPr lang="es-ES" sz="600" dirty="0" err="1"/>
              <a:t>mzi.add_port</a:t>
            </a:r>
            <a:r>
              <a:rPr lang="es-ES" sz="600" dirty="0"/>
              <a:t>("</a:t>
            </a:r>
            <a:r>
              <a:rPr lang="es-ES" sz="600" dirty="0" err="1"/>
              <a:t>in_top</a:t>
            </a:r>
            <a:r>
              <a:rPr lang="es-ES" sz="600" dirty="0"/>
              <a:t>", </a:t>
            </a:r>
            <a:r>
              <a:rPr lang="es-ES" sz="600" dirty="0" err="1"/>
              <a:t>port</a:t>
            </a:r>
            <a:r>
              <a:rPr lang="es-ES" sz="600" dirty="0"/>
              <a:t>=</a:t>
            </a:r>
            <a:r>
              <a:rPr lang="es-ES" sz="600" dirty="0" err="1"/>
              <a:t>splitter.ports</a:t>
            </a:r>
            <a:r>
              <a:rPr lang="es-ES" sz="600" dirty="0"/>
              <a:t>["</a:t>
            </a:r>
            <a:r>
              <a:rPr lang="es-ES" sz="600" dirty="0" err="1"/>
              <a:t>in_top</a:t>
            </a:r>
            <a:r>
              <a:rPr lang="es-ES" sz="600" dirty="0"/>
              <a:t>"])</a:t>
            </a:r>
          </a:p>
          <a:p>
            <a:r>
              <a:rPr lang="es-ES" sz="600" dirty="0" err="1"/>
              <a:t>mzi.add_port</a:t>
            </a:r>
            <a:r>
              <a:rPr lang="es-ES" sz="600" dirty="0"/>
              <a:t>("</a:t>
            </a:r>
            <a:r>
              <a:rPr lang="es-ES" sz="600" dirty="0" err="1"/>
              <a:t>in_bot</a:t>
            </a:r>
            <a:r>
              <a:rPr lang="es-ES" sz="600" dirty="0"/>
              <a:t>", </a:t>
            </a:r>
            <a:r>
              <a:rPr lang="es-ES" sz="600" dirty="0" err="1"/>
              <a:t>port</a:t>
            </a:r>
            <a:r>
              <a:rPr lang="es-ES" sz="600" dirty="0"/>
              <a:t>=</a:t>
            </a:r>
            <a:r>
              <a:rPr lang="es-ES" sz="600" dirty="0" err="1"/>
              <a:t>splitter.ports</a:t>
            </a:r>
            <a:r>
              <a:rPr lang="es-ES" sz="600" dirty="0"/>
              <a:t>["</a:t>
            </a:r>
            <a:r>
              <a:rPr lang="es-ES" sz="600" dirty="0" err="1"/>
              <a:t>in_bot</a:t>
            </a:r>
            <a:r>
              <a:rPr lang="es-ES" sz="600" dirty="0"/>
              <a:t>"])</a:t>
            </a:r>
          </a:p>
          <a:p>
            <a:r>
              <a:rPr lang="es-ES" sz="600" dirty="0" err="1"/>
              <a:t>mzi.add_port</a:t>
            </a:r>
            <a:r>
              <a:rPr lang="es-ES" sz="600" dirty="0"/>
              <a:t>("</a:t>
            </a:r>
            <a:r>
              <a:rPr lang="es-ES" sz="600" dirty="0" err="1"/>
              <a:t>out_top</a:t>
            </a:r>
            <a:r>
              <a:rPr lang="es-ES" sz="600" dirty="0"/>
              <a:t>", </a:t>
            </a:r>
            <a:r>
              <a:rPr lang="es-ES" sz="600" dirty="0" err="1"/>
              <a:t>port</a:t>
            </a:r>
            <a:r>
              <a:rPr lang="es-ES" sz="600" dirty="0"/>
              <a:t>=</a:t>
            </a:r>
            <a:r>
              <a:rPr lang="es-ES" sz="600" dirty="0" err="1"/>
              <a:t>combiner.ports</a:t>
            </a:r>
            <a:r>
              <a:rPr lang="es-ES" sz="600" dirty="0"/>
              <a:t>["</a:t>
            </a:r>
            <a:r>
              <a:rPr lang="es-ES" sz="600" dirty="0" err="1"/>
              <a:t>out_top</a:t>
            </a:r>
            <a:r>
              <a:rPr lang="es-ES" sz="600" dirty="0"/>
              <a:t>"])</a:t>
            </a:r>
          </a:p>
          <a:p>
            <a:r>
              <a:rPr lang="es-ES" sz="600" dirty="0" err="1"/>
              <a:t>mzi.add_port</a:t>
            </a:r>
            <a:r>
              <a:rPr lang="es-ES" sz="600" dirty="0"/>
              <a:t>("</a:t>
            </a:r>
            <a:r>
              <a:rPr lang="es-ES" sz="600" dirty="0" err="1"/>
              <a:t>out_bot</a:t>
            </a:r>
            <a:r>
              <a:rPr lang="es-ES" sz="600" dirty="0"/>
              <a:t>", </a:t>
            </a:r>
            <a:r>
              <a:rPr lang="es-ES" sz="600" dirty="0" err="1"/>
              <a:t>port</a:t>
            </a:r>
            <a:r>
              <a:rPr lang="es-ES" sz="600" dirty="0"/>
              <a:t>=</a:t>
            </a:r>
            <a:r>
              <a:rPr lang="es-ES" sz="600" dirty="0" err="1"/>
              <a:t>combiner.ports</a:t>
            </a:r>
            <a:r>
              <a:rPr lang="es-ES" sz="600" dirty="0"/>
              <a:t>["</a:t>
            </a:r>
            <a:r>
              <a:rPr lang="es-ES" sz="600" dirty="0" err="1"/>
              <a:t>out_bot</a:t>
            </a:r>
            <a:r>
              <a:rPr lang="es-ES" sz="600" dirty="0"/>
              <a:t>"])</a:t>
            </a:r>
          </a:p>
          <a:p>
            <a:r>
              <a:rPr lang="es-ES" sz="600" dirty="0"/>
              <a:t># ==========================================</a:t>
            </a:r>
          </a:p>
          <a:p>
            <a:r>
              <a:rPr lang="es-ES" sz="600" dirty="0"/>
              <a:t># VISUALIZACIÓN</a:t>
            </a:r>
          </a:p>
          <a:p>
            <a:r>
              <a:rPr lang="es-ES" sz="600" dirty="0"/>
              <a:t># ==========================================</a:t>
            </a:r>
          </a:p>
          <a:p>
            <a:r>
              <a:rPr lang="es-ES" sz="600" dirty="0" err="1"/>
              <a:t>mzi.plot</a:t>
            </a:r>
            <a:r>
              <a:rPr lang="es-ES" sz="600" dirty="0"/>
              <a:t>()</a:t>
            </a:r>
          </a:p>
          <a:p>
            <a:r>
              <a:rPr lang="es-ES" sz="600" dirty="0" err="1"/>
              <a:t>mzi.show</a:t>
            </a:r>
            <a:r>
              <a:rPr lang="es-ES" sz="600" dirty="0"/>
              <a:t>()</a:t>
            </a:r>
          </a:p>
          <a:p>
            <a:r>
              <a:rPr lang="es-ES" sz="600" dirty="0" err="1"/>
              <a:t>scene</a:t>
            </a:r>
            <a:r>
              <a:rPr lang="es-ES" sz="600" dirty="0"/>
              <a:t> = mzi.to_3d()</a:t>
            </a:r>
          </a:p>
          <a:p>
            <a:r>
              <a:rPr lang="es-ES" sz="600" dirty="0" err="1"/>
              <a:t>scene.show</a:t>
            </a:r>
            <a:r>
              <a:rPr lang="es-ES" sz="600" dirty="0"/>
              <a:t>()</a:t>
            </a:r>
          </a:p>
          <a:p>
            <a:pPr algn="ctr"/>
            <a:endParaRPr lang="en-US" sz="600" dirty="0"/>
          </a:p>
        </p:txBody>
      </p:sp>
      <p:sp>
        <p:nvSpPr>
          <p:cNvPr id="8" name="Rectángulo 7">
            <a:extLst>
              <a:ext uri="{FF2B5EF4-FFF2-40B4-BE49-F238E27FC236}">
                <a16:creationId xmlns:a16="http://schemas.microsoft.com/office/drawing/2014/main" id="{0A29F5B0-53A8-1AFE-B7DA-501B2316A64F}"/>
              </a:ext>
            </a:extLst>
          </p:cNvPr>
          <p:cNvSpPr/>
          <p:nvPr/>
        </p:nvSpPr>
        <p:spPr>
          <a:xfrm>
            <a:off x="6476841" y="1420406"/>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088AE56D-0A47-5EC6-5790-DC539344194C}"/>
              </a:ext>
            </a:extLst>
          </p:cNvPr>
          <p:cNvSpPr txBox="1"/>
          <p:nvPr/>
        </p:nvSpPr>
        <p:spPr>
          <a:xfrm>
            <a:off x="7956912" y="2496339"/>
            <a:ext cx="2372445" cy="369332"/>
          </a:xfrm>
          <a:prstGeom prst="rect">
            <a:avLst/>
          </a:prstGeom>
          <a:noFill/>
        </p:spPr>
        <p:txBody>
          <a:bodyPr wrap="none" rtlCol="0">
            <a:spAutoFit/>
          </a:bodyPr>
          <a:lstStyle/>
          <a:p>
            <a:pPr algn="ctr"/>
            <a:r>
              <a:rPr lang="es-ES" dirty="0" err="1"/>
              <a:t>Component</a:t>
            </a:r>
            <a:r>
              <a:rPr lang="es-ES" dirty="0"/>
              <a:t> </a:t>
            </a:r>
            <a:r>
              <a:rPr lang="es-ES" dirty="0" err="1"/>
              <a:t>screenshot</a:t>
            </a:r>
            <a:endParaRPr lang="en-US" dirty="0"/>
          </a:p>
        </p:txBody>
      </p:sp>
      <p:pic>
        <p:nvPicPr>
          <p:cNvPr id="5" name="Picture 4">
            <a:extLst>
              <a:ext uri="{FF2B5EF4-FFF2-40B4-BE49-F238E27FC236}">
                <a16:creationId xmlns:a16="http://schemas.microsoft.com/office/drawing/2014/main" id="{D5A6B17B-8B5F-6B36-C54B-1394221BDC28}"/>
              </a:ext>
            </a:extLst>
          </p:cNvPr>
          <p:cNvPicPr>
            <a:picLocks noChangeAspect="1"/>
          </p:cNvPicPr>
          <p:nvPr/>
        </p:nvPicPr>
        <p:blipFill>
          <a:blip r:embed="rId4"/>
          <a:stretch>
            <a:fillRect/>
          </a:stretch>
        </p:blipFill>
        <p:spPr>
          <a:xfrm>
            <a:off x="6971426" y="1399960"/>
            <a:ext cx="4343400" cy="3278841"/>
          </a:xfrm>
          <a:prstGeom prst="rect">
            <a:avLst/>
          </a:prstGeom>
        </p:spPr>
      </p:pic>
    </p:spTree>
    <p:extLst>
      <p:ext uri="{BB962C8B-B14F-4D97-AF65-F5344CB8AC3E}">
        <p14:creationId xmlns:p14="http://schemas.microsoft.com/office/powerpoint/2010/main" val="10979318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6F0D2-347F-FC8F-7A91-62EFB83F3E3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D903CF7-D0AB-FDD5-C54B-F060291CA7D5}"/>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gn="ctr">
              <a:lnSpc>
                <a:spcPct val="100000"/>
              </a:lnSpc>
              <a:spcBef>
                <a:spcPts val="100"/>
              </a:spcBef>
            </a:pPr>
            <a:r>
              <a:rPr lang="en-US" sz="2500" dirty="0"/>
              <a:t>Learning outcome #1b – Notebook section 1. Technology – </a:t>
            </a:r>
            <a:r>
              <a:rPr lang="en-US" sz="2500" dirty="0">
                <a:solidFill>
                  <a:srgbClr val="FF0000"/>
                </a:solidFill>
              </a:rPr>
              <a:t>1 slide per component</a:t>
            </a:r>
            <a:br>
              <a:rPr lang="en-US" sz="2500" dirty="0"/>
            </a:br>
            <a:r>
              <a:rPr lang="en-US" sz="2500" dirty="0"/>
              <a:t>MZI </a:t>
            </a:r>
            <a:r>
              <a:rPr lang="en-US" sz="2500" dirty="0" err="1"/>
              <a:t>equilibrado</a:t>
            </a:r>
            <a:endParaRPr sz="2500" b="0" i="1" dirty="0">
              <a:latin typeface="+mj-lt"/>
              <a:cs typeface="Lucida Sans"/>
            </a:endParaRPr>
          </a:p>
        </p:txBody>
      </p:sp>
      <p:pic>
        <p:nvPicPr>
          <p:cNvPr id="83" name="Gráfico 82">
            <a:extLst>
              <a:ext uri="{FF2B5EF4-FFF2-40B4-BE49-F238E27FC236}">
                <a16:creationId xmlns:a16="http://schemas.microsoft.com/office/drawing/2014/main" id="{5EA7706E-C2F5-ED11-F3D5-ADF450B868F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C9FCCC8C-D66E-1862-A9C4-A946C407F72D}"/>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52E040E8-6938-9B69-883B-D6DC6CF32EDF}"/>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236FCEC4-3326-4540-E299-58190F6F217D}"/>
              </a:ext>
            </a:extLst>
          </p:cNvPr>
          <p:cNvSpPr txBox="1"/>
          <p:nvPr/>
        </p:nvSpPr>
        <p:spPr>
          <a:xfrm>
            <a:off x="3505200" y="4860334"/>
            <a:ext cx="8304212" cy="830997"/>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Describe component. </a:t>
            </a:r>
            <a:r>
              <a:rPr lang="en-US" sz="1200" dirty="0">
                <a:solidFill>
                  <a:srgbClr val="FF0000"/>
                </a:solidFill>
                <a:latin typeface="Arial" panose="020B0604020202020204" pitchFamily="34" charset="0"/>
                <a:cs typeface="Arial" panose="020B0604020202020204" pitchFamily="34" charset="0"/>
              </a:rPr>
              <a:t>Example</a:t>
            </a:r>
            <a:r>
              <a:rPr lang="en-US" sz="1200" dirty="0">
                <a:latin typeface="Arial" panose="020B0604020202020204" pitchFamily="34" charset="0"/>
                <a:cs typeface="Arial" panose="020B0604020202020204" pitchFamily="34" charset="0"/>
              </a:rPr>
              <a:t>: this is the MMI we designed in Lab2, it is a 2x2 with paired interference, target coupling constant K = 0.5. The relevant dimensions are W_MMI = XX µm L_MMI = YY µm and the I/O positions with respect to center are at +/- </a:t>
            </a:r>
            <a:r>
              <a:rPr lang="en-US" sz="1200" dirty="0" err="1">
                <a:latin typeface="Arial" panose="020B0604020202020204" pitchFamily="34" charset="0"/>
                <a:cs typeface="Arial" panose="020B0604020202020204" pitchFamily="34" charset="0"/>
              </a:rPr>
              <a:t>dY</a:t>
            </a:r>
            <a:r>
              <a:rPr lang="en-US" sz="1200" dirty="0">
                <a:latin typeface="Arial" panose="020B0604020202020204" pitchFamily="34" charset="0"/>
                <a:cs typeface="Arial" panose="020B0604020202020204" pitchFamily="34" charset="0"/>
              </a:rPr>
              <a:t> µm</a:t>
            </a:r>
          </a:p>
          <a:p>
            <a:pPr algn="just"/>
            <a:endParaRPr lang="en-US" sz="1200"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9E122BC7-67B4-B83A-D95D-09B22009BA6A}"/>
              </a:ext>
            </a:extLst>
          </p:cNvPr>
          <p:cNvSpPr/>
          <p:nvPr/>
        </p:nvSpPr>
        <p:spPr>
          <a:xfrm>
            <a:off x="6476841" y="1420406"/>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ED71A8EA-5F71-3E18-C5ED-443DFB8AD9BF}"/>
              </a:ext>
            </a:extLst>
          </p:cNvPr>
          <p:cNvSpPr txBox="1"/>
          <p:nvPr/>
        </p:nvSpPr>
        <p:spPr>
          <a:xfrm>
            <a:off x="7956912" y="2496339"/>
            <a:ext cx="2372445" cy="369332"/>
          </a:xfrm>
          <a:prstGeom prst="rect">
            <a:avLst/>
          </a:prstGeom>
          <a:noFill/>
        </p:spPr>
        <p:txBody>
          <a:bodyPr wrap="none" rtlCol="0">
            <a:spAutoFit/>
          </a:bodyPr>
          <a:lstStyle/>
          <a:p>
            <a:pPr algn="ctr"/>
            <a:r>
              <a:rPr lang="es-ES" dirty="0" err="1"/>
              <a:t>Component</a:t>
            </a:r>
            <a:r>
              <a:rPr lang="es-ES" dirty="0"/>
              <a:t> </a:t>
            </a:r>
            <a:r>
              <a:rPr lang="es-ES" dirty="0" err="1"/>
              <a:t>screenshot</a:t>
            </a:r>
            <a:endParaRPr lang="en-US" dirty="0"/>
          </a:p>
        </p:txBody>
      </p:sp>
      <p:pic>
        <p:nvPicPr>
          <p:cNvPr id="5" name="Picture 4">
            <a:extLst>
              <a:ext uri="{FF2B5EF4-FFF2-40B4-BE49-F238E27FC236}">
                <a16:creationId xmlns:a16="http://schemas.microsoft.com/office/drawing/2014/main" id="{5B65CFF6-45AF-E2CF-F468-2C149F530AA0}"/>
              </a:ext>
            </a:extLst>
          </p:cNvPr>
          <p:cNvPicPr>
            <a:picLocks noChangeAspect="1"/>
          </p:cNvPicPr>
          <p:nvPr/>
        </p:nvPicPr>
        <p:blipFill>
          <a:blip r:embed="rId4"/>
          <a:stretch>
            <a:fillRect/>
          </a:stretch>
        </p:blipFill>
        <p:spPr>
          <a:xfrm>
            <a:off x="6872017" y="1377827"/>
            <a:ext cx="4542217" cy="3428929"/>
          </a:xfrm>
          <a:prstGeom prst="rect">
            <a:avLst/>
          </a:prstGeom>
        </p:spPr>
      </p:pic>
      <p:sp>
        <p:nvSpPr>
          <p:cNvPr id="12" name="TextBox 11">
            <a:extLst>
              <a:ext uri="{FF2B5EF4-FFF2-40B4-BE49-F238E27FC236}">
                <a16:creationId xmlns:a16="http://schemas.microsoft.com/office/drawing/2014/main" id="{B34D3937-D2D4-D32A-1121-7DAA5216713B}"/>
              </a:ext>
            </a:extLst>
          </p:cNvPr>
          <p:cNvSpPr txBox="1"/>
          <p:nvPr/>
        </p:nvSpPr>
        <p:spPr>
          <a:xfrm>
            <a:off x="587188" y="914400"/>
            <a:ext cx="3179075" cy="13480613"/>
          </a:xfrm>
          <a:prstGeom prst="rect">
            <a:avLst/>
          </a:prstGeom>
          <a:noFill/>
        </p:spPr>
        <p:txBody>
          <a:bodyPr wrap="none" rtlCol="0">
            <a:spAutoFit/>
          </a:bodyPr>
          <a:lstStyle/>
          <a:p>
            <a:r>
              <a:rPr lang="es-ES" sz="600" dirty="0" err="1"/>
              <a:t>gf.clear_cache</a:t>
            </a:r>
            <a:r>
              <a:rPr lang="es-ES" sz="600" dirty="0"/>
              <a:t>()</a:t>
            </a:r>
          </a:p>
          <a:p>
            <a:br>
              <a:rPr lang="es-ES" sz="600" dirty="0"/>
            </a:br>
            <a:endParaRPr lang="es-ES" sz="600" dirty="0"/>
          </a:p>
          <a:p>
            <a:r>
              <a:rPr lang="es-ES" sz="600" dirty="0"/>
              <a:t># =======================================================================</a:t>
            </a:r>
          </a:p>
          <a:p>
            <a:r>
              <a:rPr lang="es-ES" sz="600" dirty="0"/>
              <a:t># 1. CELDA DEL MMI 2x2 (Bloque base limpio)</a:t>
            </a:r>
          </a:p>
          <a:p>
            <a:r>
              <a:rPr lang="es-ES" sz="600" dirty="0"/>
              <a:t># =======================================================================</a:t>
            </a:r>
          </a:p>
          <a:p>
            <a:r>
              <a:rPr lang="es-ES" sz="600" dirty="0"/>
              <a:t>@gf.cell</a:t>
            </a:r>
          </a:p>
          <a:p>
            <a:r>
              <a:rPr lang="es-ES" sz="600" dirty="0" err="1"/>
              <a:t>def</a:t>
            </a:r>
            <a:r>
              <a:rPr lang="es-ES" sz="600" dirty="0"/>
              <a:t> mmi_2x2_base() -&gt; </a:t>
            </a:r>
            <a:r>
              <a:rPr lang="es-ES" sz="600" dirty="0" err="1"/>
              <a:t>gf.Component</a:t>
            </a:r>
            <a:r>
              <a:rPr lang="es-ES" sz="600" dirty="0"/>
              <a:t>:</a:t>
            </a:r>
          </a:p>
          <a:p>
            <a:r>
              <a:rPr lang="es-ES" sz="600" dirty="0"/>
              <a:t>    </a:t>
            </a:r>
            <a:r>
              <a:rPr lang="es-ES" sz="600" dirty="0" err="1"/>
              <a:t>mmi</a:t>
            </a:r>
            <a:r>
              <a:rPr lang="es-ES" sz="600" dirty="0"/>
              <a:t> = </a:t>
            </a:r>
            <a:r>
              <a:rPr lang="es-ES" sz="600" dirty="0" err="1"/>
              <a:t>gf.Component</a:t>
            </a:r>
            <a:r>
              <a:rPr lang="es-ES" sz="600" dirty="0"/>
              <a:t>("mmi_2x2_base")</a:t>
            </a:r>
          </a:p>
          <a:p>
            <a:r>
              <a:rPr lang="es-ES" sz="600" dirty="0"/>
              <a:t>    capa = </a:t>
            </a:r>
            <a:r>
              <a:rPr lang="es-ES" sz="600" dirty="0" err="1"/>
              <a:t>gf.components.straight</a:t>
            </a:r>
            <a:r>
              <a:rPr lang="es-ES" sz="600" dirty="0"/>
              <a:t>().</a:t>
            </a:r>
            <a:r>
              <a:rPr lang="es-ES" sz="600" dirty="0" err="1"/>
              <a:t>ports</a:t>
            </a:r>
            <a:r>
              <a:rPr lang="es-ES" sz="600" dirty="0"/>
              <a:t>["o1"].</a:t>
            </a:r>
            <a:r>
              <a:rPr lang="es-ES" sz="600" dirty="0" err="1"/>
              <a:t>layer</a:t>
            </a:r>
            <a:endParaRPr lang="es-ES" sz="600" dirty="0"/>
          </a:p>
          <a:p>
            <a:r>
              <a:rPr lang="es-ES" sz="600" dirty="0"/>
              <a:t>    </a:t>
            </a:r>
            <a:r>
              <a:rPr lang="es-ES" sz="600" dirty="0" err="1"/>
              <a:t>sec_acceso</a:t>
            </a:r>
            <a:r>
              <a:rPr lang="es-ES" sz="600" dirty="0"/>
              <a:t> = </a:t>
            </a:r>
            <a:r>
              <a:rPr lang="es-ES" sz="600" dirty="0" err="1"/>
              <a:t>gf.cross_section.cross_section</a:t>
            </a:r>
            <a:r>
              <a:rPr lang="es-ES" sz="600" dirty="0"/>
              <a:t>(</a:t>
            </a:r>
            <a:r>
              <a:rPr lang="es-ES" sz="600" dirty="0" err="1"/>
              <a:t>width</a:t>
            </a:r>
            <a:r>
              <a:rPr lang="es-ES" sz="600" dirty="0"/>
              <a:t>=1.2, </a:t>
            </a:r>
            <a:r>
              <a:rPr lang="es-ES" sz="600" dirty="0" err="1"/>
              <a:t>layer</a:t>
            </a:r>
            <a:r>
              <a:rPr lang="es-ES" sz="600" dirty="0"/>
              <a:t>=capa)</a:t>
            </a:r>
          </a:p>
          <a:p>
            <a:r>
              <a:rPr lang="es-ES" sz="600" dirty="0"/>
              <a:t>    </a:t>
            </a:r>
            <a:r>
              <a:rPr lang="es-ES" sz="600" dirty="0" err="1"/>
              <a:t>sec_body</a:t>
            </a:r>
            <a:r>
              <a:rPr lang="es-ES" sz="600" dirty="0"/>
              <a:t> = </a:t>
            </a:r>
            <a:r>
              <a:rPr lang="es-ES" sz="600" dirty="0" err="1"/>
              <a:t>gf.cross_section.cross_section</a:t>
            </a:r>
            <a:r>
              <a:rPr lang="es-ES" sz="600" dirty="0"/>
              <a:t>(</a:t>
            </a:r>
            <a:r>
              <a:rPr lang="es-ES" sz="600" dirty="0" err="1"/>
              <a:t>width</a:t>
            </a:r>
            <a:r>
              <a:rPr lang="es-ES" sz="600" dirty="0"/>
              <a:t>=6.6, </a:t>
            </a:r>
            <a:r>
              <a:rPr lang="es-ES" sz="600" dirty="0" err="1"/>
              <a:t>layer</a:t>
            </a:r>
            <a:r>
              <a:rPr lang="es-ES" sz="600" dirty="0"/>
              <a:t>=capa)</a:t>
            </a:r>
          </a:p>
          <a:p>
            <a:r>
              <a:rPr lang="es-ES" sz="600" dirty="0"/>
              <a:t>    </a:t>
            </a:r>
          </a:p>
          <a:p>
            <a:r>
              <a:rPr lang="es-ES" sz="600" dirty="0"/>
              <a:t>    # Cuerpo del MMI</a:t>
            </a:r>
          </a:p>
          <a:p>
            <a:r>
              <a:rPr lang="es-ES" sz="600" dirty="0"/>
              <a:t>    </a:t>
            </a:r>
            <a:r>
              <a:rPr lang="es-ES" sz="600" dirty="0" err="1"/>
              <a:t>longitud_mmi</a:t>
            </a:r>
            <a:r>
              <a:rPr lang="es-ES" sz="600" dirty="0"/>
              <a:t> = 69.03598607255596 / 2 </a:t>
            </a:r>
          </a:p>
          <a:p>
            <a:r>
              <a:rPr lang="es-ES" sz="600" dirty="0"/>
              <a:t>    </a:t>
            </a:r>
            <a:r>
              <a:rPr lang="es-ES" sz="600" dirty="0" err="1"/>
              <a:t>body</a:t>
            </a:r>
            <a:r>
              <a:rPr lang="es-ES" sz="600" dirty="0"/>
              <a:t> = </a:t>
            </a:r>
            <a:r>
              <a:rPr lang="es-ES" sz="600" dirty="0" err="1"/>
              <a:t>mmi.add_ref</a:t>
            </a:r>
            <a:r>
              <a:rPr lang="es-ES" sz="600" dirty="0"/>
              <a:t>(</a:t>
            </a:r>
            <a:r>
              <a:rPr lang="es-ES" sz="600" dirty="0" err="1"/>
              <a:t>gf.components.straight</a:t>
            </a:r>
            <a:r>
              <a:rPr lang="es-ES" sz="600" dirty="0"/>
              <a:t>(</a:t>
            </a:r>
            <a:r>
              <a:rPr lang="es-ES" sz="600" dirty="0" err="1"/>
              <a:t>length</a:t>
            </a:r>
            <a:r>
              <a:rPr lang="es-ES" sz="600" dirty="0"/>
              <a:t>=</a:t>
            </a:r>
            <a:r>
              <a:rPr lang="es-ES" sz="600" dirty="0" err="1"/>
              <a:t>longitud_mmi</a:t>
            </a:r>
            <a:r>
              <a:rPr lang="es-ES" sz="600" dirty="0"/>
              <a:t>, </a:t>
            </a:r>
            <a:r>
              <a:rPr lang="es-ES" sz="600" dirty="0" err="1"/>
              <a:t>cross_section</a:t>
            </a:r>
            <a:r>
              <a:rPr lang="es-ES" sz="600" dirty="0"/>
              <a:t>=</a:t>
            </a:r>
            <a:r>
              <a:rPr lang="es-ES" sz="600" dirty="0" err="1"/>
              <a:t>sec_body</a:t>
            </a:r>
            <a:r>
              <a:rPr lang="es-ES" sz="600" dirty="0"/>
              <a:t>))</a:t>
            </a:r>
          </a:p>
          <a:p>
            <a:r>
              <a:rPr lang="es-ES" sz="600" dirty="0"/>
              <a:t>    </a:t>
            </a:r>
          </a:p>
          <a:p>
            <a:r>
              <a:rPr lang="es-ES" sz="600" dirty="0"/>
              <a:t>    # Accesos rectos (1/6 y -1/6)</a:t>
            </a:r>
          </a:p>
          <a:p>
            <a:r>
              <a:rPr lang="es-ES" sz="600" dirty="0"/>
              <a:t>    </a:t>
            </a:r>
            <a:r>
              <a:rPr lang="es-ES" sz="600" dirty="0" err="1"/>
              <a:t>pos_y</a:t>
            </a:r>
            <a:r>
              <a:rPr lang="es-ES" sz="600" dirty="0"/>
              <a:t> = 6.6 / 6.0  </a:t>
            </a:r>
          </a:p>
          <a:p>
            <a:r>
              <a:rPr lang="es-ES" sz="600" dirty="0"/>
              <a:t>    </a:t>
            </a:r>
            <a:r>
              <a:rPr lang="es-ES" sz="600" dirty="0" err="1"/>
              <a:t>l_acc</a:t>
            </a:r>
            <a:r>
              <a:rPr lang="es-ES" sz="600" dirty="0"/>
              <a:t> = 5.0</a:t>
            </a:r>
          </a:p>
          <a:p>
            <a:r>
              <a:rPr lang="es-ES" sz="600" dirty="0"/>
              <a:t>    </a:t>
            </a:r>
            <a:r>
              <a:rPr lang="es-ES" sz="600" dirty="0" err="1"/>
              <a:t>guia_r</a:t>
            </a:r>
            <a:r>
              <a:rPr lang="es-ES" sz="600" dirty="0"/>
              <a:t> = </a:t>
            </a:r>
            <a:r>
              <a:rPr lang="es-ES" sz="600" dirty="0" err="1"/>
              <a:t>gf.components.straight</a:t>
            </a:r>
            <a:r>
              <a:rPr lang="es-ES" sz="600" dirty="0"/>
              <a:t>(</a:t>
            </a:r>
            <a:r>
              <a:rPr lang="es-ES" sz="600" dirty="0" err="1"/>
              <a:t>length</a:t>
            </a:r>
            <a:r>
              <a:rPr lang="es-ES" sz="600" dirty="0"/>
              <a:t>=</a:t>
            </a:r>
            <a:r>
              <a:rPr lang="es-ES" sz="600" dirty="0" err="1"/>
              <a:t>l_acc</a:t>
            </a:r>
            <a:r>
              <a:rPr lang="es-ES" sz="600" dirty="0"/>
              <a:t>, </a:t>
            </a:r>
            <a:r>
              <a:rPr lang="es-ES" sz="600" dirty="0" err="1"/>
              <a:t>cross_section</a:t>
            </a:r>
            <a:r>
              <a:rPr lang="es-ES" sz="600" dirty="0"/>
              <a:t>=</a:t>
            </a:r>
            <a:r>
              <a:rPr lang="es-ES" sz="600" dirty="0" err="1"/>
              <a:t>sec_acceso</a:t>
            </a:r>
            <a:r>
              <a:rPr lang="es-ES" sz="600" dirty="0"/>
              <a:t>)</a:t>
            </a:r>
          </a:p>
          <a:p>
            <a:r>
              <a:rPr lang="es-ES" sz="600" dirty="0"/>
              <a:t>    </a:t>
            </a:r>
          </a:p>
          <a:p>
            <a:r>
              <a:rPr lang="es-ES" sz="600" dirty="0"/>
              <a:t>    </a:t>
            </a:r>
            <a:r>
              <a:rPr lang="es-ES" sz="600" dirty="0" err="1"/>
              <a:t>it</a:t>
            </a:r>
            <a:r>
              <a:rPr lang="es-ES" sz="600" dirty="0"/>
              <a:t> = </a:t>
            </a:r>
            <a:r>
              <a:rPr lang="es-ES" sz="600" dirty="0" err="1"/>
              <a:t>mmi.add_ref</a:t>
            </a:r>
            <a:r>
              <a:rPr lang="es-ES" sz="600" dirty="0"/>
              <a:t>(</a:t>
            </a:r>
            <a:r>
              <a:rPr lang="es-ES" sz="600" dirty="0" err="1"/>
              <a:t>guia_r</a:t>
            </a:r>
            <a:r>
              <a:rPr lang="es-ES" sz="600" dirty="0"/>
              <a:t>).</a:t>
            </a:r>
            <a:r>
              <a:rPr lang="es-ES" sz="600" dirty="0" err="1"/>
              <a:t>movex</a:t>
            </a:r>
            <a:r>
              <a:rPr lang="es-ES" sz="600" dirty="0"/>
              <a:t>(-</a:t>
            </a:r>
            <a:r>
              <a:rPr lang="es-ES" sz="600" dirty="0" err="1"/>
              <a:t>l_acc</a:t>
            </a:r>
            <a:r>
              <a:rPr lang="es-ES" sz="600" dirty="0"/>
              <a:t>).</a:t>
            </a:r>
            <a:r>
              <a:rPr lang="es-ES" sz="600" dirty="0" err="1"/>
              <a:t>movey</a:t>
            </a:r>
            <a:r>
              <a:rPr lang="es-ES" sz="600" dirty="0"/>
              <a:t>(</a:t>
            </a:r>
            <a:r>
              <a:rPr lang="es-ES" sz="600" dirty="0" err="1"/>
              <a:t>pos_y</a:t>
            </a:r>
            <a:r>
              <a:rPr lang="es-ES" sz="600" dirty="0"/>
              <a:t>)</a:t>
            </a:r>
          </a:p>
          <a:p>
            <a:r>
              <a:rPr lang="es-ES" sz="600" dirty="0"/>
              <a:t>    </a:t>
            </a:r>
            <a:r>
              <a:rPr lang="es-ES" sz="600" dirty="0" err="1"/>
              <a:t>ib</a:t>
            </a:r>
            <a:r>
              <a:rPr lang="es-ES" sz="600" dirty="0"/>
              <a:t> = </a:t>
            </a:r>
            <a:r>
              <a:rPr lang="es-ES" sz="600" dirty="0" err="1"/>
              <a:t>mmi.add_ref</a:t>
            </a:r>
            <a:r>
              <a:rPr lang="es-ES" sz="600" dirty="0"/>
              <a:t>(</a:t>
            </a:r>
            <a:r>
              <a:rPr lang="es-ES" sz="600" dirty="0" err="1"/>
              <a:t>guia_r</a:t>
            </a:r>
            <a:r>
              <a:rPr lang="es-ES" sz="600" dirty="0"/>
              <a:t>).</a:t>
            </a:r>
            <a:r>
              <a:rPr lang="es-ES" sz="600" dirty="0" err="1"/>
              <a:t>movex</a:t>
            </a:r>
            <a:r>
              <a:rPr lang="es-ES" sz="600" dirty="0"/>
              <a:t>(-</a:t>
            </a:r>
            <a:r>
              <a:rPr lang="es-ES" sz="600" dirty="0" err="1"/>
              <a:t>l_acc</a:t>
            </a:r>
            <a:r>
              <a:rPr lang="es-ES" sz="600" dirty="0"/>
              <a:t>).</a:t>
            </a:r>
            <a:r>
              <a:rPr lang="es-ES" sz="600" dirty="0" err="1"/>
              <a:t>movey</a:t>
            </a:r>
            <a:r>
              <a:rPr lang="es-ES" sz="600" dirty="0"/>
              <a:t>(-</a:t>
            </a:r>
            <a:r>
              <a:rPr lang="es-ES" sz="600" dirty="0" err="1"/>
              <a:t>pos_y</a:t>
            </a:r>
            <a:r>
              <a:rPr lang="es-ES" sz="600" dirty="0"/>
              <a:t>)</a:t>
            </a:r>
          </a:p>
          <a:p>
            <a:r>
              <a:rPr lang="es-ES" sz="600" dirty="0"/>
              <a:t>    </a:t>
            </a:r>
            <a:r>
              <a:rPr lang="es-ES" sz="600" dirty="0" err="1"/>
              <a:t>ot</a:t>
            </a:r>
            <a:r>
              <a:rPr lang="es-ES" sz="600" dirty="0"/>
              <a:t> = </a:t>
            </a:r>
            <a:r>
              <a:rPr lang="es-ES" sz="600" dirty="0" err="1"/>
              <a:t>mmi.add_ref</a:t>
            </a:r>
            <a:r>
              <a:rPr lang="es-ES" sz="600" dirty="0"/>
              <a:t>(</a:t>
            </a:r>
            <a:r>
              <a:rPr lang="es-ES" sz="600" dirty="0" err="1"/>
              <a:t>guia_r</a:t>
            </a:r>
            <a:r>
              <a:rPr lang="es-ES" sz="600" dirty="0"/>
              <a:t>).</a:t>
            </a:r>
            <a:r>
              <a:rPr lang="es-ES" sz="600" dirty="0" err="1"/>
              <a:t>movex</a:t>
            </a:r>
            <a:r>
              <a:rPr lang="es-ES" sz="600" dirty="0"/>
              <a:t>(</a:t>
            </a:r>
            <a:r>
              <a:rPr lang="es-ES" sz="600" dirty="0" err="1"/>
              <a:t>longitud_mmi</a:t>
            </a:r>
            <a:r>
              <a:rPr lang="es-ES" sz="600" dirty="0"/>
              <a:t>).</a:t>
            </a:r>
            <a:r>
              <a:rPr lang="es-ES" sz="600" dirty="0" err="1"/>
              <a:t>movey</a:t>
            </a:r>
            <a:r>
              <a:rPr lang="es-ES" sz="600" dirty="0"/>
              <a:t>(</a:t>
            </a:r>
            <a:r>
              <a:rPr lang="es-ES" sz="600" dirty="0" err="1"/>
              <a:t>pos_y</a:t>
            </a:r>
            <a:r>
              <a:rPr lang="es-ES" sz="600" dirty="0"/>
              <a:t>)</a:t>
            </a:r>
          </a:p>
          <a:p>
            <a:r>
              <a:rPr lang="es-ES" sz="600" dirty="0"/>
              <a:t>    </a:t>
            </a:r>
            <a:r>
              <a:rPr lang="es-ES" sz="600" dirty="0" err="1"/>
              <a:t>ob</a:t>
            </a:r>
            <a:r>
              <a:rPr lang="es-ES" sz="600" dirty="0"/>
              <a:t> = </a:t>
            </a:r>
            <a:r>
              <a:rPr lang="es-ES" sz="600" dirty="0" err="1"/>
              <a:t>mmi.add_ref</a:t>
            </a:r>
            <a:r>
              <a:rPr lang="es-ES" sz="600" dirty="0"/>
              <a:t>(</a:t>
            </a:r>
            <a:r>
              <a:rPr lang="es-ES" sz="600" dirty="0" err="1"/>
              <a:t>guia_r</a:t>
            </a:r>
            <a:r>
              <a:rPr lang="es-ES" sz="600" dirty="0"/>
              <a:t>).</a:t>
            </a:r>
            <a:r>
              <a:rPr lang="es-ES" sz="600" dirty="0" err="1"/>
              <a:t>movex</a:t>
            </a:r>
            <a:r>
              <a:rPr lang="es-ES" sz="600" dirty="0"/>
              <a:t>(</a:t>
            </a:r>
            <a:r>
              <a:rPr lang="es-ES" sz="600" dirty="0" err="1"/>
              <a:t>longitud_mmi</a:t>
            </a:r>
            <a:r>
              <a:rPr lang="es-ES" sz="600" dirty="0"/>
              <a:t>).</a:t>
            </a:r>
            <a:r>
              <a:rPr lang="es-ES" sz="600" dirty="0" err="1"/>
              <a:t>movey</a:t>
            </a:r>
            <a:r>
              <a:rPr lang="es-ES" sz="600" dirty="0"/>
              <a:t>(-</a:t>
            </a:r>
            <a:r>
              <a:rPr lang="es-ES" sz="600" dirty="0" err="1"/>
              <a:t>pos_y</a:t>
            </a:r>
            <a:r>
              <a:rPr lang="es-ES" sz="600" dirty="0"/>
              <a:t>)</a:t>
            </a:r>
          </a:p>
          <a:p>
            <a:r>
              <a:rPr lang="es-ES" sz="600" dirty="0"/>
              <a:t>    </a:t>
            </a:r>
          </a:p>
          <a:p>
            <a:r>
              <a:rPr lang="es-ES" sz="600" dirty="0"/>
              <a:t>    </a:t>
            </a:r>
            <a:r>
              <a:rPr lang="es-ES" sz="600" dirty="0" err="1"/>
              <a:t>mmi.add_port</a:t>
            </a:r>
            <a:r>
              <a:rPr lang="es-ES" sz="600" dirty="0"/>
              <a:t>("</a:t>
            </a:r>
            <a:r>
              <a:rPr lang="es-ES" sz="600" dirty="0" err="1"/>
              <a:t>in_top</a:t>
            </a:r>
            <a:r>
              <a:rPr lang="es-ES" sz="600" dirty="0"/>
              <a:t>", </a:t>
            </a:r>
            <a:r>
              <a:rPr lang="es-ES" sz="600" dirty="0" err="1"/>
              <a:t>port</a:t>
            </a:r>
            <a:r>
              <a:rPr lang="es-ES" sz="600" dirty="0"/>
              <a:t>=</a:t>
            </a:r>
            <a:r>
              <a:rPr lang="es-ES" sz="600" dirty="0" err="1"/>
              <a:t>it.ports</a:t>
            </a:r>
            <a:r>
              <a:rPr lang="es-ES" sz="600" dirty="0"/>
              <a:t>["o1"])</a:t>
            </a:r>
          </a:p>
          <a:p>
            <a:r>
              <a:rPr lang="es-ES" sz="600" dirty="0"/>
              <a:t>    </a:t>
            </a:r>
            <a:r>
              <a:rPr lang="es-ES" sz="600" dirty="0" err="1"/>
              <a:t>mmi.add_port</a:t>
            </a:r>
            <a:r>
              <a:rPr lang="es-ES" sz="600" dirty="0"/>
              <a:t>("</a:t>
            </a:r>
            <a:r>
              <a:rPr lang="es-ES" sz="600" dirty="0" err="1"/>
              <a:t>in_bot</a:t>
            </a:r>
            <a:r>
              <a:rPr lang="es-ES" sz="600" dirty="0"/>
              <a:t>", </a:t>
            </a:r>
            <a:r>
              <a:rPr lang="es-ES" sz="600" dirty="0" err="1"/>
              <a:t>port</a:t>
            </a:r>
            <a:r>
              <a:rPr lang="es-ES" sz="600" dirty="0"/>
              <a:t>=</a:t>
            </a:r>
            <a:r>
              <a:rPr lang="es-ES" sz="600" dirty="0" err="1"/>
              <a:t>ib.ports</a:t>
            </a:r>
            <a:r>
              <a:rPr lang="es-ES" sz="600" dirty="0"/>
              <a:t>["o1"])</a:t>
            </a:r>
          </a:p>
          <a:p>
            <a:r>
              <a:rPr lang="es-ES" sz="600" dirty="0"/>
              <a:t>    </a:t>
            </a:r>
            <a:r>
              <a:rPr lang="es-ES" sz="600" dirty="0" err="1"/>
              <a:t>mmi.add_port</a:t>
            </a:r>
            <a:r>
              <a:rPr lang="es-ES" sz="600" dirty="0"/>
              <a:t>("</a:t>
            </a:r>
            <a:r>
              <a:rPr lang="es-ES" sz="600" dirty="0" err="1"/>
              <a:t>out_top</a:t>
            </a:r>
            <a:r>
              <a:rPr lang="es-ES" sz="600" dirty="0"/>
              <a:t>", </a:t>
            </a:r>
            <a:r>
              <a:rPr lang="es-ES" sz="600" dirty="0" err="1"/>
              <a:t>port</a:t>
            </a:r>
            <a:r>
              <a:rPr lang="es-ES" sz="600" dirty="0"/>
              <a:t>=</a:t>
            </a:r>
            <a:r>
              <a:rPr lang="es-ES" sz="600" dirty="0" err="1"/>
              <a:t>ot.ports</a:t>
            </a:r>
            <a:r>
              <a:rPr lang="es-ES" sz="600" dirty="0"/>
              <a:t>["o2"])</a:t>
            </a:r>
          </a:p>
          <a:p>
            <a:r>
              <a:rPr lang="es-ES" sz="600" dirty="0"/>
              <a:t>    </a:t>
            </a:r>
            <a:r>
              <a:rPr lang="es-ES" sz="600" dirty="0" err="1"/>
              <a:t>mmi.add_port</a:t>
            </a:r>
            <a:r>
              <a:rPr lang="es-ES" sz="600" dirty="0"/>
              <a:t>("</a:t>
            </a:r>
            <a:r>
              <a:rPr lang="es-ES" sz="600" dirty="0" err="1"/>
              <a:t>out_bot</a:t>
            </a:r>
            <a:r>
              <a:rPr lang="es-ES" sz="600" dirty="0"/>
              <a:t>", </a:t>
            </a:r>
            <a:r>
              <a:rPr lang="es-ES" sz="600" dirty="0" err="1"/>
              <a:t>port</a:t>
            </a:r>
            <a:r>
              <a:rPr lang="es-ES" sz="600" dirty="0"/>
              <a:t>=</a:t>
            </a:r>
            <a:r>
              <a:rPr lang="es-ES" sz="600" dirty="0" err="1"/>
              <a:t>ob.ports</a:t>
            </a:r>
            <a:r>
              <a:rPr lang="es-ES" sz="600" dirty="0"/>
              <a:t>["o2"])</a:t>
            </a:r>
          </a:p>
          <a:p>
            <a:r>
              <a:rPr lang="es-ES" sz="600" dirty="0"/>
              <a:t>    </a:t>
            </a:r>
            <a:r>
              <a:rPr lang="es-ES" sz="600" dirty="0" err="1"/>
              <a:t>return</a:t>
            </a:r>
            <a:r>
              <a:rPr lang="es-ES" sz="600" dirty="0"/>
              <a:t> </a:t>
            </a:r>
            <a:r>
              <a:rPr lang="es-ES" sz="600" dirty="0" err="1"/>
              <a:t>mmi</a:t>
            </a:r>
            <a:endParaRPr lang="es-ES" sz="600" dirty="0"/>
          </a:p>
          <a:p>
            <a:br>
              <a:rPr lang="es-ES" sz="600" dirty="0"/>
            </a:br>
            <a:endParaRPr lang="es-ES" sz="600" dirty="0"/>
          </a:p>
          <a:p>
            <a:r>
              <a:rPr lang="es-ES" sz="600" dirty="0"/>
              <a:t># =======================================================================</a:t>
            </a:r>
          </a:p>
          <a:p>
            <a:r>
              <a:rPr lang="es-ES" sz="600" dirty="0"/>
              <a:t># 2. CONSTRUCCIÓN DEL MZI (Topografía image_e153d4)</a:t>
            </a:r>
          </a:p>
          <a:p>
            <a:r>
              <a:rPr lang="es-ES" sz="600" dirty="0"/>
              <a:t># =======================================================================</a:t>
            </a:r>
          </a:p>
          <a:p>
            <a:r>
              <a:rPr lang="es-ES" sz="600" dirty="0" err="1"/>
              <a:t>mzi</a:t>
            </a:r>
            <a:r>
              <a:rPr lang="es-ES" sz="600" dirty="0"/>
              <a:t> = </a:t>
            </a:r>
            <a:r>
              <a:rPr lang="es-ES" sz="600" dirty="0" err="1"/>
              <a:t>gf.Component</a:t>
            </a:r>
            <a:r>
              <a:rPr lang="es-ES" sz="600" dirty="0"/>
              <a:t>("MZI_DeltaL_100")</a:t>
            </a:r>
          </a:p>
          <a:p>
            <a:br>
              <a:rPr lang="es-ES" sz="600" dirty="0"/>
            </a:br>
            <a:endParaRPr lang="es-ES" sz="600" dirty="0"/>
          </a:p>
          <a:p>
            <a:r>
              <a:rPr lang="es-ES" sz="600" dirty="0" err="1"/>
              <a:t>capa_base</a:t>
            </a:r>
            <a:r>
              <a:rPr lang="es-ES" sz="600" dirty="0"/>
              <a:t> = </a:t>
            </a:r>
            <a:r>
              <a:rPr lang="es-ES" sz="600" dirty="0" err="1"/>
              <a:t>gf.components.straight</a:t>
            </a:r>
            <a:r>
              <a:rPr lang="es-ES" sz="600" dirty="0"/>
              <a:t>().</a:t>
            </a:r>
            <a:r>
              <a:rPr lang="es-ES" sz="600" dirty="0" err="1"/>
              <a:t>ports</a:t>
            </a:r>
            <a:r>
              <a:rPr lang="es-ES" sz="600" dirty="0"/>
              <a:t>["o1"].</a:t>
            </a:r>
            <a:r>
              <a:rPr lang="es-ES" sz="600" dirty="0" err="1"/>
              <a:t>layer</a:t>
            </a:r>
            <a:endParaRPr lang="es-ES" sz="600" dirty="0"/>
          </a:p>
          <a:p>
            <a:r>
              <a:rPr lang="es-ES" sz="600" dirty="0" err="1"/>
              <a:t>width_wg</a:t>
            </a:r>
            <a:r>
              <a:rPr lang="es-ES" sz="600" dirty="0"/>
              <a:t> = 1.2</a:t>
            </a:r>
          </a:p>
          <a:p>
            <a:r>
              <a:rPr lang="es-ES" sz="600" dirty="0" err="1"/>
              <a:t>seccion_acceso</a:t>
            </a:r>
            <a:r>
              <a:rPr lang="es-ES" sz="600" dirty="0"/>
              <a:t> = </a:t>
            </a:r>
            <a:r>
              <a:rPr lang="es-ES" sz="600" dirty="0" err="1"/>
              <a:t>gf.cross_section.cross_section</a:t>
            </a:r>
            <a:r>
              <a:rPr lang="es-ES" sz="600" dirty="0"/>
              <a:t>(</a:t>
            </a:r>
            <a:r>
              <a:rPr lang="es-ES" sz="600" dirty="0" err="1"/>
              <a:t>width</a:t>
            </a:r>
            <a:r>
              <a:rPr lang="es-ES" sz="600" dirty="0"/>
              <a:t>=</a:t>
            </a:r>
            <a:r>
              <a:rPr lang="es-ES" sz="600" dirty="0" err="1"/>
              <a:t>width_wg</a:t>
            </a:r>
            <a:r>
              <a:rPr lang="es-ES" sz="600" dirty="0"/>
              <a:t>, </a:t>
            </a:r>
            <a:r>
              <a:rPr lang="es-ES" sz="600" dirty="0" err="1"/>
              <a:t>layer</a:t>
            </a:r>
            <a:r>
              <a:rPr lang="es-ES" sz="600" dirty="0"/>
              <a:t>=</a:t>
            </a:r>
            <a:r>
              <a:rPr lang="es-ES" sz="600" dirty="0" err="1"/>
              <a:t>capa_base</a:t>
            </a:r>
            <a:r>
              <a:rPr lang="es-ES" sz="600" dirty="0"/>
              <a:t>)</a:t>
            </a:r>
          </a:p>
          <a:p>
            <a:r>
              <a:rPr lang="es-ES" sz="600" dirty="0" err="1"/>
              <a:t>layer_heater</a:t>
            </a:r>
            <a:r>
              <a:rPr lang="es-ES" sz="600" dirty="0"/>
              <a:t> = "HEATER"</a:t>
            </a:r>
          </a:p>
          <a:p>
            <a:br>
              <a:rPr lang="es-ES" sz="600" dirty="0"/>
            </a:br>
            <a:endParaRPr lang="es-ES" sz="600" dirty="0"/>
          </a:p>
          <a:p>
            <a:r>
              <a:rPr lang="es-ES" sz="600" dirty="0"/>
              <a:t># Instanciamos Splitter y </a:t>
            </a:r>
            <a:r>
              <a:rPr lang="es-ES" sz="600" dirty="0" err="1"/>
              <a:t>Combiner</a:t>
            </a:r>
            <a:r>
              <a:rPr lang="es-ES" sz="600" dirty="0"/>
              <a:t> usando nuestro bloque MMI</a:t>
            </a:r>
          </a:p>
          <a:p>
            <a:r>
              <a:rPr lang="es-ES" sz="600" dirty="0" err="1"/>
              <a:t>splitter</a:t>
            </a:r>
            <a:r>
              <a:rPr lang="es-ES" sz="600" dirty="0"/>
              <a:t> = </a:t>
            </a:r>
            <a:r>
              <a:rPr lang="es-ES" sz="600" dirty="0" err="1"/>
              <a:t>mzi.add_ref</a:t>
            </a:r>
            <a:r>
              <a:rPr lang="es-ES" sz="600" dirty="0"/>
              <a:t>(mmi_2x2_base())</a:t>
            </a:r>
          </a:p>
          <a:p>
            <a:r>
              <a:rPr lang="es-ES" sz="600" dirty="0" err="1"/>
              <a:t>combiner</a:t>
            </a:r>
            <a:r>
              <a:rPr lang="es-ES" sz="600" dirty="0"/>
              <a:t> = </a:t>
            </a:r>
            <a:r>
              <a:rPr lang="es-ES" sz="600" dirty="0" err="1"/>
              <a:t>mzi.add_ref</a:t>
            </a:r>
            <a:r>
              <a:rPr lang="es-ES" sz="600" dirty="0"/>
              <a:t>(mmi_2x2_base())</a:t>
            </a:r>
          </a:p>
          <a:p>
            <a:br>
              <a:rPr lang="es-ES" sz="600" dirty="0"/>
            </a:br>
            <a:endParaRPr lang="es-ES" sz="600" dirty="0"/>
          </a:p>
          <a:p>
            <a:r>
              <a:rPr lang="es-ES" sz="600" dirty="0"/>
              <a:t># Parámetros del interferómetro y de los moduladores térmicos</a:t>
            </a:r>
          </a:p>
          <a:p>
            <a:r>
              <a:rPr lang="es-ES" sz="600" dirty="0" err="1"/>
              <a:t>delta_l</a:t>
            </a:r>
            <a:r>
              <a:rPr lang="es-ES" sz="600" dirty="0"/>
              <a:t> = 0         # Desequilibrio total deseado (</a:t>
            </a:r>
            <a:r>
              <a:rPr lang="es-ES" sz="600" dirty="0" err="1"/>
              <a:t>um</a:t>
            </a:r>
            <a:r>
              <a:rPr lang="es-ES" sz="600" dirty="0"/>
              <a:t>)</a:t>
            </a:r>
          </a:p>
          <a:p>
            <a:r>
              <a:rPr lang="es-ES" sz="600" dirty="0" err="1"/>
              <a:t>radius</a:t>
            </a:r>
            <a:r>
              <a:rPr lang="es-ES" sz="600" dirty="0"/>
              <a:t> = 10.0              # Radio de curvatura (</a:t>
            </a:r>
            <a:r>
              <a:rPr lang="es-ES" sz="600" dirty="0" err="1"/>
              <a:t>um</a:t>
            </a:r>
            <a:r>
              <a:rPr lang="es-ES" sz="600" dirty="0"/>
              <a:t>)</a:t>
            </a:r>
          </a:p>
          <a:p>
            <a:r>
              <a:rPr lang="es-ES" sz="600" dirty="0" err="1"/>
              <a:t>L_h</a:t>
            </a:r>
            <a:r>
              <a:rPr lang="es-ES" sz="600" dirty="0"/>
              <a:t> = 40.0                 # Longitud de la zona recta activa horizontal (</a:t>
            </a:r>
            <a:r>
              <a:rPr lang="es-ES" sz="600" dirty="0" err="1"/>
              <a:t>um</a:t>
            </a:r>
            <a:r>
              <a:rPr lang="es-ES" sz="600" dirty="0"/>
              <a:t>)</a:t>
            </a:r>
          </a:p>
          <a:p>
            <a:r>
              <a:rPr lang="es-ES" sz="600" dirty="0" err="1"/>
              <a:t>ancho_tuner</a:t>
            </a:r>
            <a:r>
              <a:rPr lang="es-ES" sz="600" dirty="0"/>
              <a:t> = 2.0          # Ancho de las pistas de metal (</a:t>
            </a:r>
            <a:r>
              <a:rPr lang="es-ES" sz="600" dirty="0" err="1"/>
              <a:t>um</a:t>
            </a:r>
            <a:r>
              <a:rPr lang="es-ES" sz="600" dirty="0"/>
              <a:t>)</a:t>
            </a:r>
          </a:p>
          <a:p>
            <a:r>
              <a:rPr lang="es-ES" sz="600" dirty="0" err="1"/>
              <a:t>gap_tuner</a:t>
            </a:r>
            <a:r>
              <a:rPr lang="es-ES" sz="600" dirty="0"/>
              <a:t> = 1.5            # Espacio de aislamiento para que el metal no toque la guía (</a:t>
            </a:r>
            <a:r>
              <a:rPr lang="es-ES" sz="600" dirty="0" err="1"/>
              <a:t>um</a:t>
            </a:r>
            <a:r>
              <a:rPr lang="es-ES" sz="600" dirty="0"/>
              <a:t>)</a:t>
            </a:r>
          </a:p>
          <a:p>
            <a:br>
              <a:rPr lang="es-ES" sz="600" dirty="0"/>
            </a:br>
            <a:endParaRPr lang="es-ES" sz="600" dirty="0"/>
          </a:p>
          <a:p>
            <a:r>
              <a:rPr lang="es-ES" sz="600" dirty="0"/>
              <a:t># Moldes geométricos base</a:t>
            </a:r>
          </a:p>
          <a:p>
            <a:r>
              <a:rPr lang="es-ES" sz="600" dirty="0"/>
              <a:t>b90 = </a:t>
            </a:r>
            <a:r>
              <a:rPr lang="es-ES" sz="600" dirty="0" err="1"/>
              <a:t>gf.components.bend_circular</a:t>
            </a:r>
            <a:r>
              <a:rPr lang="es-ES" sz="600" dirty="0"/>
              <a:t>(</a:t>
            </a:r>
            <a:r>
              <a:rPr lang="es-ES" sz="600" dirty="0" err="1"/>
              <a:t>radius</a:t>
            </a:r>
            <a:r>
              <a:rPr lang="es-ES" sz="600" dirty="0"/>
              <a:t>=</a:t>
            </a:r>
            <a:r>
              <a:rPr lang="es-ES" sz="600" dirty="0" err="1"/>
              <a:t>radius</a:t>
            </a:r>
            <a:r>
              <a:rPr lang="es-ES" sz="600" dirty="0"/>
              <a:t>, </a:t>
            </a:r>
            <a:r>
              <a:rPr lang="es-ES" sz="600" dirty="0" err="1"/>
              <a:t>cross_section</a:t>
            </a:r>
            <a:r>
              <a:rPr lang="es-ES" sz="600" dirty="0"/>
              <a:t>=</a:t>
            </a:r>
            <a:r>
              <a:rPr lang="es-ES" sz="600" dirty="0" err="1"/>
              <a:t>seccion_acceso</a:t>
            </a:r>
            <a:r>
              <a:rPr lang="es-ES" sz="600" dirty="0"/>
              <a:t>)</a:t>
            </a:r>
          </a:p>
          <a:p>
            <a:r>
              <a:rPr lang="es-ES" sz="600" dirty="0" err="1"/>
              <a:t>guia_horizontal</a:t>
            </a:r>
            <a:r>
              <a:rPr lang="es-ES" sz="600" dirty="0"/>
              <a:t> = </a:t>
            </a:r>
            <a:r>
              <a:rPr lang="es-ES" sz="600" dirty="0" err="1"/>
              <a:t>gf.components.straight</a:t>
            </a:r>
            <a:r>
              <a:rPr lang="es-ES" sz="600" dirty="0"/>
              <a:t>(</a:t>
            </a:r>
            <a:r>
              <a:rPr lang="es-ES" sz="600" dirty="0" err="1"/>
              <a:t>length</a:t>
            </a:r>
            <a:r>
              <a:rPr lang="es-ES" sz="600" dirty="0"/>
              <a:t>=</a:t>
            </a:r>
            <a:r>
              <a:rPr lang="es-ES" sz="600" dirty="0" err="1"/>
              <a:t>L_h</a:t>
            </a:r>
            <a:r>
              <a:rPr lang="es-ES" sz="600" dirty="0"/>
              <a:t>, </a:t>
            </a:r>
            <a:r>
              <a:rPr lang="es-ES" sz="600" dirty="0" err="1"/>
              <a:t>cross_section</a:t>
            </a:r>
            <a:r>
              <a:rPr lang="es-ES" sz="600" dirty="0"/>
              <a:t>=</a:t>
            </a:r>
            <a:r>
              <a:rPr lang="es-ES" sz="600" dirty="0" err="1"/>
              <a:t>seccion_acceso</a:t>
            </a:r>
            <a:r>
              <a:rPr lang="es-ES" sz="600" dirty="0"/>
              <a:t>)</a:t>
            </a:r>
          </a:p>
          <a:p>
            <a:r>
              <a:rPr lang="es-ES" sz="600" dirty="0" err="1"/>
              <a:t>guia_vertical_dL</a:t>
            </a:r>
            <a:r>
              <a:rPr lang="es-ES" sz="600" dirty="0"/>
              <a:t> = </a:t>
            </a:r>
            <a:r>
              <a:rPr lang="es-ES" sz="600" dirty="0" err="1"/>
              <a:t>gf.components.straight</a:t>
            </a:r>
            <a:r>
              <a:rPr lang="es-ES" sz="600" dirty="0"/>
              <a:t>(</a:t>
            </a:r>
            <a:r>
              <a:rPr lang="es-ES" sz="600" dirty="0" err="1"/>
              <a:t>length</a:t>
            </a:r>
            <a:r>
              <a:rPr lang="es-ES" sz="600" dirty="0"/>
              <a:t>=</a:t>
            </a:r>
            <a:r>
              <a:rPr lang="es-ES" sz="600" dirty="0" err="1"/>
              <a:t>delta_l</a:t>
            </a:r>
            <a:r>
              <a:rPr lang="es-ES" sz="600" dirty="0"/>
              <a:t> / 2.0, </a:t>
            </a:r>
            <a:r>
              <a:rPr lang="es-ES" sz="600" dirty="0" err="1"/>
              <a:t>cross_section</a:t>
            </a:r>
            <a:r>
              <a:rPr lang="es-ES" sz="600" dirty="0"/>
              <a:t>=</a:t>
            </a:r>
            <a:r>
              <a:rPr lang="es-ES" sz="600" dirty="0" err="1"/>
              <a:t>seccion_acceso</a:t>
            </a:r>
            <a:r>
              <a:rPr lang="es-ES" sz="600" dirty="0"/>
              <a:t>)</a:t>
            </a:r>
          </a:p>
          <a:p>
            <a:br>
              <a:rPr lang="es-ES" sz="600" dirty="0"/>
            </a:br>
            <a:br>
              <a:rPr lang="es-ES" sz="600" dirty="0"/>
            </a:br>
            <a:endParaRPr lang="es-ES" sz="600" dirty="0"/>
          </a:p>
          <a:p>
            <a:r>
              <a:rPr lang="es-ES" sz="600" dirty="0"/>
              <a:t># --- BRAZO INFERIOR (Camino de referencia corto) ---</a:t>
            </a:r>
          </a:p>
          <a:p>
            <a:r>
              <a:rPr lang="es-ES" sz="600" dirty="0"/>
              <a:t>b1_bot = </a:t>
            </a:r>
            <a:r>
              <a:rPr lang="es-ES" sz="600" dirty="0" err="1"/>
              <a:t>mzi.add_ref</a:t>
            </a:r>
            <a:r>
              <a:rPr lang="es-ES" sz="600" dirty="0"/>
              <a:t>(b90)</a:t>
            </a:r>
          </a:p>
          <a:p>
            <a:r>
              <a:rPr lang="es-ES" sz="600" dirty="0"/>
              <a:t>b1_bot.mirror_y()</a:t>
            </a:r>
          </a:p>
          <a:p>
            <a:r>
              <a:rPr lang="es-ES" sz="600" dirty="0"/>
              <a:t>b1_bot.connect("o1", </a:t>
            </a:r>
            <a:r>
              <a:rPr lang="es-ES" sz="600" dirty="0" err="1"/>
              <a:t>splitter.ports</a:t>
            </a:r>
            <a:r>
              <a:rPr lang="es-ES" sz="600" dirty="0"/>
              <a:t>["</a:t>
            </a:r>
            <a:r>
              <a:rPr lang="es-ES" sz="600" dirty="0" err="1"/>
              <a:t>out_bot</a:t>
            </a:r>
            <a:r>
              <a:rPr lang="es-ES" sz="600" dirty="0"/>
              <a:t>"])</a:t>
            </a:r>
          </a:p>
          <a:p>
            <a:br>
              <a:rPr lang="es-ES" sz="600" dirty="0"/>
            </a:br>
            <a:endParaRPr lang="es-ES" sz="600" dirty="0"/>
          </a:p>
          <a:p>
            <a:r>
              <a:rPr lang="es-ES" sz="600" dirty="0"/>
              <a:t>b2_bot = </a:t>
            </a:r>
            <a:r>
              <a:rPr lang="es-ES" sz="600" dirty="0" err="1"/>
              <a:t>mzi.add_ref</a:t>
            </a:r>
            <a:r>
              <a:rPr lang="es-ES" sz="600" dirty="0"/>
              <a:t>(b90)</a:t>
            </a:r>
          </a:p>
          <a:p>
            <a:r>
              <a:rPr lang="es-ES" sz="600" dirty="0"/>
              <a:t>b2_bot.connect("o1", b1_bot.ports["o2"])</a:t>
            </a:r>
          </a:p>
          <a:p>
            <a:br>
              <a:rPr lang="es-ES" sz="600" dirty="0"/>
            </a:br>
            <a:endParaRPr lang="es-ES" sz="600" dirty="0"/>
          </a:p>
          <a:p>
            <a:r>
              <a:rPr lang="es-ES" sz="600" dirty="0" err="1"/>
              <a:t>h_bot</a:t>
            </a:r>
            <a:r>
              <a:rPr lang="es-ES" sz="600" dirty="0"/>
              <a:t> = </a:t>
            </a:r>
            <a:r>
              <a:rPr lang="es-ES" sz="600" dirty="0" err="1"/>
              <a:t>mzi.add_ref</a:t>
            </a:r>
            <a:r>
              <a:rPr lang="es-ES" sz="600" dirty="0"/>
              <a:t>(</a:t>
            </a:r>
            <a:r>
              <a:rPr lang="es-ES" sz="600" dirty="0" err="1"/>
              <a:t>guia_horizontal</a:t>
            </a:r>
            <a:r>
              <a:rPr lang="es-ES" sz="600" dirty="0"/>
              <a:t>)</a:t>
            </a:r>
          </a:p>
          <a:p>
            <a:r>
              <a:rPr lang="es-ES" sz="600" dirty="0" err="1"/>
              <a:t>h_bot.connect</a:t>
            </a:r>
            <a:r>
              <a:rPr lang="es-ES" sz="600" dirty="0"/>
              <a:t>("o1", b2_bot.ports["o2"])</a:t>
            </a:r>
          </a:p>
          <a:p>
            <a:br>
              <a:rPr lang="es-ES" sz="600" dirty="0"/>
            </a:br>
            <a:endParaRPr lang="es-ES" sz="600" dirty="0"/>
          </a:p>
          <a:p>
            <a:r>
              <a:rPr lang="es-ES" sz="600" dirty="0"/>
              <a:t>b3_bot = </a:t>
            </a:r>
            <a:r>
              <a:rPr lang="es-ES" sz="600" dirty="0" err="1"/>
              <a:t>mzi.add_ref</a:t>
            </a:r>
            <a:r>
              <a:rPr lang="es-ES" sz="600" dirty="0"/>
              <a:t>(b90)</a:t>
            </a:r>
          </a:p>
          <a:p>
            <a:r>
              <a:rPr lang="es-ES" sz="600" dirty="0"/>
              <a:t>b3_bot.connect("o1", </a:t>
            </a:r>
            <a:r>
              <a:rPr lang="es-ES" sz="600" dirty="0" err="1"/>
              <a:t>h_bot.ports</a:t>
            </a:r>
            <a:r>
              <a:rPr lang="es-ES" sz="600" dirty="0"/>
              <a:t>["o2"])</a:t>
            </a:r>
          </a:p>
          <a:p>
            <a:br>
              <a:rPr lang="es-ES" sz="600" dirty="0"/>
            </a:br>
            <a:endParaRPr lang="es-ES" sz="600" dirty="0"/>
          </a:p>
          <a:p>
            <a:r>
              <a:rPr lang="es-ES" sz="600" dirty="0"/>
              <a:t>b4_bot = </a:t>
            </a:r>
            <a:r>
              <a:rPr lang="es-ES" sz="600" dirty="0" err="1"/>
              <a:t>mzi.add_ref</a:t>
            </a:r>
            <a:r>
              <a:rPr lang="es-ES" sz="600" dirty="0"/>
              <a:t>(b90)</a:t>
            </a:r>
          </a:p>
          <a:p>
            <a:r>
              <a:rPr lang="es-ES" sz="600" dirty="0"/>
              <a:t>b4_bot.mirror_y()</a:t>
            </a:r>
          </a:p>
          <a:p>
            <a:r>
              <a:rPr lang="es-ES" sz="600" dirty="0"/>
              <a:t>b4_bot.connect("o1", b3_bot.ports["o2"])</a:t>
            </a:r>
          </a:p>
          <a:p>
            <a:br>
              <a:rPr lang="es-ES" sz="600" dirty="0"/>
            </a:br>
            <a:endParaRPr lang="es-ES" sz="600" dirty="0"/>
          </a:p>
          <a:p>
            <a:r>
              <a:rPr lang="es-ES" sz="600" dirty="0"/>
              <a:t># Fijamos la posición del </a:t>
            </a:r>
            <a:r>
              <a:rPr lang="es-ES" sz="600" dirty="0" err="1"/>
              <a:t>combiner</a:t>
            </a:r>
            <a:r>
              <a:rPr lang="es-ES" sz="600" dirty="0"/>
              <a:t> usando este brazo inferior</a:t>
            </a:r>
          </a:p>
          <a:p>
            <a:r>
              <a:rPr lang="es-ES" sz="600" dirty="0" err="1"/>
              <a:t>combiner.connect</a:t>
            </a:r>
            <a:r>
              <a:rPr lang="es-ES" sz="600" dirty="0"/>
              <a:t>("</a:t>
            </a:r>
            <a:r>
              <a:rPr lang="es-ES" sz="600" dirty="0" err="1"/>
              <a:t>in_bot</a:t>
            </a:r>
            <a:r>
              <a:rPr lang="es-ES" sz="600" dirty="0"/>
              <a:t>", b4_bot.ports["o2"])</a:t>
            </a:r>
          </a:p>
          <a:p>
            <a:br>
              <a:rPr lang="es-ES" sz="600" dirty="0"/>
            </a:br>
            <a:br>
              <a:rPr lang="es-ES" sz="600" dirty="0"/>
            </a:br>
            <a:endParaRPr lang="es-ES" sz="600" dirty="0"/>
          </a:p>
          <a:p>
            <a:r>
              <a:rPr lang="es-ES" sz="600" dirty="0"/>
              <a:t># --- BRAZO SUPERIOR (Camino largo con tramos </a:t>
            </a:r>
            <a:r>
              <a:rPr lang="es-ES" sz="600" dirty="0" err="1"/>
              <a:t>DeltaL</a:t>
            </a:r>
            <a:r>
              <a:rPr lang="es-ES" sz="600" dirty="0"/>
              <a:t>/2) ---</a:t>
            </a:r>
          </a:p>
          <a:p>
            <a:r>
              <a:rPr lang="es-ES" sz="600" dirty="0"/>
              <a:t>b1_top = </a:t>
            </a:r>
            <a:r>
              <a:rPr lang="es-ES" sz="600" dirty="0" err="1"/>
              <a:t>mzi.add_ref</a:t>
            </a:r>
            <a:r>
              <a:rPr lang="es-ES" sz="600" dirty="0"/>
              <a:t>(b90)</a:t>
            </a:r>
          </a:p>
          <a:p>
            <a:r>
              <a:rPr lang="es-ES" sz="600" dirty="0"/>
              <a:t>b1_top.connect("o1", </a:t>
            </a:r>
            <a:r>
              <a:rPr lang="es-ES" sz="600" dirty="0" err="1"/>
              <a:t>splitter.ports</a:t>
            </a:r>
            <a:r>
              <a:rPr lang="es-ES" sz="600" dirty="0"/>
              <a:t>["</a:t>
            </a:r>
            <a:r>
              <a:rPr lang="es-ES" sz="600" dirty="0" err="1"/>
              <a:t>out_top</a:t>
            </a:r>
            <a:r>
              <a:rPr lang="es-ES" sz="600" dirty="0"/>
              <a:t>"])</a:t>
            </a:r>
          </a:p>
          <a:p>
            <a:br>
              <a:rPr lang="es-ES" sz="600" dirty="0"/>
            </a:br>
            <a:endParaRPr lang="es-ES" sz="600" dirty="0"/>
          </a:p>
          <a:p>
            <a:r>
              <a:rPr lang="es-ES" sz="600" dirty="0"/>
              <a:t># Tramo vertical de subida (aporta la primera mitad del desfase: Delta L / 2)</a:t>
            </a:r>
          </a:p>
          <a:p>
            <a:r>
              <a:rPr lang="es-ES" sz="600" dirty="0"/>
              <a:t>v1_top = </a:t>
            </a:r>
            <a:r>
              <a:rPr lang="es-ES" sz="600" dirty="0" err="1"/>
              <a:t>mzi.add_ref</a:t>
            </a:r>
            <a:r>
              <a:rPr lang="es-ES" sz="600" dirty="0"/>
              <a:t>(</a:t>
            </a:r>
            <a:r>
              <a:rPr lang="es-ES" sz="600" dirty="0" err="1"/>
              <a:t>guia_vertical_dL</a:t>
            </a:r>
            <a:r>
              <a:rPr lang="es-ES" sz="600" dirty="0"/>
              <a:t>)</a:t>
            </a:r>
          </a:p>
          <a:p>
            <a:r>
              <a:rPr lang="es-ES" sz="600" dirty="0"/>
              <a:t>v1_top.connect("o1", b1_top.ports["o2"])</a:t>
            </a:r>
          </a:p>
          <a:p>
            <a:br>
              <a:rPr lang="es-ES" sz="600" dirty="0"/>
            </a:br>
            <a:endParaRPr lang="es-ES" sz="600" dirty="0"/>
          </a:p>
          <a:p>
            <a:r>
              <a:rPr lang="es-ES" sz="600" dirty="0"/>
              <a:t>b2_top = </a:t>
            </a:r>
            <a:r>
              <a:rPr lang="es-ES" sz="600" dirty="0" err="1"/>
              <a:t>mzi.add_ref</a:t>
            </a:r>
            <a:r>
              <a:rPr lang="es-ES" sz="600" dirty="0"/>
              <a:t>(b90)</a:t>
            </a:r>
          </a:p>
          <a:p>
            <a:r>
              <a:rPr lang="es-ES" sz="600" dirty="0"/>
              <a:t>b2_top.mirror_y()</a:t>
            </a:r>
          </a:p>
          <a:p>
            <a:r>
              <a:rPr lang="es-ES" sz="600" dirty="0"/>
              <a:t>b2_top.connect("o1", v1_top.ports["o2"])</a:t>
            </a:r>
          </a:p>
          <a:p>
            <a:br>
              <a:rPr lang="es-ES" sz="600" dirty="0"/>
            </a:br>
            <a:endParaRPr lang="es-ES" sz="600" dirty="0"/>
          </a:p>
          <a:p>
            <a:r>
              <a:rPr lang="es-ES" sz="600" dirty="0"/>
              <a:t># Tramo horizontal superior (Misma longitud exacta </a:t>
            </a:r>
            <a:r>
              <a:rPr lang="es-ES" sz="600" dirty="0" err="1"/>
              <a:t>L_h</a:t>
            </a:r>
            <a:r>
              <a:rPr lang="es-ES" sz="600" dirty="0"/>
              <a:t> que el inferior)</a:t>
            </a:r>
          </a:p>
          <a:p>
            <a:r>
              <a:rPr lang="es-ES" sz="600" dirty="0" err="1"/>
              <a:t>h_top</a:t>
            </a:r>
            <a:r>
              <a:rPr lang="es-ES" sz="600" dirty="0"/>
              <a:t> = </a:t>
            </a:r>
            <a:r>
              <a:rPr lang="es-ES" sz="600" dirty="0" err="1"/>
              <a:t>mzi.add_ref</a:t>
            </a:r>
            <a:r>
              <a:rPr lang="es-ES" sz="600" dirty="0"/>
              <a:t>(</a:t>
            </a:r>
            <a:r>
              <a:rPr lang="es-ES" sz="600" dirty="0" err="1"/>
              <a:t>guia_horizontal</a:t>
            </a:r>
            <a:r>
              <a:rPr lang="es-ES" sz="600" dirty="0"/>
              <a:t>)</a:t>
            </a:r>
          </a:p>
          <a:p>
            <a:r>
              <a:rPr lang="es-ES" sz="600" dirty="0" err="1"/>
              <a:t>h_top.connect</a:t>
            </a:r>
            <a:r>
              <a:rPr lang="es-ES" sz="600" dirty="0"/>
              <a:t>("o1", b2_top.ports["o2"])</a:t>
            </a:r>
          </a:p>
          <a:p>
            <a:br>
              <a:rPr lang="es-ES" sz="600" dirty="0"/>
            </a:br>
            <a:endParaRPr lang="es-ES" sz="600" dirty="0"/>
          </a:p>
          <a:p>
            <a:r>
              <a:rPr lang="es-ES" sz="600" dirty="0"/>
              <a:t>b3_top = </a:t>
            </a:r>
            <a:r>
              <a:rPr lang="es-ES" sz="600" dirty="0" err="1"/>
              <a:t>mzi.add_ref</a:t>
            </a:r>
            <a:r>
              <a:rPr lang="es-ES" sz="600" dirty="0"/>
              <a:t>(b90)</a:t>
            </a:r>
          </a:p>
          <a:p>
            <a:r>
              <a:rPr lang="es-ES" sz="600" dirty="0"/>
              <a:t>b3_top.mirror_y()</a:t>
            </a:r>
          </a:p>
          <a:p>
            <a:r>
              <a:rPr lang="es-ES" sz="600" dirty="0"/>
              <a:t>b3_top.connect("o1", </a:t>
            </a:r>
            <a:r>
              <a:rPr lang="es-ES" sz="600" dirty="0" err="1"/>
              <a:t>h_top.ports</a:t>
            </a:r>
            <a:r>
              <a:rPr lang="es-ES" sz="600" dirty="0"/>
              <a:t>["o2"])</a:t>
            </a:r>
          </a:p>
          <a:p>
            <a:br>
              <a:rPr lang="es-ES" sz="600" dirty="0"/>
            </a:br>
            <a:endParaRPr lang="es-ES" sz="600" dirty="0"/>
          </a:p>
          <a:p>
            <a:r>
              <a:rPr lang="es-ES" sz="600" dirty="0"/>
              <a:t># Tramo vertical de bajada (aporta la segunda mitad del desfase: Delta L / 2)</a:t>
            </a:r>
          </a:p>
          <a:p>
            <a:r>
              <a:rPr lang="es-ES" sz="600" dirty="0"/>
              <a:t>v2_top = </a:t>
            </a:r>
            <a:r>
              <a:rPr lang="es-ES" sz="600" dirty="0" err="1"/>
              <a:t>mzi.add_ref</a:t>
            </a:r>
            <a:r>
              <a:rPr lang="es-ES" sz="600" dirty="0"/>
              <a:t>(</a:t>
            </a:r>
            <a:r>
              <a:rPr lang="es-ES" sz="600" dirty="0" err="1"/>
              <a:t>guia_vertical_dL</a:t>
            </a:r>
            <a:r>
              <a:rPr lang="es-ES" sz="600" dirty="0"/>
              <a:t>)</a:t>
            </a:r>
          </a:p>
          <a:p>
            <a:r>
              <a:rPr lang="es-ES" sz="600" dirty="0"/>
              <a:t>v2_top.connect("o1", b3_top.ports["o2"])</a:t>
            </a:r>
          </a:p>
          <a:p>
            <a:br>
              <a:rPr lang="es-ES" sz="600" dirty="0"/>
            </a:br>
            <a:endParaRPr lang="es-ES" sz="600" dirty="0"/>
          </a:p>
          <a:p>
            <a:r>
              <a:rPr lang="es-ES" sz="600" dirty="0"/>
              <a:t>b4_top = </a:t>
            </a:r>
            <a:r>
              <a:rPr lang="es-ES" sz="600" dirty="0" err="1"/>
              <a:t>mzi.add_ref</a:t>
            </a:r>
            <a:r>
              <a:rPr lang="es-ES" sz="600" dirty="0"/>
              <a:t>(b90)</a:t>
            </a:r>
          </a:p>
          <a:p>
            <a:r>
              <a:rPr lang="es-ES" sz="600" dirty="0"/>
              <a:t>b4_top.connect("o1", v2_top.ports["o2"])</a:t>
            </a:r>
          </a:p>
          <a:p>
            <a:br>
              <a:rPr lang="es-ES" sz="600" dirty="0"/>
            </a:br>
            <a:endParaRPr lang="es-ES" sz="600" dirty="0"/>
          </a:p>
          <a:p>
            <a:r>
              <a:rPr lang="es-ES" sz="600" dirty="0"/>
              <a:t># =======================================================================</a:t>
            </a:r>
          </a:p>
          <a:p>
            <a:r>
              <a:rPr lang="es-ES" sz="600" dirty="0"/>
              <a:t># 3. PUERTOS GLOBALES DEL MZI</a:t>
            </a:r>
          </a:p>
          <a:p>
            <a:r>
              <a:rPr lang="es-ES" sz="600" dirty="0"/>
              <a:t># =======================================================================</a:t>
            </a:r>
          </a:p>
          <a:p>
            <a:r>
              <a:rPr lang="es-ES" sz="600" dirty="0" err="1"/>
              <a:t>mzi.add_port</a:t>
            </a:r>
            <a:r>
              <a:rPr lang="es-ES" sz="600" dirty="0"/>
              <a:t>("</a:t>
            </a:r>
            <a:r>
              <a:rPr lang="es-ES" sz="600" dirty="0" err="1"/>
              <a:t>in_top</a:t>
            </a:r>
            <a:r>
              <a:rPr lang="es-ES" sz="600" dirty="0"/>
              <a:t>", </a:t>
            </a:r>
            <a:r>
              <a:rPr lang="es-ES" sz="600" dirty="0" err="1"/>
              <a:t>port</a:t>
            </a:r>
            <a:r>
              <a:rPr lang="es-ES" sz="600" dirty="0"/>
              <a:t>=</a:t>
            </a:r>
            <a:r>
              <a:rPr lang="es-ES" sz="600" dirty="0" err="1"/>
              <a:t>splitter.ports</a:t>
            </a:r>
            <a:r>
              <a:rPr lang="es-ES" sz="600" dirty="0"/>
              <a:t>["</a:t>
            </a:r>
            <a:r>
              <a:rPr lang="es-ES" sz="600" dirty="0" err="1"/>
              <a:t>in_top</a:t>
            </a:r>
            <a:r>
              <a:rPr lang="es-ES" sz="600" dirty="0"/>
              <a:t>"])</a:t>
            </a:r>
          </a:p>
          <a:p>
            <a:r>
              <a:rPr lang="es-ES" sz="600" dirty="0" err="1"/>
              <a:t>mzi.add_port</a:t>
            </a:r>
            <a:r>
              <a:rPr lang="es-ES" sz="600" dirty="0"/>
              <a:t>("</a:t>
            </a:r>
            <a:r>
              <a:rPr lang="es-ES" sz="600" dirty="0" err="1"/>
              <a:t>in_bot</a:t>
            </a:r>
            <a:r>
              <a:rPr lang="es-ES" sz="600" dirty="0"/>
              <a:t>", </a:t>
            </a:r>
            <a:r>
              <a:rPr lang="es-ES" sz="600" dirty="0" err="1"/>
              <a:t>port</a:t>
            </a:r>
            <a:r>
              <a:rPr lang="es-ES" sz="600" dirty="0"/>
              <a:t>=</a:t>
            </a:r>
            <a:r>
              <a:rPr lang="es-ES" sz="600" dirty="0" err="1"/>
              <a:t>splitter.ports</a:t>
            </a:r>
            <a:r>
              <a:rPr lang="es-ES" sz="600" dirty="0"/>
              <a:t>["</a:t>
            </a:r>
            <a:r>
              <a:rPr lang="es-ES" sz="600" dirty="0" err="1"/>
              <a:t>in_bot</a:t>
            </a:r>
            <a:r>
              <a:rPr lang="es-ES" sz="600" dirty="0"/>
              <a:t>"])</a:t>
            </a:r>
          </a:p>
          <a:p>
            <a:r>
              <a:rPr lang="es-ES" sz="600" dirty="0" err="1"/>
              <a:t>mzi.add_port</a:t>
            </a:r>
            <a:r>
              <a:rPr lang="es-ES" sz="600" dirty="0"/>
              <a:t>("</a:t>
            </a:r>
            <a:r>
              <a:rPr lang="es-ES" sz="600" dirty="0" err="1"/>
              <a:t>out_top</a:t>
            </a:r>
            <a:r>
              <a:rPr lang="es-ES" sz="600" dirty="0"/>
              <a:t>", </a:t>
            </a:r>
            <a:r>
              <a:rPr lang="es-ES" sz="600" dirty="0" err="1"/>
              <a:t>port</a:t>
            </a:r>
            <a:r>
              <a:rPr lang="es-ES" sz="600" dirty="0"/>
              <a:t>=</a:t>
            </a:r>
            <a:r>
              <a:rPr lang="es-ES" sz="600" dirty="0" err="1"/>
              <a:t>combiner.ports</a:t>
            </a:r>
            <a:r>
              <a:rPr lang="es-ES" sz="600" dirty="0"/>
              <a:t>["</a:t>
            </a:r>
            <a:r>
              <a:rPr lang="es-ES" sz="600" dirty="0" err="1"/>
              <a:t>out_top</a:t>
            </a:r>
            <a:r>
              <a:rPr lang="es-ES" sz="600" dirty="0"/>
              <a:t>"])</a:t>
            </a:r>
          </a:p>
          <a:p>
            <a:r>
              <a:rPr lang="es-ES" sz="600" dirty="0" err="1"/>
              <a:t>mzi.add_port</a:t>
            </a:r>
            <a:r>
              <a:rPr lang="es-ES" sz="600" dirty="0"/>
              <a:t>("</a:t>
            </a:r>
            <a:r>
              <a:rPr lang="es-ES" sz="600" dirty="0" err="1"/>
              <a:t>out_bot</a:t>
            </a:r>
            <a:r>
              <a:rPr lang="es-ES" sz="600" dirty="0"/>
              <a:t>", </a:t>
            </a:r>
            <a:r>
              <a:rPr lang="es-ES" sz="600" dirty="0" err="1"/>
              <a:t>port</a:t>
            </a:r>
            <a:r>
              <a:rPr lang="es-ES" sz="600" dirty="0"/>
              <a:t>=</a:t>
            </a:r>
            <a:r>
              <a:rPr lang="es-ES" sz="600" dirty="0" err="1"/>
              <a:t>combiner.ports</a:t>
            </a:r>
            <a:r>
              <a:rPr lang="es-ES" sz="600" dirty="0"/>
              <a:t>["</a:t>
            </a:r>
            <a:r>
              <a:rPr lang="es-ES" sz="600" dirty="0" err="1"/>
              <a:t>out_bot</a:t>
            </a:r>
            <a:r>
              <a:rPr lang="es-ES" sz="600" dirty="0"/>
              <a:t>"])</a:t>
            </a:r>
          </a:p>
          <a:p>
            <a:br>
              <a:rPr lang="es-ES" sz="600" dirty="0"/>
            </a:br>
            <a:endParaRPr lang="es-ES" sz="600" dirty="0"/>
          </a:p>
          <a:p>
            <a:r>
              <a:rPr lang="es-ES" sz="600" dirty="0"/>
              <a:t># ==========================================</a:t>
            </a:r>
          </a:p>
          <a:p>
            <a:r>
              <a:rPr lang="es-ES" sz="600" dirty="0"/>
              <a:t># VISUALIZACIÓN</a:t>
            </a:r>
          </a:p>
          <a:p>
            <a:r>
              <a:rPr lang="es-ES" sz="600" dirty="0"/>
              <a:t># ==========================================</a:t>
            </a:r>
          </a:p>
          <a:p>
            <a:r>
              <a:rPr lang="es-ES" sz="600" dirty="0" err="1"/>
              <a:t>mzi.plot</a:t>
            </a:r>
            <a:r>
              <a:rPr lang="es-ES" sz="600" dirty="0"/>
              <a:t>()</a:t>
            </a:r>
          </a:p>
          <a:p>
            <a:r>
              <a:rPr lang="es-ES" sz="600" dirty="0" err="1"/>
              <a:t>mzi.show</a:t>
            </a:r>
            <a:r>
              <a:rPr lang="es-ES" sz="600" dirty="0"/>
              <a:t>()</a:t>
            </a:r>
          </a:p>
          <a:p>
            <a:r>
              <a:rPr lang="es-ES" sz="600" dirty="0" err="1"/>
              <a:t>scene</a:t>
            </a:r>
            <a:r>
              <a:rPr lang="es-ES" sz="600" dirty="0"/>
              <a:t> = mzi.to_3d()</a:t>
            </a:r>
          </a:p>
          <a:p>
            <a:r>
              <a:rPr lang="es-ES" sz="600" dirty="0" err="1"/>
              <a:t>scene.show</a:t>
            </a:r>
            <a:r>
              <a:rPr lang="es-ES" sz="600" dirty="0"/>
              <a:t>()</a:t>
            </a:r>
          </a:p>
          <a:p>
            <a:endParaRPr lang="es-ES" sz="600" dirty="0"/>
          </a:p>
        </p:txBody>
      </p:sp>
    </p:spTree>
    <p:extLst>
      <p:ext uri="{BB962C8B-B14F-4D97-AF65-F5344CB8AC3E}">
        <p14:creationId xmlns:p14="http://schemas.microsoft.com/office/powerpoint/2010/main" val="5486995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4EB8C-E0A0-DE3C-FBCC-7FC88D4F3D26}"/>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9D8819B3-A375-46EF-FA97-14FF68982946}"/>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gn="ctr">
              <a:lnSpc>
                <a:spcPct val="100000"/>
              </a:lnSpc>
              <a:spcBef>
                <a:spcPts val="100"/>
              </a:spcBef>
            </a:pPr>
            <a:r>
              <a:rPr lang="en-US" sz="2500" dirty="0"/>
              <a:t>Learning outcome #1b – Notebook section 1. Technology – </a:t>
            </a:r>
            <a:r>
              <a:rPr lang="en-US" sz="2500" dirty="0">
                <a:solidFill>
                  <a:srgbClr val="FF0000"/>
                </a:solidFill>
              </a:rPr>
              <a:t>1 slide per component</a:t>
            </a:r>
            <a:br>
              <a:rPr lang="en-US" sz="2500" dirty="0"/>
            </a:br>
            <a:r>
              <a:rPr lang="en-US" sz="2500" dirty="0" err="1"/>
              <a:t>Resondor</a:t>
            </a:r>
            <a:r>
              <a:rPr lang="en-US" sz="2500" dirty="0"/>
              <a:t> de </a:t>
            </a:r>
            <a:r>
              <a:rPr lang="en-US" sz="2500" dirty="0" err="1"/>
              <a:t>anillo</a:t>
            </a:r>
            <a:endParaRPr sz="2500" b="0" i="1" dirty="0">
              <a:latin typeface="+mj-lt"/>
              <a:cs typeface="Lucida Sans"/>
            </a:endParaRPr>
          </a:p>
        </p:txBody>
      </p:sp>
      <p:pic>
        <p:nvPicPr>
          <p:cNvPr id="83" name="Gráfico 82">
            <a:extLst>
              <a:ext uri="{FF2B5EF4-FFF2-40B4-BE49-F238E27FC236}">
                <a16:creationId xmlns:a16="http://schemas.microsoft.com/office/drawing/2014/main" id="{05C60CBB-252E-B2F2-A8B4-1AA8A1FBAF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38EE945-8218-8B2D-A71F-3721ED3D8A3F}"/>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Marcador de pie de página 2">
            <a:extLst>
              <a:ext uri="{FF2B5EF4-FFF2-40B4-BE49-F238E27FC236}">
                <a16:creationId xmlns:a16="http://schemas.microsoft.com/office/drawing/2014/main" id="{FF148C34-B1A9-1A00-0652-ACC81F61116B}"/>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DAE053F4-DC5B-E871-B272-0DFA153B7FCF}"/>
              </a:ext>
            </a:extLst>
          </p:cNvPr>
          <p:cNvSpPr txBox="1"/>
          <p:nvPr/>
        </p:nvSpPr>
        <p:spPr>
          <a:xfrm>
            <a:off x="4038600" y="4860334"/>
            <a:ext cx="7770812" cy="830997"/>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Describe component. </a:t>
            </a:r>
            <a:r>
              <a:rPr lang="en-US" sz="1200" dirty="0">
                <a:solidFill>
                  <a:srgbClr val="FF0000"/>
                </a:solidFill>
                <a:latin typeface="Arial" panose="020B0604020202020204" pitchFamily="34" charset="0"/>
                <a:cs typeface="Arial" panose="020B0604020202020204" pitchFamily="34" charset="0"/>
              </a:rPr>
              <a:t>Example</a:t>
            </a:r>
            <a:r>
              <a:rPr lang="en-US" sz="1200" dirty="0">
                <a:latin typeface="Arial" panose="020B0604020202020204" pitchFamily="34" charset="0"/>
                <a:cs typeface="Arial" panose="020B0604020202020204" pitchFamily="34" charset="0"/>
              </a:rPr>
              <a:t>: this is the MMI we designed in Lab2, it is a 2x2 with paired interference, target coupling constant K = 0.5. The relevant dimensions are W_MMI = XX µm L_MMI = YY µm and the I/O positions with respect to center are at +/- </a:t>
            </a:r>
            <a:r>
              <a:rPr lang="en-US" sz="1200" dirty="0" err="1">
                <a:latin typeface="Arial" panose="020B0604020202020204" pitchFamily="34" charset="0"/>
                <a:cs typeface="Arial" panose="020B0604020202020204" pitchFamily="34" charset="0"/>
              </a:rPr>
              <a:t>dY</a:t>
            </a:r>
            <a:r>
              <a:rPr lang="en-US" sz="1200" dirty="0">
                <a:latin typeface="Arial" panose="020B0604020202020204" pitchFamily="34" charset="0"/>
                <a:cs typeface="Arial" panose="020B0604020202020204" pitchFamily="34" charset="0"/>
              </a:rPr>
              <a:t> µm</a:t>
            </a:r>
          </a:p>
          <a:p>
            <a:pPr algn="just"/>
            <a:endParaRPr lang="en-US" sz="1200" dirty="0">
              <a:latin typeface="Arial" panose="020B0604020202020204" pitchFamily="34" charset="0"/>
              <a:cs typeface="Arial" panose="020B0604020202020204" pitchFamily="34" charset="0"/>
            </a:endParaRPr>
          </a:p>
        </p:txBody>
      </p:sp>
      <p:sp>
        <p:nvSpPr>
          <p:cNvPr id="6" name="Rectángulo 5">
            <a:extLst>
              <a:ext uri="{FF2B5EF4-FFF2-40B4-BE49-F238E27FC236}">
                <a16:creationId xmlns:a16="http://schemas.microsoft.com/office/drawing/2014/main" id="{C9E1FE13-7B3B-2A9B-A445-D299C6526FE7}"/>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A7A09DAD-9FD4-7324-E962-58FED729E7C6}"/>
              </a:ext>
            </a:extLst>
          </p:cNvPr>
          <p:cNvSpPr txBox="1"/>
          <p:nvPr/>
        </p:nvSpPr>
        <p:spPr>
          <a:xfrm>
            <a:off x="613923" y="1179253"/>
            <a:ext cx="4709174" cy="11079956"/>
          </a:xfrm>
          <a:prstGeom prst="rect">
            <a:avLst/>
          </a:prstGeom>
          <a:noFill/>
        </p:spPr>
        <p:txBody>
          <a:bodyPr wrap="none" rtlCol="0">
            <a:spAutoFit/>
          </a:bodyPr>
          <a:lstStyle/>
          <a:p>
            <a:r>
              <a:rPr lang="es-ES" sz="600" dirty="0" err="1"/>
              <a:t>gf.clear_cache</a:t>
            </a:r>
            <a:r>
              <a:rPr lang="es-ES" sz="600" dirty="0"/>
              <a:t>()</a:t>
            </a:r>
          </a:p>
          <a:p>
            <a:br>
              <a:rPr lang="es-ES" sz="600" dirty="0"/>
            </a:br>
            <a:endParaRPr lang="es-ES" sz="600" dirty="0"/>
          </a:p>
          <a:p>
            <a:r>
              <a:rPr lang="es-ES" sz="600" dirty="0"/>
              <a:t># Creación del componente principal</a:t>
            </a:r>
          </a:p>
          <a:p>
            <a:r>
              <a:rPr lang="es-ES" sz="600" dirty="0" err="1"/>
              <a:t>resonador_racetrack</a:t>
            </a:r>
            <a:r>
              <a:rPr lang="es-ES" sz="600" dirty="0"/>
              <a:t> = </a:t>
            </a:r>
            <a:r>
              <a:rPr lang="es-ES" sz="600" dirty="0" err="1"/>
              <a:t>gf.Component</a:t>
            </a:r>
            <a:r>
              <a:rPr lang="es-ES" sz="600" dirty="0"/>
              <a:t>("</a:t>
            </a:r>
            <a:r>
              <a:rPr lang="es-ES" sz="600" dirty="0" err="1"/>
              <a:t>Resonador_Racetrack_MMI</a:t>
            </a:r>
            <a:r>
              <a:rPr lang="es-ES" sz="600" dirty="0"/>
              <a:t>")</a:t>
            </a:r>
          </a:p>
          <a:p>
            <a:br>
              <a:rPr lang="es-ES" sz="600" dirty="0"/>
            </a:br>
            <a:endParaRPr lang="es-ES" sz="600" dirty="0"/>
          </a:p>
          <a:p>
            <a:r>
              <a:rPr lang="es-ES" sz="600" dirty="0"/>
              <a:t># =======================================================================</a:t>
            </a:r>
          </a:p>
          <a:p>
            <a:r>
              <a:rPr lang="es-ES" sz="600" dirty="0"/>
              <a:t># 1. CELDA DEL MMI 2x2 (Bloque de acoplo central)</a:t>
            </a:r>
          </a:p>
          <a:p>
            <a:r>
              <a:rPr lang="es-ES" sz="600" dirty="0"/>
              <a:t># =======================================================================</a:t>
            </a:r>
          </a:p>
          <a:p>
            <a:r>
              <a:rPr lang="es-ES" sz="600" dirty="0"/>
              <a:t>@gf.cell</a:t>
            </a:r>
          </a:p>
          <a:p>
            <a:r>
              <a:rPr lang="es-ES" sz="600" dirty="0" err="1"/>
              <a:t>def</a:t>
            </a:r>
            <a:r>
              <a:rPr lang="es-ES" sz="600" dirty="0"/>
              <a:t> mmi_2x2_base() -&gt; </a:t>
            </a:r>
            <a:r>
              <a:rPr lang="es-ES" sz="600" dirty="0" err="1"/>
              <a:t>gf.Component</a:t>
            </a:r>
            <a:r>
              <a:rPr lang="es-ES" sz="600" dirty="0"/>
              <a:t>:</a:t>
            </a:r>
          </a:p>
          <a:p>
            <a:r>
              <a:rPr lang="es-ES" sz="600" dirty="0"/>
              <a:t>    </a:t>
            </a:r>
            <a:r>
              <a:rPr lang="es-ES" sz="600" dirty="0" err="1"/>
              <a:t>mmi</a:t>
            </a:r>
            <a:r>
              <a:rPr lang="es-ES" sz="600" dirty="0"/>
              <a:t> = </a:t>
            </a:r>
            <a:r>
              <a:rPr lang="es-ES" sz="600" dirty="0" err="1"/>
              <a:t>gf.Component</a:t>
            </a:r>
            <a:r>
              <a:rPr lang="es-ES" sz="600" dirty="0"/>
              <a:t>("mmi_2x2_base")</a:t>
            </a:r>
          </a:p>
          <a:p>
            <a:r>
              <a:rPr lang="es-ES" sz="600" dirty="0"/>
              <a:t>    capa = </a:t>
            </a:r>
            <a:r>
              <a:rPr lang="es-ES" sz="600" dirty="0" err="1"/>
              <a:t>gf.components.straight</a:t>
            </a:r>
            <a:r>
              <a:rPr lang="es-ES" sz="600" dirty="0"/>
              <a:t>().</a:t>
            </a:r>
            <a:r>
              <a:rPr lang="es-ES" sz="600" dirty="0" err="1"/>
              <a:t>ports</a:t>
            </a:r>
            <a:r>
              <a:rPr lang="es-ES" sz="600" dirty="0"/>
              <a:t>["o1"].</a:t>
            </a:r>
            <a:r>
              <a:rPr lang="es-ES" sz="600" dirty="0" err="1"/>
              <a:t>layer</a:t>
            </a:r>
            <a:endParaRPr lang="es-ES" sz="600" dirty="0"/>
          </a:p>
          <a:p>
            <a:r>
              <a:rPr lang="es-ES" sz="600" dirty="0"/>
              <a:t>    </a:t>
            </a:r>
            <a:r>
              <a:rPr lang="es-ES" sz="600" dirty="0" err="1"/>
              <a:t>sec_acceso</a:t>
            </a:r>
            <a:r>
              <a:rPr lang="es-ES" sz="600" dirty="0"/>
              <a:t> = </a:t>
            </a:r>
            <a:r>
              <a:rPr lang="es-ES" sz="600" dirty="0" err="1"/>
              <a:t>gf.cross_section.cross_section</a:t>
            </a:r>
            <a:r>
              <a:rPr lang="es-ES" sz="600" dirty="0"/>
              <a:t>(</a:t>
            </a:r>
            <a:r>
              <a:rPr lang="es-ES" sz="600" dirty="0" err="1"/>
              <a:t>width</a:t>
            </a:r>
            <a:r>
              <a:rPr lang="es-ES" sz="600" dirty="0"/>
              <a:t>=1.2, </a:t>
            </a:r>
            <a:r>
              <a:rPr lang="es-ES" sz="600" dirty="0" err="1"/>
              <a:t>layer</a:t>
            </a:r>
            <a:r>
              <a:rPr lang="es-ES" sz="600" dirty="0"/>
              <a:t>=capa)</a:t>
            </a:r>
          </a:p>
          <a:p>
            <a:r>
              <a:rPr lang="es-ES" sz="600" dirty="0"/>
              <a:t>    </a:t>
            </a:r>
            <a:r>
              <a:rPr lang="es-ES" sz="600" dirty="0" err="1"/>
              <a:t>sec_body</a:t>
            </a:r>
            <a:r>
              <a:rPr lang="es-ES" sz="600" dirty="0"/>
              <a:t> = </a:t>
            </a:r>
            <a:r>
              <a:rPr lang="es-ES" sz="600" dirty="0" err="1"/>
              <a:t>gf.cross_section.cross_section</a:t>
            </a:r>
            <a:r>
              <a:rPr lang="es-ES" sz="600" dirty="0"/>
              <a:t>(</a:t>
            </a:r>
            <a:r>
              <a:rPr lang="es-ES" sz="600" dirty="0" err="1"/>
              <a:t>width</a:t>
            </a:r>
            <a:r>
              <a:rPr lang="es-ES" sz="600" dirty="0"/>
              <a:t>=6.6, </a:t>
            </a:r>
            <a:r>
              <a:rPr lang="es-ES" sz="600" dirty="0" err="1"/>
              <a:t>layer</a:t>
            </a:r>
            <a:r>
              <a:rPr lang="es-ES" sz="600" dirty="0"/>
              <a:t>=capa)</a:t>
            </a:r>
          </a:p>
          <a:p>
            <a:r>
              <a:rPr lang="es-ES" sz="600" dirty="0"/>
              <a:t>    </a:t>
            </a:r>
          </a:p>
          <a:p>
            <a:r>
              <a:rPr lang="es-ES" sz="600" dirty="0"/>
              <a:t>    </a:t>
            </a:r>
            <a:r>
              <a:rPr lang="es-ES" sz="600" dirty="0" err="1"/>
              <a:t>longitud_mmi</a:t>
            </a:r>
            <a:r>
              <a:rPr lang="es-ES" sz="600" dirty="0"/>
              <a:t> = 69.03598607255596 / 2 </a:t>
            </a:r>
          </a:p>
          <a:p>
            <a:r>
              <a:rPr lang="es-ES" sz="600" dirty="0"/>
              <a:t>    </a:t>
            </a:r>
            <a:r>
              <a:rPr lang="es-ES" sz="600" dirty="0" err="1"/>
              <a:t>body</a:t>
            </a:r>
            <a:r>
              <a:rPr lang="es-ES" sz="600" dirty="0"/>
              <a:t> = </a:t>
            </a:r>
            <a:r>
              <a:rPr lang="es-ES" sz="600" dirty="0" err="1"/>
              <a:t>mmi.add_ref</a:t>
            </a:r>
            <a:r>
              <a:rPr lang="es-ES" sz="600" dirty="0"/>
              <a:t>(</a:t>
            </a:r>
            <a:r>
              <a:rPr lang="es-ES" sz="600" dirty="0" err="1"/>
              <a:t>gf.components.straight</a:t>
            </a:r>
            <a:r>
              <a:rPr lang="es-ES" sz="600" dirty="0"/>
              <a:t>(</a:t>
            </a:r>
            <a:r>
              <a:rPr lang="es-ES" sz="600" dirty="0" err="1"/>
              <a:t>length</a:t>
            </a:r>
            <a:r>
              <a:rPr lang="es-ES" sz="600" dirty="0"/>
              <a:t>=</a:t>
            </a:r>
            <a:r>
              <a:rPr lang="es-ES" sz="600" dirty="0" err="1"/>
              <a:t>longitud_mmi</a:t>
            </a:r>
            <a:r>
              <a:rPr lang="es-ES" sz="600" dirty="0"/>
              <a:t>, </a:t>
            </a:r>
            <a:r>
              <a:rPr lang="es-ES" sz="600" dirty="0" err="1"/>
              <a:t>cross_section</a:t>
            </a:r>
            <a:r>
              <a:rPr lang="es-ES" sz="600" dirty="0"/>
              <a:t>=</a:t>
            </a:r>
            <a:r>
              <a:rPr lang="es-ES" sz="600" dirty="0" err="1"/>
              <a:t>sec_body</a:t>
            </a:r>
            <a:r>
              <a:rPr lang="es-ES" sz="600" dirty="0"/>
              <a:t>))</a:t>
            </a:r>
          </a:p>
          <a:p>
            <a:r>
              <a:rPr lang="es-ES" sz="600" dirty="0"/>
              <a:t>    </a:t>
            </a:r>
          </a:p>
          <a:p>
            <a:r>
              <a:rPr lang="es-ES" sz="600" dirty="0"/>
              <a:t>    </a:t>
            </a:r>
            <a:r>
              <a:rPr lang="es-ES" sz="600" dirty="0" err="1"/>
              <a:t>pos_y</a:t>
            </a:r>
            <a:r>
              <a:rPr lang="es-ES" sz="600" dirty="0"/>
              <a:t> = 6.6 / 6.0  </a:t>
            </a:r>
          </a:p>
          <a:p>
            <a:r>
              <a:rPr lang="es-ES" sz="600" dirty="0"/>
              <a:t>    </a:t>
            </a:r>
            <a:r>
              <a:rPr lang="es-ES" sz="600" dirty="0" err="1"/>
              <a:t>l_acc</a:t>
            </a:r>
            <a:r>
              <a:rPr lang="es-ES" sz="600" dirty="0"/>
              <a:t> = 5.0</a:t>
            </a:r>
          </a:p>
          <a:p>
            <a:r>
              <a:rPr lang="es-ES" sz="600" dirty="0"/>
              <a:t>    </a:t>
            </a:r>
            <a:r>
              <a:rPr lang="es-ES" sz="600" dirty="0" err="1"/>
              <a:t>guia_r</a:t>
            </a:r>
            <a:r>
              <a:rPr lang="es-ES" sz="600" dirty="0"/>
              <a:t> = </a:t>
            </a:r>
            <a:r>
              <a:rPr lang="es-ES" sz="600" dirty="0" err="1"/>
              <a:t>gf.components.straight</a:t>
            </a:r>
            <a:r>
              <a:rPr lang="es-ES" sz="600" dirty="0"/>
              <a:t>(</a:t>
            </a:r>
            <a:r>
              <a:rPr lang="es-ES" sz="600" dirty="0" err="1"/>
              <a:t>length</a:t>
            </a:r>
            <a:r>
              <a:rPr lang="es-ES" sz="600" dirty="0"/>
              <a:t>=</a:t>
            </a:r>
            <a:r>
              <a:rPr lang="es-ES" sz="600" dirty="0" err="1"/>
              <a:t>l_acc</a:t>
            </a:r>
            <a:r>
              <a:rPr lang="es-ES" sz="600" dirty="0"/>
              <a:t>, </a:t>
            </a:r>
            <a:r>
              <a:rPr lang="es-ES" sz="600" dirty="0" err="1"/>
              <a:t>cross_section</a:t>
            </a:r>
            <a:r>
              <a:rPr lang="es-ES" sz="600" dirty="0"/>
              <a:t>=</a:t>
            </a:r>
            <a:r>
              <a:rPr lang="es-ES" sz="600" dirty="0" err="1"/>
              <a:t>sec_acceso</a:t>
            </a:r>
            <a:r>
              <a:rPr lang="es-ES" sz="600" dirty="0"/>
              <a:t>)</a:t>
            </a:r>
          </a:p>
          <a:p>
            <a:r>
              <a:rPr lang="es-ES" sz="600" dirty="0"/>
              <a:t>    </a:t>
            </a:r>
          </a:p>
          <a:p>
            <a:r>
              <a:rPr lang="es-ES" sz="600" dirty="0"/>
              <a:t>    </a:t>
            </a:r>
            <a:r>
              <a:rPr lang="es-ES" sz="600" dirty="0" err="1"/>
              <a:t>it</a:t>
            </a:r>
            <a:r>
              <a:rPr lang="es-ES" sz="600" dirty="0"/>
              <a:t> = </a:t>
            </a:r>
            <a:r>
              <a:rPr lang="es-ES" sz="600" dirty="0" err="1"/>
              <a:t>mmi.add_ref</a:t>
            </a:r>
            <a:r>
              <a:rPr lang="es-ES" sz="600" dirty="0"/>
              <a:t>(</a:t>
            </a:r>
            <a:r>
              <a:rPr lang="es-ES" sz="600" dirty="0" err="1"/>
              <a:t>guia_r</a:t>
            </a:r>
            <a:r>
              <a:rPr lang="es-ES" sz="600" dirty="0"/>
              <a:t>).</a:t>
            </a:r>
            <a:r>
              <a:rPr lang="es-ES" sz="600" dirty="0" err="1"/>
              <a:t>movex</a:t>
            </a:r>
            <a:r>
              <a:rPr lang="es-ES" sz="600" dirty="0"/>
              <a:t>(-</a:t>
            </a:r>
            <a:r>
              <a:rPr lang="es-ES" sz="600" dirty="0" err="1"/>
              <a:t>l_acc</a:t>
            </a:r>
            <a:r>
              <a:rPr lang="es-ES" sz="600" dirty="0"/>
              <a:t>).</a:t>
            </a:r>
            <a:r>
              <a:rPr lang="es-ES" sz="600" dirty="0" err="1"/>
              <a:t>movey</a:t>
            </a:r>
            <a:r>
              <a:rPr lang="es-ES" sz="600" dirty="0"/>
              <a:t>(</a:t>
            </a:r>
            <a:r>
              <a:rPr lang="es-ES" sz="600" dirty="0" err="1"/>
              <a:t>pos_y</a:t>
            </a:r>
            <a:r>
              <a:rPr lang="es-ES" sz="600" dirty="0"/>
              <a:t>)</a:t>
            </a:r>
          </a:p>
          <a:p>
            <a:r>
              <a:rPr lang="es-ES" sz="600" dirty="0"/>
              <a:t>    </a:t>
            </a:r>
            <a:r>
              <a:rPr lang="es-ES" sz="600" dirty="0" err="1"/>
              <a:t>ib</a:t>
            </a:r>
            <a:r>
              <a:rPr lang="es-ES" sz="600" dirty="0"/>
              <a:t> = </a:t>
            </a:r>
            <a:r>
              <a:rPr lang="es-ES" sz="600" dirty="0" err="1"/>
              <a:t>mmi.add_ref</a:t>
            </a:r>
            <a:r>
              <a:rPr lang="es-ES" sz="600" dirty="0"/>
              <a:t>(</a:t>
            </a:r>
            <a:r>
              <a:rPr lang="es-ES" sz="600" dirty="0" err="1"/>
              <a:t>guia_r</a:t>
            </a:r>
            <a:r>
              <a:rPr lang="es-ES" sz="600" dirty="0"/>
              <a:t>).</a:t>
            </a:r>
            <a:r>
              <a:rPr lang="es-ES" sz="600" dirty="0" err="1"/>
              <a:t>movex</a:t>
            </a:r>
            <a:r>
              <a:rPr lang="es-ES" sz="600" dirty="0"/>
              <a:t>(-</a:t>
            </a:r>
            <a:r>
              <a:rPr lang="es-ES" sz="600" dirty="0" err="1"/>
              <a:t>l_acc</a:t>
            </a:r>
            <a:r>
              <a:rPr lang="es-ES" sz="600" dirty="0"/>
              <a:t>).</a:t>
            </a:r>
            <a:r>
              <a:rPr lang="es-ES" sz="600" dirty="0" err="1"/>
              <a:t>movey</a:t>
            </a:r>
            <a:r>
              <a:rPr lang="es-ES" sz="600" dirty="0"/>
              <a:t>(-</a:t>
            </a:r>
            <a:r>
              <a:rPr lang="es-ES" sz="600" dirty="0" err="1"/>
              <a:t>pos_y</a:t>
            </a:r>
            <a:r>
              <a:rPr lang="es-ES" sz="600" dirty="0"/>
              <a:t>)</a:t>
            </a:r>
          </a:p>
          <a:p>
            <a:r>
              <a:rPr lang="es-ES" sz="600" dirty="0"/>
              <a:t>    </a:t>
            </a:r>
            <a:r>
              <a:rPr lang="es-ES" sz="600" dirty="0" err="1"/>
              <a:t>ot</a:t>
            </a:r>
            <a:r>
              <a:rPr lang="es-ES" sz="600" dirty="0"/>
              <a:t> = </a:t>
            </a:r>
            <a:r>
              <a:rPr lang="es-ES" sz="600" dirty="0" err="1"/>
              <a:t>mmi.add_ref</a:t>
            </a:r>
            <a:r>
              <a:rPr lang="es-ES" sz="600" dirty="0"/>
              <a:t>(</a:t>
            </a:r>
            <a:r>
              <a:rPr lang="es-ES" sz="600" dirty="0" err="1"/>
              <a:t>guia_r</a:t>
            </a:r>
            <a:r>
              <a:rPr lang="es-ES" sz="600" dirty="0"/>
              <a:t>).</a:t>
            </a:r>
            <a:r>
              <a:rPr lang="es-ES" sz="600" dirty="0" err="1"/>
              <a:t>movex</a:t>
            </a:r>
            <a:r>
              <a:rPr lang="es-ES" sz="600" dirty="0"/>
              <a:t>(</a:t>
            </a:r>
            <a:r>
              <a:rPr lang="es-ES" sz="600" dirty="0" err="1"/>
              <a:t>longitud_mmi</a:t>
            </a:r>
            <a:r>
              <a:rPr lang="es-ES" sz="600" dirty="0"/>
              <a:t>).</a:t>
            </a:r>
            <a:r>
              <a:rPr lang="es-ES" sz="600" dirty="0" err="1"/>
              <a:t>movey</a:t>
            </a:r>
            <a:r>
              <a:rPr lang="es-ES" sz="600" dirty="0"/>
              <a:t>(</a:t>
            </a:r>
            <a:r>
              <a:rPr lang="es-ES" sz="600" dirty="0" err="1"/>
              <a:t>pos_y</a:t>
            </a:r>
            <a:r>
              <a:rPr lang="es-ES" sz="600" dirty="0"/>
              <a:t>)</a:t>
            </a:r>
          </a:p>
          <a:p>
            <a:r>
              <a:rPr lang="es-ES" sz="600" dirty="0"/>
              <a:t>    </a:t>
            </a:r>
            <a:r>
              <a:rPr lang="es-ES" sz="600" dirty="0" err="1"/>
              <a:t>ob</a:t>
            </a:r>
            <a:r>
              <a:rPr lang="es-ES" sz="600" dirty="0"/>
              <a:t> = </a:t>
            </a:r>
            <a:r>
              <a:rPr lang="es-ES" sz="600" dirty="0" err="1"/>
              <a:t>mmi.add_ref</a:t>
            </a:r>
            <a:r>
              <a:rPr lang="es-ES" sz="600" dirty="0"/>
              <a:t>(</a:t>
            </a:r>
            <a:r>
              <a:rPr lang="es-ES" sz="600" dirty="0" err="1"/>
              <a:t>guia_r</a:t>
            </a:r>
            <a:r>
              <a:rPr lang="es-ES" sz="600" dirty="0"/>
              <a:t>).</a:t>
            </a:r>
            <a:r>
              <a:rPr lang="es-ES" sz="600" dirty="0" err="1"/>
              <a:t>movex</a:t>
            </a:r>
            <a:r>
              <a:rPr lang="es-ES" sz="600" dirty="0"/>
              <a:t>(</a:t>
            </a:r>
            <a:r>
              <a:rPr lang="es-ES" sz="600" dirty="0" err="1"/>
              <a:t>longitud_mmi</a:t>
            </a:r>
            <a:r>
              <a:rPr lang="es-ES" sz="600" dirty="0"/>
              <a:t>).</a:t>
            </a:r>
            <a:r>
              <a:rPr lang="es-ES" sz="600" dirty="0" err="1"/>
              <a:t>movey</a:t>
            </a:r>
            <a:r>
              <a:rPr lang="es-ES" sz="600" dirty="0"/>
              <a:t>(-</a:t>
            </a:r>
            <a:r>
              <a:rPr lang="es-ES" sz="600" dirty="0" err="1"/>
              <a:t>pos_y</a:t>
            </a:r>
            <a:r>
              <a:rPr lang="es-ES" sz="600" dirty="0"/>
              <a:t>)</a:t>
            </a:r>
          </a:p>
          <a:p>
            <a:r>
              <a:rPr lang="es-ES" sz="600" dirty="0"/>
              <a:t>    </a:t>
            </a:r>
          </a:p>
          <a:p>
            <a:r>
              <a:rPr lang="es-ES" sz="600" dirty="0"/>
              <a:t>    </a:t>
            </a:r>
            <a:r>
              <a:rPr lang="es-ES" sz="600" dirty="0" err="1"/>
              <a:t>mmi.add_port</a:t>
            </a:r>
            <a:r>
              <a:rPr lang="es-ES" sz="600" dirty="0"/>
              <a:t>("</a:t>
            </a:r>
            <a:r>
              <a:rPr lang="es-ES" sz="600" dirty="0" err="1"/>
              <a:t>in_top</a:t>
            </a:r>
            <a:r>
              <a:rPr lang="es-ES" sz="600" dirty="0"/>
              <a:t>", </a:t>
            </a:r>
            <a:r>
              <a:rPr lang="es-ES" sz="600" dirty="0" err="1"/>
              <a:t>port</a:t>
            </a:r>
            <a:r>
              <a:rPr lang="es-ES" sz="600" dirty="0"/>
              <a:t>=</a:t>
            </a:r>
            <a:r>
              <a:rPr lang="es-ES" sz="600" dirty="0" err="1"/>
              <a:t>it.ports</a:t>
            </a:r>
            <a:r>
              <a:rPr lang="es-ES" sz="600" dirty="0"/>
              <a:t>["o1"])</a:t>
            </a:r>
          </a:p>
          <a:p>
            <a:r>
              <a:rPr lang="es-ES" sz="600" dirty="0"/>
              <a:t>    </a:t>
            </a:r>
            <a:r>
              <a:rPr lang="es-ES" sz="600" dirty="0" err="1"/>
              <a:t>mmi.add_port</a:t>
            </a:r>
            <a:r>
              <a:rPr lang="es-ES" sz="600" dirty="0"/>
              <a:t>("</a:t>
            </a:r>
            <a:r>
              <a:rPr lang="es-ES" sz="600" dirty="0" err="1"/>
              <a:t>in_bot</a:t>
            </a:r>
            <a:r>
              <a:rPr lang="es-ES" sz="600" dirty="0"/>
              <a:t>", </a:t>
            </a:r>
            <a:r>
              <a:rPr lang="es-ES" sz="600" dirty="0" err="1"/>
              <a:t>port</a:t>
            </a:r>
            <a:r>
              <a:rPr lang="es-ES" sz="600" dirty="0"/>
              <a:t>=</a:t>
            </a:r>
            <a:r>
              <a:rPr lang="es-ES" sz="600" dirty="0" err="1"/>
              <a:t>ib.ports</a:t>
            </a:r>
            <a:r>
              <a:rPr lang="es-ES" sz="600" dirty="0"/>
              <a:t>["o1"])</a:t>
            </a:r>
          </a:p>
          <a:p>
            <a:r>
              <a:rPr lang="es-ES" sz="600" dirty="0"/>
              <a:t>    </a:t>
            </a:r>
            <a:r>
              <a:rPr lang="es-ES" sz="600" dirty="0" err="1"/>
              <a:t>mmi.add_port</a:t>
            </a:r>
            <a:r>
              <a:rPr lang="es-ES" sz="600" dirty="0"/>
              <a:t>("</a:t>
            </a:r>
            <a:r>
              <a:rPr lang="es-ES" sz="600" dirty="0" err="1"/>
              <a:t>out_top</a:t>
            </a:r>
            <a:r>
              <a:rPr lang="es-ES" sz="600" dirty="0"/>
              <a:t>", </a:t>
            </a:r>
            <a:r>
              <a:rPr lang="es-ES" sz="600" dirty="0" err="1"/>
              <a:t>port</a:t>
            </a:r>
            <a:r>
              <a:rPr lang="es-ES" sz="600" dirty="0"/>
              <a:t>=</a:t>
            </a:r>
            <a:r>
              <a:rPr lang="es-ES" sz="600" dirty="0" err="1"/>
              <a:t>ot.ports</a:t>
            </a:r>
            <a:r>
              <a:rPr lang="es-ES" sz="600" dirty="0"/>
              <a:t>["o2"])</a:t>
            </a:r>
          </a:p>
          <a:p>
            <a:r>
              <a:rPr lang="es-ES" sz="600" dirty="0"/>
              <a:t>    </a:t>
            </a:r>
            <a:r>
              <a:rPr lang="es-ES" sz="600" dirty="0" err="1"/>
              <a:t>mmi.add_port</a:t>
            </a:r>
            <a:r>
              <a:rPr lang="es-ES" sz="600" dirty="0"/>
              <a:t>("</a:t>
            </a:r>
            <a:r>
              <a:rPr lang="es-ES" sz="600" dirty="0" err="1"/>
              <a:t>out_bot</a:t>
            </a:r>
            <a:r>
              <a:rPr lang="es-ES" sz="600" dirty="0"/>
              <a:t>", </a:t>
            </a:r>
            <a:r>
              <a:rPr lang="es-ES" sz="600" dirty="0" err="1"/>
              <a:t>port</a:t>
            </a:r>
            <a:r>
              <a:rPr lang="es-ES" sz="600" dirty="0"/>
              <a:t>=</a:t>
            </a:r>
            <a:r>
              <a:rPr lang="es-ES" sz="600" dirty="0" err="1"/>
              <a:t>ob.ports</a:t>
            </a:r>
            <a:r>
              <a:rPr lang="es-ES" sz="600" dirty="0"/>
              <a:t>["o2"])</a:t>
            </a:r>
          </a:p>
          <a:p>
            <a:r>
              <a:rPr lang="es-ES" sz="600" dirty="0"/>
              <a:t>    </a:t>
            </a:r>
            <a:r>
              <a:rPr lang="es-ES" sz="600" dirty="0" err="1"/>
              <a:t>return</a:t>
            </a:r>
            <a:r>
              <a:rPr lang="es-ES" sz="600" dirty="0"/>
              <a:t> </a:t>
            </a:r>
            <a:r>
              <a:rPr lang="es-ES" sz="600" dirty="0" err="1"/>
              <a:t>mmi</a:t>
            </a:r>
            <a:endParaRPr lang="es-ES" sz="600" dirty="0"/>
          </a:p>
          <a:p>
            <a:br>
              <a:rPr lang="es-ES" sz="600" dirty="0"/>
            </a:br>
            <a:endParaRPr lang="es-ES" sz="600" dirty="0"/>
          </a:p>
          <a:p>
            <a:r>
              <a:rPr lang="es-ES" sz="600" dirty="0"/>
              <a:t># =======================================================================</a:t>
            </a:r>
          </a:p>
          <a:p>
            <a:r>
              <a:rPr lang="es-ES" sz="600" dirty="0"/>
              <a:t># 2. SECCIONES Y MOLDES GEOMÉTRICOS</a:t>
            </a:r>
          </a:p>
          <a:p>
            <a:r>
              <a:rPr lang="es-ES" sz="600" dirty="0"/>
              <a:t># =======================================================================</a:t>
            </a:r>
          </a:p>
          <a:p>
            <a:r>
              <a:rPr lang="es-ES" sz="600" dirty="0" err="1"/>
              <a:t>capa_base</a:t>
            </a:r>
            <a:r>
              <a:rPr lang="es-ES" sz="600" dirty="0"/>
              <a:t> = </a:t>
            </a:r>
            <a:r>
              <a:rPr lang="es-ES" sz="600" dirty="0" err="1"/>
              <a:t>gf.components.straight</a:t>
            </a:r>
            <a:r>
              <a:rPr lang="es-ES" sz="600" dirty="0"/>
              <a:t>().</a:t>
            </a:r>
            <a:r>
              <a:rPr lang="es-ES" sz="600" dirty="0" err="1"/>
              <a:t>ports</a:t>
            </a:r>
            <a:r>
              <a:rPr lang="es-ES" sz="600" dirty="0"/>
              <a:t>["o1"].</a:t>
            </a:r>
            <a:r>
              <a:rPr lang="es-ES" sz="600" dirty="0" err="1"/>
              <a:t>layer</a:t>
            </a:r>
            <a:endParaRPr lang="es-ES" sz="600" dirty="0"/>
          </a:p>
          <a:p>
            <a:r>
              <a:rPr lang="es-ES" sz="600" dirty="0" err="1"/>
              <a:t>seccion_acceso</a:t>
            </a:r>
            <a:r>
              <a:rPr lang="es-ES" sz="600" dirty="0"/>
              <a:t> = </a:t>
            </a:r>
            <a:r>
              <a:rPr lang="es-ES" sz="600" dirty="0" err="1"/>
              <a:t>gf.cross_section.cross_section</a:t>
            </a:r>
            <a:r>
              <a:rPr lang="es-ES" sz="600" dirty="0"/>
              <a:t>(</a:t>
            </a:r>
            <a:r>
              <a:rPr lang="es-ES" sz="600" dirty="0" err="1"/>
              <a:t>width</a:t>
            </a:r>
            <a:r>
              <a:rPr lang="es-ES" sz="600" dirty="0"/>
              <a:t>=1.2, </a:t>
            </a:r>
            <a:r>
              <a:rPr lang="es-ES" sz="600" dirty="0" err="1"/>
              <a:t>layer</a:t>
            </a:r>
            <a:r>
              <a:rPr lang="es-ES" sz="600" dirty="0"/>
              <a:t>=</a:t>
            </a:r>
            <a:r>
              <a:rPr lang="es-ES" sz="600" dirty="0" err="1"/>
              <a:t>capa_base</a:t>
            </a:r>
            <a:r>
              <a:rPr lang="es-ES" sz="600" dirty="0"/>
              <a:t>)</a:t>
            </a:r>
          </a:p>
          <a:p>
            <a:br>
              <a:rPr lang="es-ES" sz="600" dirty="0"/>
            </a:br>
            <a:endParaRPr lang="es-ES" sz="600" dirty="0"/>
          </a:p>
          <a:p>
            <a:r>
              <a:rPr lang="es-ES" sz="600" dirty="0"/>
              <a:t># Añadimos el acoplador MMI central al diseño</a:t>
            </a:r>
          </a:p>
          <a:p>
            <a:r>
              <a:rPr lang="es-ES" sz="600" dirty="0" err="1"/>
              <a:t>mmi_central</a:t>
            </a:r>
            <a:r>
              <a:rPr lang="es-ES" sz="600" dirty="0"/>
              <a:t> = </a:t>
            </a:r>
            <a:r>
              <a:rPr lang="es-ES" sz="600" dirty="0" err="1"/>
              <a:t>resonador_racetrack.add_ref</a:t>
            </a:r>
            <a:r>
              <a:rPr lang="es-ES" sz="600" dirty="0"/>
              <a:t>(mmi_2x2_base())</a:t>
            </a:r>
          </a:p>
          <a:p>
            <a:br>
              <a:rPr lang="es-ES" sz="600" dirty="0"/>
            </a:br>
            <a:endParaRPr lang="es-ES" sz="600" dirty="0"/>
          </a:p>
          <a:p>
            <a:r>
              <a:rPr lang="es-ES" sz="600" dirty="0"/>
              <a:t># Parámetros del anillo/</a:t>
            </a:r>
            <a:r>
              <a:rPr lang="es-ES" sz="600" dirty="0" err="1"/>
              <a:t>racetrack</a:t>
            </a:r>
            <a:endParaRPr lang="es-ES" sz="600" dirty="0"/>
          </a:p>
          <a:p>
            <a:r>
              <a:rPr lang="es-ES" sz="600" dirty="0" err="1"/>
              <a:t>radius</a:t>
            </a:r>
            <a:r>
              <a:rPr lang="es-ES" sz="600" dirty="0"/>
              <a:t> = 20</a:t>
            </a:r>
          </a:p>
          <a:p>
            <a:r>
              <a:rPr lang="es-ES" sz="600" dirty="0" err="1"/>
              <a:t>longitud_vertical</a:t>
            </a:r>
            <a:r>
              <a:rPr lang="es-ES" sz="600" dirty="0"/>
              <a:t> = 20.0  # Longitud de los tramos rectos verticales de la pista</a:t>
            </a:r>
          </a:p>
          <a:p>
            <a:br>
              <a:rPr lang="es-ES" sz="600" dirty="0"/>
            </a:br>
            <a:endParaRPr lang="es-ES" sz="600" dirty="0"/>
          </a:p>
          <a:p>
            <a:r>
              <a:rPr lang="es-ES" sz="600" dirty="0"/>
              <a:t># La longitud del tramo horizontal superior debe ser exactamente igual a la distancia</a:t>
            </a:r>
          </a:p>
          <a:p>
            <a:r>
              <a:rPr lang="es-ES" sz="600" dirty="0"/>
              <a:t># entre los puertos del MMI (longitud del cuerpo + las dos extensiones de acceso de 5 </a:t>
            </a:r>
            <a:r>
              <a:rPr lang="es-ES" sz="600" dirty="0" err="1"/>
              <a:t>um</a:t>
            </a:r>
            <a:r>
              <a:rPr lang="es-ES" sz="600" dirty="0"/>
              <a:t>)</a:t>
            </a:r>
          </a:p>
          <a:p>
            <a:r>
              <a:rPr lang="es-ES" sz="600" dirty="0" err="1"/>
              <a:t>longitud_horizontal</a:t>
            </a:r>
            <a:r>
              <a:rPr lang="es-ES" sz="600" dirty="0"/>
              <a:t> = (69.03598607255596 / 2) + 2 * 5.0</a:t>
            </a:r>
          </a:p>
          <a:p>
            <a:br>
              <a:rPr lang="es-ES" sz="600" dirty="0"/>
            </a:br>
            <a:endParaRPr lang="es-ES" sz="600" dirty="0"/>
          </a:p>
          <a:p>
            <a:r>
              <a:rPr lang="es-ES" sz="600" dirty="0"/>
              <a:t># Creamos las piezas "molde"</a:t>
            </a:r>
          </a:p>
          <a:p>
            <a:r>
              <a:rPr lang="es-ES" sz="600" dirty="0"/>
              <a:t>b90 = </a:t>
            </a:r>
            <a:r>
              <a:rPr lang="es-ES" sz="600" dirty="0" err="1"/>
              <a:t>gf.components.bend_circular</a:t>
            </a:r>
            <a:r>
              <a:rPr lang="es-ES" sz="600" dirty="0"/>
              <a:t>(</a:t>
            </a:r>
            <a:r>
              <a:rPr lang="es-ES" sz="600" dirty="0" err="1"/>
              <a:t>radius</a:t>
            </a:r>
            <a:r>
              <a:rPr lang="es-ES" sz="600" dirty="0"/>
              <a:t>=</a:t>
            </a:r>
            <a:r>
              <a:rPr lang="es-ES" sz="600" dirty="0" err="1"/>
              <a:t>radius</a:t>
            </a:r>
            <a:r>
              <a:rPr lang="es-ES" sz="600" dirty="0"/>
              <a:t>, </a:t>
            </a:r>
            <a:r>
              <a:rPr lang="es-ES" sz="600" dirty="0" err="1"/>
              <a:t>cross_section</a:t>
            </a:r>
            <a:r>
              <a:rPr lang="es-ES" sz="600" dirty="0"/>
              <a:t>=</a:t>
            </a:r>
            <a:r>
              <a:rPr lang="es-ES" sz="600" dirty="0" err="1"/>
              <a:t>seccion_acceso</a:t>
            </a:r>
            <a:r>
              <a:rPr lang="es-ES" sz="600" dirty="0"/>
              <a:t>)</a:t>
            </a:r>
          </a:p>
          <a:p>
            <a:r>
              <a:rPr lang="es-ES" sz="600" dirty="0" err="1"/>
              <a:t>guia_v</a:t>
            </a:r>
            <a:r>
              <a:rPr lang="es-ES" sz="600" dirty="0"/>
              <a:t> = </a:t>
            </a:r>
            <a:r>
              <a:rPr lang="es-ES" sz="600" dirty="0" err="1"/>
              <a:t>gf.components.straight</a:t>
            </a:r>
            <a:r>
              <a:rPr lang="es-ES" sz="600" dirty="0"/>
              <a:t>(</a:t>
            </a:r>
            <a:r>
              <a:rPr lang="es-ES" sz="600" dirty="0" err="1"/>
              <a:t>length</a:t>
            </a:r>
            <a:r>
              <a:rPr lang="es-ES" sz="600" dirty="0"/>
              <a:t>=</a:t>
            </a:r>
            <a:r>
              <a:rPr lang="es-ES" sz="600" dirty="0" err="1"/>
              <a:t>longitud_vertical</a:t>
            </a:r>
            <a:r>
              <a:rPr lang="es-ES" sz="600" dirty="0"/>
              <a:t>, </a:t>
            </a:r>
            <a:r>
              <a:rPr lang="es-ES" sz="600" dirty="0" err="1"/>
              <a:t>cross_section</a:t>
            </a:r>
            <a:r>
              <a:rPr lang="es-ES" sz="600" dirty="0"/>
              <a:t>=</a:t>
            </a:r>
            <a:r>
              <a:rPr lang="es-ES" sz="600" dirty="0" err="1"/>
              <a:t>seccion_acceso</a:t>
            </a:r>
            <a:r>
              <a:rPr lang="es-ES" sz="600" dirty="0"/>
              <a:t>)</a:t>
            </a:r>
          </a:p>
          <a:p>
            <a:r>
              <a:rPr lang="es-ES" sz="600" dirty="0" err="1"/>
              <a:t>guia_h</a:t>
            </a:r>
            <a:r>
              <a:rPr lang="es-ES" sz="600" dirty="0"/>
              <a:t> = </a:t>
            </a:r>
            <a:r>
              <a:rPr lang="es-ES" sz="600" dirty="0" err="1"/>
              <a:t>gf.components.straight</a:t>
            </a:r>
            <a:r>
              <a:rPr lang="es-ES" sz="600" dirty="0"/>
              <a:t>(</a:t>
            </a:r>
            <a:r>
              <a:rPr lang="es-ES" sz="600" dirty="0" err="1"/>
              <a:t>length</a:t>
            </a:r>
            <a:r>
              <a:rPr lang="es-ES" sz="600" dirty="0"/>
              <a:t>=</a:t>
            </a:r>
            <a:r>
              <a:rPr lang="es-ES" sz="600" dirty="0" err="1"/>
              <a:t>longitud_horizontal</a:t>
            </a:r>
            <a:r>
              <a:rPr lang="es-ES" sz="600" dirty="0"/>
              <a:t>, </a:t>
            </a:r>
            <a:r>
              <a:rPr lang="es-ES" sz="600" dirty="0" err="1"/>
              <a:t>cross_section</a:t>
            </a:r>
            <a:r>
              <a:rPr lang="es-ES" sz="600" dirty="0"/>
              <a:t>=</a:t>
            </a:r>
            <a:r>
              <a:rPr lang="es-ES" sz="600" dirty="0" err="1"/>
              <a:t>seccion_acceso</a:t>
            </a:r>
            <a:r>
              <a:rPr lang="es-ES" sz="600" dirty="0"/>
              <a:t>)</a:t>
            </a:r>
          </a:p>
          <a:p>
            <a:br>
              <a:rPr lang="es-ES" sz="600" dirty="0"/>
            </a:br>
            <a:endParaRPr lang="es-ES" sz="600" dirty="0"/>
          </a:p>
          <a:p>
            <a:r>
              <a:rPr lang="es-ES" sz="600" dirty="0"/>
              <a:t># =======================================================================</a:t>
            </a:r>
          </a:p>
          <a:p>
            <a:r>
              <a:rPr lang="es-ES" sz="600" dirty="0"/>
              <a:t># 3. CONSTRUCCIÓN DEL BUCLE SUPERIOR (RACETRACK)</a:t>
            </a:r>
          </a:p>
          <a:p>
            <a:r>
              <a:rPr lang="es-ES" sz="600" dirty="0"/>
              <a:t># =======================================================================</a:t>
            </a:r>
          </a:p>
          <a:p>
            <a:r>
              <a:rPr lang="es-ES" sz="600" dirty="0"/>
              <a:t># Esquina inferior derecha: sube desde la salida superior del MMI</a:t>
            </a:r>
          </a:p>
          <a:p>
            <a:r>
              <a:rPr lang="es-ES" sz="600" dirty="0"/>
              <a:t>b1 = </a:t>
            </a:r>
            <a:r>
              <a:rPr lang="es-ES" sz="600" dirty="0" err="1"/>
              <a:t>resonador_racetrack.add_ref</a:t>
            </a:r>
            <a:r>
              <a:rPr lang="es-ES" sz="600" dirty="0"/>
              <a:t>(b90)</a:t>
            </a:r>
          </a:p>
          <a:p>
            <a:r>
              <a:rPr lang="es-ES" sz="600" dirty="0"/>
              <a:t>b1.connect("o1", </a:t>
            </a:r>
            <a:r>
              <a:rPr lang="es-ES" sz="600" dirty="0" err="1"/>
              <a:t>mmi_central.ports</a:t>
            </a:r>
            <a:r>
              <a:rPr lang="es-ES" sz="600" dirty="0"/>
              <a:t>["</a:t>
            </a:r>
            <a:r>
              <a:rPr lang="es-ES" sz="600" dirty="0" err="1"/>
              <a:t>out_top</a:t>
            </a:r>
            <a:r>
              <a:rPr lang="es-ES" sz="600" dirty="0"/>
              <a:t>"])</a:t>
            </a:r>
          </a:p>
          <a:p>
            <a:br>
              <a:rPr lang="es-ES" sz="600" dirty="0"/>
            </a:br>
            <a:endParaRPr lang="es-ES" sz="600" dirty="0"/>
          </a:p>
          <a:p>
            <a:r>
              <a:rPr lang="es-ES" sz="600" dirty="0"/>
              <a:t># Recta vertical derecha (subiendo)</a:t>
            </a:r>
          </a:p>
          <a:p>
            <a:r>
              <a:rPr lang="es-ES" sz="600" dirty="0"/>
              <a:t>v1 = </a:t>
            </a:r>
            <a:r>
              <a:rPr lang="es-ES" sz="600" dirty="0" err="1"/>
              <a:t>resonador_racetrack.add_ref</a:t>
            </a:r>
            <a:r>
              <a:rPr lang="es-ES" sz="600" dirty="0"/>
              <a:t>(</a:t>
            </a:r>
            <a:r>
              <a:rPr lang="es-ES" sz="600" dirty="0" err="1"/>
              <a:t>guia_v</a:t>
            </a:r>
            <a:r>
              <a:rPr lang="es-ES" sz="600" dirty="0"/>
              <a:t>)</a:t>
            </a:r>
          </a:p>
          <a:p>
            <a:r>
              <a:rPr lang="es-ES" sz="600" dirty="0"/>
              <a:t>v1.connect("o1", b1.ports["o2"])</a:t>
            </a:r>
          </a:p>
          <a:p>
            <a:br>
              <a:rPr lang="es-ES" sz="600" dirty="0"/>
            </a:br>
            <a:endParaRPr lang="es-ES" sz="600" dirty="0"/>
          </a:p>
          <a:p>
            <a:r>
              <a:rPr lang="es-ES" sz="600" dirty="0"/>
              <a:t># Esquina superior derecha: gira hacia la izquierda</a:t>
            </a:r>
          </a:p>
          <a:p>
            <a:r>
              <a:rPr lang="es-ES" sz="600" dirty="0"/>
              <a:t>b2 = </a:t>
            </a:r>
            <a:r>
              <a:rPr lang="es-ES" sz="600" dirty="0" err="1"/>
              <a:t>resonador_racetrack.add_ref</a:t>
            </a:r>
            <a:r>
              <a:rPr lang="es-ES" sz="600" dirty="0"/>
              <a:t>(b90)</a:t>
            </a:r>
          </a:p>
          <a:p>
            <a:r>
              <a:rPr lang="es-ES" sz="600" dirty="0"/>
              <a:t>b2.connect("o1", v1.ports["o2"])</a:t>
            </a:r>
          </a:p>
          <a:p>
            <a:br>
              <a:rPr lang="es-ES" sz="600" dirty="0"/>
            </a:br>
            <a:endParaRPr lang="es-ES" sz="600" dirty="0"/>
          </a:p>
          <a:p>
            <a:r>
              <a:rPr lang="es-ES" sz="600" dirty="0"/>
              <a:t># Recta horizontal superior (hacia la izquierda)</a:t>
            </a:r>
          </a:p>
          <a:p>
            <a:r>
              <a:rPr lang="es-ES" sz="600" dirty="0"/>
              <a:t>h1 = </a:t>
            </a:r>
            <a:r>
              <a:rPr lang="es-ES" sz="600" dirty="0" err="1"/>
              <a:t>resonador_racetrack.add_ref</a:t>
            </a:r>
            <a:r>
              <a:rPr lang="es-ES" sz="600" dirty="0"/>
              <a:t>(</a:t>
            </a:r>
            <a:r>
              <a:rPr lang="es-ES" sz="600" dirty="0" err="1"/>
              <a:t>guia_h</a:t>
            </a:r>
            <a:r>
              <a:rPr lang="es-ES" sz="600" dirty="0"/>
              <a:t>)</a:t>
            </a:r>
          </a:p>
          <a:p>
            <a:r>
              <a:rPr lang="es-ES" sz="600" dirty="0"/>
              <a:t>h1.connect("o1", b2.ports["o2"])</a:t>
            </a:r>
          </a:p>
          <a:p>
            <a:br>
              <a:rPr lang="es-ES" sz="600" dirty="0"/>
            </a:br>
            <a:endParaRPr lang="es-ES" sz="600" dirty="0"/>
          </a:p>
          <a:p>
            <a:r>
              <a:rPr lang="es-ES" sz="600" dirty="0"/>
              <a:t># Esquina superior izquierda: gira hacia abajo</a:t>
            </a:r>
          </a:p>
          <a:p>
            <a:r>
              <a:rPr lang="es-ES" sz="600" dirty="0"/>
              <a:t>b3 = </a:t>
            </a:r>
            <a:r>
              <a:rPr lang="es-ES" sz="600" dirty="0" err="1"/>
              <a:t>resonador_racetrack.add_ref</a:t>
            </a:r>
            <a:r>
              <a:rPr lang="es-ES" sz="600" dirty="0"/>
              <a:t>(b90)</a:t>
            </a:r>
          </a:p>
          <a:p>
            <a:r>
              <a:rPr lang="es-ES" sz="600" dirty="0"/>
              <a:t>b3.connect("o1", h1.ports["o2"])</a:t>
            </a:r>
          </a:p>
          <a:p>
            <a:br>
              <a:rPr lang="es-ES" sz="600" dirty="0"/>
            </a:br>
            <a:endParaRPr lang="es-ES" sz="600" dirty="0"/>
          </a:p>
          <a:p>
            <a:r>
              <a:rPr lang="es-ES" sz="600" dirty="0"/>
              <a:t># Recta vertical izquierda (bajando)</a:t>
            </a:r>
          </a:p>
          <a:p>
            <a:r>
              <a:rPr lang="es-ES" sz="600" dirty="0"/>
              <a:t>v2 = </a:t>
            </a:r>
            <a:r>
              <a:rPr lang="es-ES" sz="600" dirty="0" err="1"/>
              <a:t>resonador_racetrack.add_ref</a:t>
            </a:r>
            <a:r>
              <a:rPr lang="es-ES" sz="600" dirty="0"/>
              <a:t>(</a:t>
            </a:r>
            <a:r>
              <a:rPr lang="es-ES" sz="600" dirty="0" err="1"/>
              <a:t>guia_v</a:t>
            </a:r>
            <a:r>
              <a:rPr lang="es-ES" sz="600" dirty="0"/>
              <a:t>)</a:t>
            </a:r>
          </a:p>
          <a:p>
            <a:r>
              <a:rPr lang="es-ES" sz="600" dirty="0"/>
              <a:t>v2.connect("o1", b3.ports["o2"])</a:t>
            </a:r>
          </a:p>
          <a:p>
            <a:br>
              <a:rPr lang="es-ES" sz="600" dirty="0"/>
            </a:br>
            <a:endParaRPr lang="es-ES" sz="600" dirty="0"/>
          </a:p>
          <a:p>
            <a:r>
              <a:rPr lang="es-ES" sz="600" dirty="0"/>
              <a:t># Esquina inferior izquierda: gira a la derecha para cerrar en la entrada superior del MMI</a:t>
            </a:r>
          </a:p>
          <a:p>
            <a:r>
              <a:rPr lang="es-ES" sz="600" dirty="0"/>
              <a:t>b4 = </a:t>
            </a:r>
            <a:r>
              <a:rPr lang="es-ES" sz="600" dirty="0" err="1"/>
              <a:t>resonador_racetrack.add_ref</a:t>
            </a:r>
            <a:r>
              <a:rPr lang="es-ES" sz="600" dirty="0"/>
              <a:t>(b90)</a:t>
            </a:r>
          </a:p>
          <a:p>
            <a:r>
              <a:rPr lang="es-ES" sz="600" dirty="0"/>
              <a:t>b4.connect("o1", v2.ports["o2"])</a:t>
            </a:r>
          </a:p>
          <a:p>
            <a:br>
              <a:rPr lang="es-ES" sz="600" dirty="0"/>
            </a:br>
            <a:br>
              <a:rPr lang="es-ES" sz="600" dirty="0"/>
            </a:br>
            <a:endParaRPr lang="es-ES" sz="600" dirty="0"/>
          </a:p>
          <a:p>
            <a:r>
              <a:rPr lang="es-ES" sz="600" dirty="0"/>
              <a:t># =======================================================================</a:t>
            </a:r>
          </a:p>
          <a:p>
            <a:r>
              <a:rPr lang="es-ES" sz="600" dirty="0"/>
              <a:t># 4. PUERTOS GLOBALES DEL CIRCUITO (Brazo inferior libre)</a:t>
            </a:r>
          </a:p>
          <a:p>
            <a:r>
              <a:rPr lang="es-ES" sz="600" dirty="0"/>
              <a:t># =======================================================================</a:t>
            </a:r>
          </a:p>
          <a:p>
            <a:r>
              <a:rPr lang="es-ES" sz="600" dirty="0"/>
              <a:t># Tal y como muestra tu imagen, in0 y out0 son los accesos inferiores del bloque</a:t>
            </a:r>
          </a:p>
          <a:p>
            <a:r>
              <a:rPr lang="es-ES" sz="600" dirty="0" err="1"/>
              <a:t>resonador_racetrack.add_port</a:t>
            </a:r>
            <a:r>
              <a:rPr lang="es-ES" sz="600" dirty="0"/>
              <a:t>("in0", </a:t>
            </a:r>
            <a:r>
              <a:rPr lang="es-ES" sz="600" dirty="0" err="1"/>
              <a:t>port</a:t>
            </a:r>
            <a:r>
              <a:rPr lang="es-ES" sz="600" dirty="0"/>
              <a:t>=</a:t>
            </a:r>
            <a:r>
              <a:rPr lang="es-ES" sz="600" dirty="0" err="1"/>
              <a:t>mmi_central.ports</a:t>
            </a:r>
            <a:r>
              <a:rPr lang="es-ES" sz="600" dirty="0"/>
              <a:t>["</a:t>
            </a:r>
            <a:r>
              <a:rPr lang="es-ES" sz="600" dirty="0" err="1"/>
              <a:t>in_bot</a:t>
            </a:r>
            <a:r>
              <a:rPr lang="es-ES" sz="600" dirty="0"/>
              <a:t>"])</a:t>
            </a:r>
          </a:p>
          <a:p>
            <a:r>
              <a:rPr lang="es-ES" sz="600" dirty="0" err="1"/>
              <a:t>resonador_racetrack.add_port</a:t>
            </a:r>
            <a:r>
              <a:rPr lang="es-ES" sz="600" dirty="0"/>
              <a:t>("out0", </a:t>
            </a:r>
            <a:r>
              <a:rPr lang="es-ES" sz="600" dirty="0" err="1"/>
              <a:t>port</a:t>
            </a:r>
            <a:r>
              <a:rPr lang="es-ES" sz="600" dirty="0"/>
              <a:t>=</a:t>
            </a:r>
            <a:r>
              <a:rPr lang="es-ES" sz="600" dirty="0" err="1"/>
              <a:t>mmi_central.ports</a:t>
            </a:r>
            <a:r>
              <a:rPr lang="es-ES" sz="600" dirty="0"/>
              <a:t>["</a:t>
            </a:r>
            <a:r>
              <a:rPr lang="es-ES" sz="600" dirty="0" err="1"/>
              <a:t>out_bot</a:t>
            </a:r>
            <a:r>
              <a:rPr lang="es-ES" sz="600" dirty="0"/>
              <a:t>"])</a:t>
            </a:r>
          </a:p>
          <a:p>
            <a:br>
              <a:rPr lang="es-ES" sz="600" dirty="0"/>
            </a:br>
            <a:br>
              <a:rPr lang="es-ES" sz="600" dirty="0"/>
            </a:br>
            <a:endParaRPr lang="es-ES" sz="600" dirty="0"/>
          </a:p>
          <a:p>
            <a:r>
              <a:rPr lang="es-ES" sz="600" dirty="0"/>
              <a:t># ==========================================</a:t>
            </a:r>
          </a:p>
          <a:p>
            <a:r>
              <a:rPr lang="es-ES" sz="600" dirty="0"/>
              <a:t># VISUALIZACIÓN</a:t>
            </a:r>
          </a:p>
          <a:p>
            <a:r>
              <a:rPr lang="es-ES" sz="600" dirty="0"/>
              <a:t># ==========================================</a:t>
            </a:r>
          </a:p>
          <a:p>
            <a:r>
              <a:rPr lang="es-ES" sz="600" dirty="0" err="1"/>
              <a:t>resonador_racetrack.plot</a:t>
            </a:r>
            <a:r>
              <a:rPr lang="es-ES" sz="600" dirty="0"/>
              <a:t>()</a:t>
            </a:r>
          </a:p>
          <a:p>
            <a:r>
              <a:rPr lang="es-ES" sz="600" dirty="0" err="1"/>
              <a:t>resonador_racetrack.show</a:t>
            </a:r>
            <a:r>
              <a:rPr lang="es-ES" sz="600" dirty="0"/>
              <a:t>()</a:t>
            </a:r>
          </a:p>
          <a:p>
            <a:r>
              <a:rPr lang="es-ES" sz="600" dirty="0" err="1"/>
              <a:t>scene</a:t>
            </a:r>
            <a:r>
              <a:rPr lang="es-ES" sz="600" dirty="0"/>
              <a:t> = resonador_racetrack.to_3d()</a:t>
            </a:r>
          </a:p>
          <a:p>
            <a:r>
              <a:rPr lang="es-ES" sz="600" dirty="0" err="1"/>
              <a:t>scene.show</a:t>
            </a:r>
            <a:r>
              <a:rPr lang="es-ES" sz="600" dirty="0"/>
              <a:t>()</a:t>
            </a:r>
          </a:p>
          <a:p>
            <a:pPr algn="ctr"/>
            <a:endParaRPr lang="en-US" sz="600" dirty="0"/>
          </a:p>
        </p:txBody>
      </p:sp>
      <p:sp>
        <p:nvSpPr>
          <p:cNvPr id="8" name="Rectángulo 7">
            <a:extLst>
              <a:ext uri="{FF2B5EF4-FFF2-40B4-BE49-F238E27FC236}">
                <a16:creationId xmlns:a16="http://schemas.microsoft.com/office/drawing/2014/main" id="{C1FC116A-BB98-FF93-D0E2-0F73F599691B}"/>
              </a:ext>
            </a:extLst>
          </p:cNvPr>
          <p:cNvSpPr/>
          <p:nvPr/>
        </p:nvSpPr>
        <p:spPr>
          <a:xfrm>
            <a:off x="6476841" y="1420406"/>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6E194872-9824-5E9A-BC69-3A834C985F09}"/>
              </a:ext>
            </a:extLst>
          </p:cNvPr>
          <p:cNvSpPr txBox="1"/>
          <p:nvPr/>
        </p:nvSpPr>
        <p:spPr>
          <a:xfrm>
            <a:off x="7956912" y="2496339"/>
            <a:ext cx="2372445" cy="369332"/>
          </a:xfrm>
          <a:prstGeom prst="rect">
            <a:avLst/>
          </a:prstGeom>
          <a:noFill/>
        </p:spPr>
        <p:txBody>
          <a:bodyPr wrap="none" rtlCol="0">
            <a:spAutoFit/>
          </a:bodyPr>
          <a:lstStyle/>
          <a:p>
            <a:pPr algn="ctr"/>
            <a:r>
              <a:rPr lang="es-ES" dirty="0" err="1"/>
              <a:t>Component</a:t>
            </a:r>
            <a:r>
              <a:rPr lang="es-ES" dirty="0"/>
              <a:t> </a:t>
            </a:r>
            <a:r>
              <a:rPr lang="es-ES" dirty="0" err="1"/>
              <a:t>screenshot</a:t>
            </a:r>
            <a:endParaRPr lang="en-US" dirty="0"/>
          </a:p>
        </p:txBody>
      </p:sp>
      <p:pic>
        <p:nvPicPr>
          <p:cNvPr id="5" name="Picture 4">
            <a:extLst>
              <a:ext uri="{FF2B5EF4-FFF2-40B4-BE49-F238E27FC236}">
                <a16:creationId xmlns:a16="http://schemas.microsoft.com/office/drawing/2014/main" id="{A92E0E2B-0C8C-5E28-FE2A-FE64A53A4097}"/>
              </a:ext>
            </a:extLst>
          </p:cNvPr>
          <p:cNvPicPr>
            <a:picLocks noChangeAspect="1"/>
          </p:cNvPicPr>
          <p:nvPr/>
        </p:nvPicPr>
        <p:blipFill>
          <a:blip r:embed="rId4"/>
          <a:stretch>
            <a:fillRect/>
          </a:stretch>
        </p:blipFill>
        <p:spPr>
          <a:xfrm>
            <a:off x="7009985" y="1318965"/>
            <a:ext cx="4438680" cy="3350768"/>
          </a:xfrm>
          <a:prstGeom prst="rect">
            <a:avLst/>
          </a:prstGeom>
        </p:spPr>
      </p:pic>
    </p:spTree>
    <p:extLst>
      <p:ext uri="{BB962C8B-B14F-4D97-AF65-F5344CB8AC3E}">
        <p14:creationId xmlns:p14="http://schemas.microsoft.com/office/powerpoint/2010/main" val="8795593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5B0A8-BCE1-AF65-5AFA-79184BEDA90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DCA2EEE-70B8-D049-D7BD-B54DCCF3207D}"/>
              </a:ext>
            </a:extLst>
          </p:cNvPr>
          <p:cNvSpPr txBox="1">
            <a:spLocks noGrp="1"/>
          </p:cNvSpPr>
          <p:nvPr>
            <p:ph type="title"/>
          </p:nvPr>
        </p:nvSpPr>
        <p:spPr>
          <a:xfrm>
            <a:off x="685800" y="408883"/>
            <a:ext cx="10994410" cy="951543"/>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#2a – Notebook section 2. Layout Fundamentals</a:t>
            </a:r>
            <a:br>
              <a:rPr lang="en-US" sz="2500" dirty="0"/>
            </a:br>
            <a:r>
              <a:rPr lang="en-US" sz="1800" b="0" i="1" dirty="0"/>
              <a:t>“Once that we have a working 'new' component, we shall convert it into a Cell. This will allow us to have a hierarchical design”</a:t>
            </a:r>
            <a:endParaRPr sz="2500" b="0" i="1" dirty="0">
              <a:latin typeface="+mj-lt"/>
              <a:cs typeface="Lucida Sans"/>
            </a:endParaRPr>
          </a:p>
        </p:txBody>
      </p:sp>
      <p:pic>
        <p:nvPicPr>
          <p:cNvPr id="83" name="Gráfico 82">
            <a:extLst>
              <a:ext uri="{FF2B5EF4-FFF2-40B4-BE49-F238E27FC236}">
                <a16:creationId xmlns:a16="http://schemas.microsoft.com/office/drawing/2014/main" id="{DDB8C9DA-7093-6464-A7C1-20B2A585A1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102C027-A211-C670-7EF5-D7A4650EEA98}"/>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3" name="Marcador de pie de página 2">
            <a:extLst>
              <a:ext uri="{FF2B5EF4-FFF2-40B4-BE49-F238E27FC236}">
                <a16:creationId xmlns:a16="http://schemas.microsoft.com/office/drawing/2014/main" id="{3BB5A66E-75F8-8688-0D68-26E0DDB3AC86}"/>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35C0B36B-B4BD-C242-E1BB-26DD7AC56DB0}"/>
              </a:ext>
            </a:extLst>
          </p:cNvPr>
          <p:cNvSpPr txBox="1"/>
          <p:nvPr/>
        </p:nvSpPr>
        <p:spPr>
          <a:xfrm>
            <a:off x="609441" y="4860334"/>
            <a:ext cx="11199971" cy="27699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Este es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marco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delimita</a:t>
            </a:r>
            <a:r>
              <a:rPr lang="en-US" sz="1200" dirty="0">
                <a:latin typeface="Arial" panose="020B0604020202020204" pitchFamily="34" charset="0"/>
                <a:cs typeface="Arial" panose="020B0604020202020204" pitchFamily="34" charset="0"/>
              </a:rPr>
              <a:t> las </a:t>
            </a:r>
            <a:r>
              <a:rPr lang="en-US" sz="1200" dirty="0" err="1">
                <a:latin typeface="Arial" panose="020B0604020202020204" pitchFamily="34" charset="0"/>
                <a:cs typeface="Arial" panose="020B0604020202020204" pitchFamily="34" charset="0"/>
              </a:rPr>
              <a:t>medidas</a:t>
            </a:r>
            <a:r>
              <a:rPr lang="en-US" sz="1200" dirty="0">
                <a:latin typeface="Arial" panose="020B0604020202020204" pitchFamily="34" charset="0"/>
                <a:cs typeface="Arial" panose="020B0604020202020204" pitchFamily="34" charset="0"/>
              </a:rPr>
              <a:t> del </a:t>
            </a:r>
            <a:r>
              <a:rPr lang="en-US" sz="1200" dirty="0" err="1">
                <a:latin typeface="Arial" panose="020B0604020202020204" pitchFamily="34" charset="0"/>
                <a:cs typeface="Arial" panose="020B0604020202020204" pitchFamily="34" charset="0"/>
              </a:rPr>
              <a:t>diseño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components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desarrollen</a:t>
            </a:r>
            <a:r>
              <a:rPr lang="en-US" sz="1200" dirty="0">
                <a:latin typeface="Arial" panose="020B0604020202020204" pitchFamily="34" charset="0"/>
                <a:cs typeface="Arial" panose="020B0604020202020204" pitchFamily="34" charset="0"/>
              </a:rPr>
              <a:t> no </a:t>
            </a:r>
            <a:r>
              <a:rPr lang="en-US" sz="1200" dirty="0" err="1">
                <a:latin typeface="Arial" panose="020B0604020202020204" pitchFamily="34" charset="0"/>
                <a:cs typeface="Arial" panose="020B0604020202020204" pitchFamily="34" charset="0"/>
              </a:rPr>
              <a:t>pueden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salirse</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este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mismo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marco</a:t>
            </a:r>
            <a:endParaRPr lang="en-US" sz="1200" dirty="0">
              <a:latin typeface="Arial" panose="020B0604020202020204" pitchFamily="34" charset="0"/>
              <a:cs typeface="Arial" panose="020B0604020202020204" pitchFamily="34" charset="0"/>
            </a:endParaRPr>
          </a:p>
        </p:txBody>
      </p:sp>
      <p:sp>
        <p:nvSpPr>
          <p:cNvPr id="6" name="Rectángulo 5">
            <a:extLst>
              <a:ext uri="{FF2B5EF4-FFF2-40B4-BE49-F238E27FC236}">
                <a16:creationId xmlns:a16="http://schemas.microsoft.com/office/drawing/2014/main" id="{399364F4-A34A-5161-07CB-E12F9FFCB400}"/>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62A2AA3F-CE55-C50B-CB18-2C8D2061FDB9}"/>
              </a:ext>
            </a:extLst>
          </p:cNvPr>
          <p:cNvSpPr txBox="1"/>
          <p:nvPr/>
        </p:nvSpPr>
        <p:spPr>
          <a:xfrm>
            <a:off x="2610484" y="1462603"/>
            <a:ext cx="184731" cy="523220"/>
          </a:xfrm>
          <a:prstGeom prst="rect">
            <a:avLst/>
          </a:prstGeom>
          <a:noFill/>
        </p:spPr>
        <p:txBody>
          <a:bodyPr wrap="none" rtlCol="0">
            <a:spAutoFit/>
          </a:bodyPr>
          <a:lstStyle/>
          <a:p>
            <a:pPr algn="ctr"/>
            <a:endParaRPr lang="en-US" sz="1000" dirty="0"/>
          </a:p>
          <a:p>
            <a:pPr algn="ctr"/>
            <a:endParaRPr lang="en-US" dirty="0"/>
          </a:p>
        </p:txBody>
      </p:sp>
      <p:sp>
        <p:nvSpPr>
          <p:cNvPr id="8" name="Rectángulo 7">
            <a:extLst>
              <a:ext uri="{FF2B5EF4-FFF2-40B4-BE49-F238E27FC236}">
                <a16:creationId xmlns:a16="http://schemas.microsoft.com/office/drawing/2014/main" id="{4DFC788C-53E2-83E7-3D9E-EBD582171C71}"/>
              </a:ext>
            </a:extLst>
          </p:cNvPr>
          <p:cNvSpPr/>
          <p:nvPr/>
        </p:nvSpPr>
        <p:spPr>
          <a:xfrm>
            <a:off x="6476841" y="1420406"/>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2C44A1ED-9D94-1354-DB46-756E574E2C7E}"/>
              </a:ext>
            </a:extLst>
          </p:cNvPr>
          <p:cNvSpPr txBox="1"/>
          <p:nvPr/>
        </p:nvSpPr>
        <p:spPr>
          <a:xfrm>
            <a:off x="8483018" y="2496339"/>
            <a:ext cx="1320234" cy="646331"/>
          </a:xfrm>
          <a:prstGeom prst="rect">
            <a:avLst/>
          </a:prstGeom>
          <a:noFill/>
        </p:spPr>
        <p:txBody>
          <a:bodyPr wrap="none" rtlCol="0">
            <a:spAutoFit/>
          </a:bodyPr>
          <a:lstStyle/>
          <a:p>
            <a:pPr algn="ctr"/>
            <a:r>
              <a:rPr lang="es-ES" dirty="0" err="1"/>
              <a:t>Example</a:t>
            </a:r>
            <a:r>
              <a:rPr lang="es-ES" dirty="0"/>
              <a:t> die</a:t>
            </a:r>
          </a:p>
          <a:p>
            <a:pPr algn="ctr"/>
            <a:r>
              <a:rPr lang="es-ES" dirty="0"/>
              <a:t> </a:t>
            </a:r>
            <a:r>
              <a:rPr lang="es-ES" dirty="0" err="1"/>
              <a:t>screenshot</a:t>
            </a:r>
            <a:endParaRPr lang="en-US" dirty="0"/>
          </a:p>
        </p:txBody>
      </p:sp>
      <p:sp>
        <p:nvSpPr>
          <p:cNvPr id="15" name="CuadroTexto 6">
            <a:extLst>
              <a:ext uri="{FF2B5EF4-FFF2-40B4-BE49-F238E27FC236}">
                <a16:creationId xmlns:a16="http://schemas.microsoft.com/office/drawing/2014/main" id="{BC5A45A9-0DD1-EAF4-E705-15DBDD07BAF8}"/>
              </a:ext>
            </a:extLst>
          </p:cNvPr>
          <p:cNvSpPr txBox="1"/>
          <p:nvPr/>
        </p:nvSpPr>
        <p:spPr>
          <a:xfrm>
            <a:off x="763367" y="1558191"/>
            <a:ext cx="5446059" cy="3170099"/>
          </a:xfrm>
          <a:prstGeom prst="rect">
            <a:avLst/>
          </a:prstGeom>
          <a:noFill/>
        </p:spPr>
        <p:txBody>
          <a:bodyPr wrap="square" rtlCol="0">
            <a:spAutoFit/>
          </a:bodyPr>
          <a:lstStyle/>
          <a:p>
            <a:r>
              <a:rPr lang="es-ES" sz="1000" dirty="0"/>
              <a:t>wgw = 0.5</a:t>
            </a:r>
          </a:p>
          <a:p>
            <a:r>
              <a:rPr lang="es-ES" sz="1000" dirty="0" err="1"/>
              <a:t>dieL</a:t>
            </a:r>
            <a:r>
              <a:rPr lang="es-ES" sz="1000" dirty="0"/>
              <a:t> = 5000</a:t>
            </a:r>
          </a:p>
          <a:p>
            <a:r>
              <a:rPr lang="es-ES" sz="1000" dirty="0" err="1"/>
              <a:t>dieW</a:t>
            </a:r>
            <a:r>
              <a:rPr lang="es-ES" sz="1000" dirty="0"/>
              <a:t> = 5000</a:t>
            </a:r>
          </a:p>
          <a:p>
            <a:r>
              <a:rPr lang="es-ES" sz="1000" dirty="0" err="1"/>
              <a:t>border</a:t>
            </a:r>
            <a:r>
              <a:rPr lang="es-ES" sz="1000" dirty="0"/>
              <a:t> = 125</a:t>
            </a:r>
          </a:p>
          <a:p>
            <a:r>
              <a:rPr lang="es-ES" sz="1000" dirty="0" err="1"/>
              <a:t>layer_wg</a:t>
            </a:r>
            <a:r>
              <a:rPr lang="es-ES" sz="1000" dirty="0"/>
              <a:t> = "WG"</a:t>
            </a:r>
          </a:p>
          <a:p>
            <a:r>
              <a:rPr lang="es-ES" sz="1000" dirty="0" err="1"/>
              <a:t>layer_box</a:t>
            </a:r>
            <a:r>
              <a:rPr lang="es-ES" sz="1000" dirty="0"/>
              <a:t> = "FLOORPLAN“</a:t>
            </a:r>
          </a:p>
          <a:p>
            <a:endParaRPr lang="es-ES" sz="1000" dirty="0"/>
          </a:p>
          <a:p>
            <a:r>
              <a:rPr lang="es-ES" sz="1000" dirty="0"/>
              <a:t># Die </a:t>
            </a:r>
            <a:r>
              <a:rPr lang="es-ES" sz="1000" dirty="0" err="1"/>
              <a:t>specifications</a:t>
            </a:r>
            <a:r>
              <a:rPr lang="es-ES" sz="1000" dirty="0"/>
              <a:t> (Chip)</a:t>
            </a:r>
          </a:p>
          <a:p>
            <a:r>
              <a:rPr lang="es-ES" sz="1000" dirty="0"/>
              <a:t>box = </a:t>
            </a:r>
            <a:r>
              <a:rPr lang="es-ES" sz="1000" dirty="0" err="1"/>
              <a:t>gf.Component</a:t>
            </a:r>
            <a:r>
              <a:rPr lang="es-ES" sz="1000" dirty="0"/>
              <a:t>()</a:t>
            </a:r>
          </a:p>
          <a:p>
            <a:r>
              <a:rPr lang="es-ES" sz="1000" dirty="0" err="1"/>
              <a:t>obox</a:t>
            </a:r>
            <a:r>
              <a:rPr lang="es-ES" sz="1000" dirty="0"/>
              <a:t> = </a:t>
            </a:r>
            <a:r>
              <a:rPr lang="es-ES" sz="1000" dirty="0" err="1"/>
              <a:t>box.add_ref</a:t>
            </a:r>
            <a:r>
              <a:rPr lang="es-ES" sz="1000" dirty="0"/>
              <a:t>(</a:t>
            </a:r>
            <a:r>
              <a:rPr lang="es-ES" sz="1000" dirty="0" err="1"/>
              <a:t>gf.components.rectangle</a:t>
            </a:r>
            <a:r>
              <a:rPr lang="es-ES" sz="1000" dirty="0"/>
              <a:t>(</a:t>
            </a:r>
            <a:r>
              <a:rPr lang="es-ES" sz="1000" dirty="0" err="1"/>
              <a:t>size</a:t>
            </a:r>
            <a:r>
              <a:rPr lang="es-ES" sz="1000" dirty="0"/>
              <a:t>=(</a:t>
            </a:r>
            <a:r>
              <a:rPr lang="es-ES" sz="1000" dirty="0" err="1"/>
              <a:t>dieW,dieL</a:t>
            </a:r>
            <a:r>
              <a:rPr lang="es-ES" sz="1000" dirty="0"/>
              <a:t>),</a:t>
            </a:r>
            <a:r>
              <a:rPr lang="es-ES" sz="1000" dirty="0" err="1"/>
              <a:t>layer</a:t>
            </a:r>
            <a:r>
              <a:rPr lang="es-ES" sz="1000" dirty="0"/>
              <a:t>=</a:t>
            </a:r>
            <a:r>
              <a:rPr lang="es-ES" sz="1000" dirty="0" err="1"/>
              <a:t>layer_box</a:t>
            </a:r>
            <a:r>
              <a:rPr lang="es-ES" sz="1000" dirty="0"/>
              <a:t>))</a:t>
            </a:r>
          </a:p>
          <a:p>
            <a:r>
              <a:rPr lang="es-ES" sz="1000" dirty="0" err="1"/>
              <a:t>ibox</a:t>
            </a:r>
            <a:r>
              <a:rPr lang="es-ES" sz="1000" dirty="0"/>
              <a:t> = </a:t>
            </a:r>
            <a:r>
              <a:rPr lang="es-ES" sz="1000" dirty="0" err="1"/>
              <a:t>box.add_ref</a:t>
            </a:r>
            <a:r>
              <a:rPr lang="es-ES" sz="1000" dirty="0"/>
              <a:t>(</a:t>
            </a:r>
            <a:r>
              <a:rPr lang="es-ES" sz="1000" dirty="0" err="1"/>
              <a:t>gf.components.rectangle</a:t>
            </a:r>
            <a:r>
              <a:rPr lang="es-ES" sz="1000" dirty="0"/>
              <a:t>(</a:t>
            </a:r>
            <a:r>
              <a:rPr lang="es-ES" sz="1000" dirty="0" err="1"/>
              <a:t>size</a:t>
            </a:r>
            <a:r>
              <a:rPr lang="es-ES" sz="1000" dirty="0"/>
              <a:t>=(</a:t>
            </a:r>
            <a:r>
              <a:rPr lang="es-ES" sz="1000" dirty="0" err="1"/>
              <a:t>dieW-border</a:t>
            </a:r>
            <a:r>
              <a:rPr lang="es-ES" sz="1000" dirty="0"/>
              <a:t>*2,dieL-border*2),</a:t>
            </a:r>
            <a:r>
              <a:rPr lang="es-ES" sz="1000" dirty="0" err="1"/>
              <a:t>layer</a:t>
            </a:r>
            <a:r>
              <a:rPr lang="es-ES" sz="1000" dirty="0"/>
              <a:t>=</a:t>
            </a:r>
            <a:r>
              <a:rPr lang="es-ES" sz="1000" dirty="0" err="1"/>
              <a:t>layer_box</a:t>
            </a:r>
            <a:r>
              <a:rPr lang="es-ES" sz="1000" dirty="0"/>
              <a:t>))</a:t>
            </a:r>
          </a:p>
          <a:p>
            <a:r>
              <a:rPr lang="es-ES" sz="1000" dirty="0"/>
              <a:t>.</a:t>
            </a:r>
            <a:r>
              <a:rPr lang="es-ES" sz="1000" dirty="0" err="1"/>
              <a:t>dmovex</a:t>
            </a:r>
            <a:r>
              <a:rPr lang="es-ES" sz="1000" dirty="0"/>
              <a:t>(</a:t>
            </a:r>
            <a:r>
              <a:rPr lang="es-ES" sz="1000" dirty="0" err="1"/>
              <a:t>border</a:t>
            </a:r>
            <a:r>
              <a:rPr lang="es-ES" sz="1000" dirty="0"/>
              <a:t>).</a:t>
            </a:r>
            <a:r>
              <a:rPr lang="es-ES" sz="1000" dirty="0" err="1"/>
              <a:t>dmovey</a:t>
            </a:r>
            <a:r>
              <a:rPr lang="es-ES" sz="1000" dirty="0"/>
              <a:t>(</a:t>
            </a:r>
            <a:r>
              <a:rPr lang="es-ES" sz="1000" dirty="0" err="1"/>
              <a:t>border</a:t>
            </a:r>
            <a:r>
              <a:rPr lang="es-ES" sz="1000" dirty="0"/>
              <a:t>)</a:t>
            </a:r>
          </a:p>
          <a:p>
            <a:r>
              <a:rPr lang="es-ES" sz="1000" dirty="0"/>
              <a:t>box = </a:t>
            </a:r>
            <a:r>
              <a:rPr lang="es-ES" sz="1000" dirty="0" err="1"/>
              <a:t>gf.boolean</a:t>
            </a:r>
            <a:r>
              <a:rPr lang="es-ES" sz="1000" dirty="0"/>
              <a:t>(A=</a:t>
            </a:r>
            <a:r>
              <a:rPr lang="es-ES" sz="1000" dirty="0" err="1"/>
              <a:t>obox</a:t>
            </a:r>
            <a:r>
              <a:rPr lang="es-ES" sz="1000" dirty="0"/>
              <a:t>, B=</a:t>
            </a:r>
            <a:r>
              <a:rPr lang="es-ES" sz="1000" dirty="0" err="1"/>
              <a:t>ibox</a:t>
            </a:r>
            <a:r>
              <a:rPr lang="es-ES" sz="1000" dirty="0"/>
              <a:t>, </a:t>
            </a:r>
            <a:r>
              <a:rPr lang="es-ES" sz="1000" dirty="0" err="1"/>
              <a:t>operation</a:t>
            </a:r>
            <a:r>
              <a:rPr lang="es-ES" sz="1000" dirty="0"/>
              <a:t>="A-B", </a:t>
            </a:r>
            <a:r>
              <a:rPr lang="es-ES" sz="1000" dirty="0" err="1"/>
              <a:t>layer</a:t>
            </a:r>
            <a:r>
              <a:rPr lang="es-ES" sz="1000" dirty="0"/>
              <a:t>="FLOORPLAN")</a:t>
            </a:r>
          </a:p>
          <a:p>
            <a:endParaRPr lang="es-ES" sz="1000" dirty="0"/>
          </a:p>
          <a:p>
            <a:r>
              <a:rPr lang="es-ES" sz="1000" dirty="0"/>
              <a:t># </a:t>
            </a:r>
            <a:r>
              <a:rPr lang="es-ES" sz="1000" dirty="0" err="1"/>
              <a:t>Adding</a:t>
            </a:r>
            <a:r>
              <a:rPr lang="es-ES" sz="1000" dirty="0"/>
              <a:t> </a:t>
            </a:r>
            <a:r>
              <a:rPr lang="es-ES" sz="1000" dirty="0" err="1"/>
              <a:t>ports</a:t>
            </a:r>
            <a:r>
              <a:rPr lang="es-ES" sz="1000" dirty="0"/>
              <a:t> </a:t>
            </a:r>
            <a:r>
              <a:rPr lang="es-ES" sz="1000" dirty="0" err="1"/>
              <a:t>to</a:t>
            </a:r>
            <a:r>
              <a:rPr lang="es-ES" sz="1000" dirty="0"/>
              <a:t> a </a:t>
            </a:r>
            <a:r>
              <a:rPr lang="es-ES" sz="1000" dirty="0" err="1"/>
              <a:t>component</a:t>
            </a:r>
            <a:r>
              <a:rPr lang="es-ES" sz="1000" dirty="0"/>
              <a:t> </a:t>
            </a:r>
          </a:p>
          <a:p>
            <a:r>
              <a:rPr lang="es-ES" sz="1000" dirty="0" err="1"/>
              <a:t>box.add_port</a:t>
            </a:r>
            <a:r>
              <a:rPr lang="es-ES" sz="1000" dirty="0"/>
              <a:t>(</a:t>
            </a:r>
            <a:r>
              <a:rPr lang="es-ES" sz="1000" dirty="0" err="1"/>
              <a:t>name</a:t>
            </a:r>
            <a:r>
              <a:rPr lang="es-ES" sz="1000" dirty="0"/>
              <a:t>="</a:t>
            </a:r>
            <a:r>
              <a:rPr lang="es-ES" sz="1000" dirty="0" err="1"/>
              <a:t>block@org</a:t>
            </a:r>
            <a:r>
              <a:rPr lang="es-ES" sz="1000" dirty="0"/>
              <a:t>", center=[</a:t>
            </a:r>
            <a:r>
              <a:rPr lang="es-ES" sz="1000" dirty="0" err="1"/>
              <a:t>border,border</a:t>
            </a:r>
            <a:r>
              <a:rPr lang="es-ES" sz="1000" dirty="0"/>
              <a:t>], </a:t>
            </a:r>
            <a:r>
              <a:rPr lang="es-ES" sz="1000" dirty="0" err="1"/>
              <a:t>width</a:t>
            </a:r>
            <a:r>
              <a:rPr lang="es-ES" sz="1000" dirty="0"/>
              <a:t>=1, </a:t>
            </a:r>
            <a:r>
              <a:rPr lang="es-ES" sz="1000" dirty="0" err="1"/>
              <a:t>orientation</a:t>
            </a:r>
            <a:r>
              <a:rPr lang="es-ES" sz="1000" dirty="0"/>
              <a:t>=0, </a:t>
            </a:r>
            <a:r>
              <a:rPr lang="es-ES" sz="1000" dirty="0" err="1"/>
              <a:t>layer</a:t>
            </a:r>
            <a:r>
              <a:rPr lang="es-ES" sz="1000" dirty="0"/>
              <a:t>=</a:t>
            </a:r>
            <a:r>
              <a:rPr lang="es-ES" sz="1000" dirty="0" err="1"/>
              <a:t>layer_box</a:t>
            </a:r>
            <a:r>
              <a:rPr lang="es-ES" sz="1000" dirty="0"/>
              <a:t>)</a:t>
            </a:r>
          </a:p>
          <a:p>
            <a:r>
              <a:rPr lang="es-ES" sz="1000" dirty="0" err="1"/>
              <a:t>box.draw_ports</a:t>
            </a:r>
            <a:r>
              <a:rPr lang="es-ES" sz="1000" dirty="0"/>
              <a:t>()</a:t>
            </a:r>
          </a:p>
          <a:p>
            <a:r>
              <a:rPr lang="es-ES" sz="1000" dirty="0" err="1"/>
              <a:t>box.show</a:t>
            </a:r>
            <a:r>
              <a:rPr lang="es-ES" sz="1000" dirty="0"/>
              <a:t>()</a:t>
            </a:r>
          </a:p>
          <a:p>
            <a:r>
              <a:rPr lang="es-ES" sz="1000" dirty="0" err="1"/>
              <a:t>box.plot</a:t>
            </a:r>
            <a:r>
              <a:rPr lang="es-ES" sz="1000" dirty="0"/>
              <a:t>()</a:t>
            </a:r>
          </a:p>
          <a:p>
            <a:pPr algn="ctr"/>
            <a:endParaRPr lang="en-US" sz="1000" dirty="0"/>
          </a:p>
        </p:txBody>
      </p:sp>
      <p:pic>
        <p:nvPicPr>
          <p:cNvPr id="18" name="Picture 17">
            <a:extLst>
              <a:ext uri="{FF2B5EF4-FFF2-40B4-BE49-F238E27FC236}">
                <a16:creationId xmlns:a16="http://schemas.microsoft.com/office/drawing/2014/main" id="{697B16AE-E98E-4E6F-AC8F-22EF9E67EB15}"/>
              </a:ext>
            </a:extLst>
          </p:cNvPr>
          <p:cNvPicPr>
            <a:picLocks noChangeAspect="1"/>
          </p:cNvPicPr>
          <p:nvPr/>
        </p:nvPicPr>
        <p:blipFill>
          <a:blip r:embed="rId4"/>
          <a:stretch>
            <a:fillRect/>
          </a:stretch>
        </p:blipFill>
        <p:spPr>
          <a:xfrm>
            <a:off x="6899122" y="1349768"/>
            <a:ext cx="4488008" cy="3422606"/>
          </a:xfrm>
          <a:prstGeom prst="rect">
            <a:avLst/>
          </a:prstGeom>
        </p:spPr>
      </p:pic>
    </p:spTree>
    <p:extLst>
      <p:ext uri="{BB962C8B-B14F-4D97-AF65-F5344CB8AC3E}">
        <p14:creationId xmlns:p14="http://schemas.microsoft.com/office/powerpoint/2010/main" val="12032410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D281E-4B83-CADF-E05C-2779A19E8BE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C614703-AB72-E989-42B5-849A55E9B3E2}"/>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gn="ctr">
              <a:lnSpc>
                <a:spcPct val="100000"/>
              </a:lnSpc>
              <a:spcBef>
                <a:spcPts val="100"/>
              </a:spcBef>
            </a:pPr>
            <a:r>
              <a:rPr lang="en-US" dirty="0"/>
              <a:t>Learning outcome #2a – Notebook section 2. Layout Fundamentals – </a:t>
            </a:r>
            <a:r>
              <a:rPr lang="en-US" dirty="0">
                <a:solidFill>
                  <a:srgbClr val="FF0000"/>
                </a:solidFill>
              </a:rPr>
              <a:t>1 slide per component</a:t>
            </a:r>
            <a:br>
              <a:rPr lang="en-US" sz="2500" dirty="0"/>
            </a:br>
            <a:r>
              <a:rPr lang="en-US" sz="2500" dirty="0" err="1"/>
              <a:t>Acoplador</a:t>
            </a:r>
            <a:r>
              <a:rPr lang="en-US" sz="2500" dirty="0"/>
              <a:t> </a:t>
            </a:r>
            <a:r>
              <a:rPr lang="en-US" sz="2500" dirty="0" err="1"/>
              <a:t>direccional</a:t>
            </a:r>
            <a:endParaRPr sz="2500" b="0" i="1" dirty="0">
              <a:solidFill>
                <a:srgbClr val="FF0000"/>
              </a:solidFill>
              <a:latin typeface="+mj-lt"/>
              <a:cs typeface="Lucida Sans"/>
            </a:endParaRPr>
          </a:p>
        </p:txBody>
      </p:sp>
      <p:pic>
        <p:nvPicPr>
          <p:cNvPr id="83" name="Gráfico 82">
            <a:extLst>
              <a:ext uri="{FF2B5EF4-FFF2-40B4-BE49-F238E27FC236}">
                <a16:creationId xmlns:a16="http://schemas.microsoft.com/office/drawing/2014/main" id="{B2356666-601E-2F0B-B414-AFB7213C2F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6398BF1-A4DD-D652-E241-5E9DB50DD57A}"/>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3" name="Marcador de pie de página 2">
            <a:extLst>
              <a:ext uri="{FF2B5EF4-FFF2-40B4-BE49-F238E27FC236}">
                <a16:creationId xmlns:a16="http://schemas.microsoft.com/office/drawing/2014/main" id="{CEC070D5-9297-7D8B-73E0-DC21D7D5CE09}"/>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6" name="Rectángulo 5">
            <a:extLst>
              <a:ext uri="{FF2B5EF4-FFF2-40B4-BE49-F238E27FC236}">
                <a16:creationId xmlns:a16="http://schemas.microsoft.com/office/drawing/2014/main" id="{D8C2352E-973A-F389-F6A1-D644E07F2E7E}"/>
              </a:ext>
            </a:extLst>
          </p:cNvPr>
          <p:cNvSpPr/>
          <p:nvPr/>
        </p:nvSpPr>
        <p:spPr>
          <a:xfrm>
            <a:off x="609441" y="1418373"/>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792D8CBF-451B-83CB-7D64-3CD9C64B8333}"/>
              </a:ext>
            </a:extLst>
          </p:cNvPr>
          <p:cNvSpPr txBox="1"/>
          <p:nvPr/>
        </p:nvSpPr>
        <p:spPr>
          <a:xfrm>
            <a:off x="712296" y="1431820"/>
            <a:ext cx="6854825" cy="13480613"/>
          </a:xfrm>
          <a:prstGeom prst="rect">
            <a:avLst/>
          </a:prstGeom>
          <a:noFill/>
        </p:spPr>
        <p:txBody>
          <a:bodyPr wrap="none" rtlCol="0">
            <a:spAutoFit/>
          </a:bodyPr>
          <a:lstStyle/>
          <a:p>
            <a:r>
              <a:rPr lang="es-ES" sz="600" dirty="0" err="1"/>
              <a:t>gf.clear_cache</a:t>
            </a:r>
            <a:r>
              <a:rPr lang="es-ES" sz="600" dirty="0"/>
              <a:t>()</a:t>
            </a:r>
          </a:p>
          <a:p>
            <a:br>
              <a:rPr lang="es-ES" sz="600" dirty="0"/>
            </a:br>
            <a:endParaRPr lang="es-ES" sz="600" dirty="0"/>
          </a:p>
          <a:p>
            <a:r>
              <a:rPr lang="es-ES" sz="600" dirty="0"/>
              <a:t># =======================================================================</a:t>
            </a:r>
          </a:p>
          <a:p>
            <a:r>
              <a:rPr lang="es-ES" sz="600" dirty="0"/>
              <a:t># 1. COMPONENTE ESPECÍFICO (Nivel inferior de la jerarquía)</a:t>
            </a:r>
          </a:p>
          <a:p>
            <a:r>
              <a:rPr lang="es-ES" sz="600" dirty="0"/>
              <a:t># =======================================================================</a:t>
            </a:r>
          </a:p>
          <a:p>
            <a:r>
              <a:rPr lang="es-ES" sz="600" dirty="0"/>
              <a:t>@gf.cell</a:t>
            </a:r>
          </a:p>
          <a:p>
            <a:r>
              <a:rPr lang="es-ES" sz="600" dirty="0" err="1"/>
              <a:t>def</a:t>
            </a:r>
            <a:r>
              <a:rPr lang="es-ES" sz="600" dirty="0"/>
              <a:t> </a:t>
            </a:r>
            <a:r>
              <a:rPr lang="es-ES" sz="600" dirty="0" err="1"/>
              <a:t>acoplador_direccional_base</a:t>
            </a:r>
            <a:r>
              <a:rPr lang="es-ES" sz="600" dirty="0"/>
              <a:t>(</a:t>
            </a:r>
            <a:r>
              <a:rPr lang="es-ES" sz="600" dirty="0" err="1"/>
              <a:t>width</a:t>
            </a:r>
            <a:r>
              <a:rPr lang="es-ES" sz="600" dirty="0"/>
              <a:t>: </a:t>
            </a:r>
            <a:r>
              <a:rPr lang="es-ES" sz="600" dirty="0" err="1"/>
              <a:t>float</a:t>
            </a:r>
            <a:r>
              <a:rPr lang="es-ES" sz="600" dirty="0"/>
              <a:t> = 1.2, gap: </a:t>
            </a:r>
            <a:r>
              <a:rPr lang="es-ES" sz="600" dirty="0" err="1"/>
              <a:t>float</a:t>
            </a:r>
            <a:r>
              <a:rPr lang="es-ES" sz="600" dirty="0"/>
              <a:t> = 0.6) -&gt; </a:t>
            </a:r>
            <a:r>
              <a:rPr lang="es-ES" sz="600" dirty="0" err="1"/>
              <a:t>gf.Component</a:t>
            </a:r>
            <a:r>
              <a:rPr lang="es-ES" sz="600" dirty="0"/>
              <a:t>:</a:t>
            </a:r>
          </a:p>
          <a:p>
            <a:r>
              <a:rPr lang="es-ES" sz="600" dirty="0"/>
              <a:t>    """Genera la estructura óptica pura del acoplador direccional."""</a:t>
            </a:r>
          </a:p>
          <a:p>
            <a:r>
              <a:rPr lang="es-ES" sz="600" dirty="0"/>
              <a:t>    c = </a:t>
            </a:r>
            <a:r>
              <a:rPr lang="es-ES" sz="600" dirty="0" err="1"/>
              <a:t>gf.Component</a:t>
            </a:r>
            <a:r>
              <a:rPr lang="es-ES" sz="600" dirty="0"/>
              <a:t>("</a:t>
            </a:r>
            <a:r>
              <a:rPr lang="es-ES" sz="600" dirty="0" err="1"/>
              <a:t>Acoplador_Base</a:t>
            </a:r>
            <a:r>
              <a:rPr lang="es-ES" sz="600" dirty="0"/>
              <a:t>")</a:t>
            </a:r>
          </a:p>
          <a:p>
            <a:r>
              <a:rPr lang="es-ES" sz="600" dirty="0"/>
              <a:t>    </a:t>
            </a:r>
          </a:p>
          <a:p>
            <a:r>
              <a:rPr lang="es-ES" sz="600" dirty="0"/>
              <a:t>    </a:t>
            </a:r>
            <a:r>
              <a:rPr lang="es-ES" sz="600" dirty="0" err="1"/>
              <a:t>capa_base</a:t>
            </a:r>
            <a:r>
              <a:rPr lang="es-ES" sz="600" dirty="0"/>
              <a:t> = </a:t>
            </a:r>
            <a:r>
              <a:rPr lang="es-ES" sz="600" dirty="0" err="1"/>
              <a:t>gf.components.straight</a:t>
            </a:r>
            <a:r>
              <a:rPr lang="es-ES" sz="600" dirty="0"/>
              <a:t>().</a:t>
            </a:r>
            <a:r>
              <a:rPr lang="es-ES" sz="600" dirty="0" err="1"/>
              <a:t>ports</a:t>
            </a:r>
            <a:r>
              <a:rPr lang="es-ES" sz="600" dirty="0"/>
              <a:t>["o1"].</a:t>
            </a:r>
            <a:r>
              <a:rPr lang="es-ES" sz="600" dirty="0" err="1"/>
              <a:t>layer</a:t>
            </a:r>
            <a:endParaRPr lang="es-ES" sz="600" dirty="0"/>
          </a:p>
          <a:p>
            <a:r>
              <a:rPr lang="es-ES" sz="600" dirty="0"/>
              <a:t>    seccion_300nm = </a:t>
            </a:r>
            <a:r>
              <a:rPr lang="es-ES" sz="600" dirty="0" err="1"/>
              <a:t>gf.cross_section.cross_section</a:t>
            </a:r>
            <a:r>
              <a:rPr lang="es-ES" sz="600" dirty="0"/>
              <a:t>(</a:t>
            </a:r>
            <a:r>
              <a:rPr lang="es-ES" sz="600" dirty="0" err="1"/>
              <a:t>width</a:t>
            </a:r>
            <a:r>
              <a:rPr lang="es-ES" sz="600" dirty="0"/>
              <a:t>=</a:t>
            </a:r>
            <a:r>
              <a:rPr lang="es-ES" sz="600" dirty="0" err="1"/>
              <a:t>width</a:t>
            </a:r>
            <a:r>
              <a:rPr lang="es-ES" sz="600" dirty="0"/>
              <a:t>, </a:t>
            </a:r>
            <a:r>
              <a:rPr lang="es-ES" sz="600" dirty="0" err="1"/>
              <a:t>layer</a:t>
            </a:r>
            <a:r>
              <a:rPr lang="es-ES" sz="600" dirty="0"/>
              <a:t>=</a:t>
            </a:r>
            <a:r>
              <a:rPr lang="es-ES" sz="600" dirty="0" err="1"/>
              <a:t>capa_base</a:t>
            </a:r>
            <a:r>
              <a:rPr lang="es-ES" sz="600" dirty="0"/>
              <a:t>)</a:t>
            </a:r>
          </a:p>
          <a:p>
            <a:br>
              <a:rPr lang="es-ES" sz="600" dirty="0"/>
            </a:br>
            <a:endParaRPr lang="es-ES" sz="600" dirty="0"/>
          </a:p>
          <a:p>
            <a:r>
              <a:rPr lang="es-ES" sz="600" dirty="0"/>
              <a:t>    </a:t>
            </a:r>
            <a:r>
              <a:rPr lang="es-ES" sz="600" dirty="0" err="1"/>
              <a:t>guia_recta</a:t>
            </a:r>
            <a:r>
              <a:rPr lang="es-ES" sz="600" dirty="0"/>
              <a:t> = </a:t>
            </a:r>
            <a:r>
              <a:rPr lang="es-ES" sz="600" dirty="0" err="1"/>
              <a:t>gf.components.straight</a:t>
            </a:r>
            <a:r>
              <a:rPr lang="es-ES" sz="600" dirty="0"/>
              <a:t>(</a:t>
            </a:r>
            <a:r>
              <a:rPr lang="es-ES" sz="600" dirty="0" err="1"/>
              <a:t>length</a:t>
            </a:r>
            <a:r>
              <a:rPr lang="es-ES" sz="600" dirty="0"/>
              <a:t>=10, </a:t>
            </a:r>
            <a:r>
              <a:rPr lang="es-ES" sz="600" dirty="0" err="1"/>
              <a:t>cross_section</a:t>
            </a:r>
            <a:r>
              <a:rPr lang="es-ES" sz="600" dirty="0"/>
              <a:t>=seccion_300nm) </a:t>
            </a:r>
          </a:p>
          <a:p>
            <a:br>
              <a:rPr lang="es-ES" sz="600" dirty="0"/>
            </a:br>
            <a:endParaRPr lang="es-ES" sz="600" dirty="0"/>
          </a:p>
          <a:p>
            <a:r>
              <a:rPr lang="es-ES" sz="600" dirty="0"/>
              <a:t>    </a:t>
            </a:r>
            <a:r>
              <a:rPr lang="es-ES" sz="600" dirty="0" err="1"/>
              <a:t>recta_inferior</a:t>
            </a:r>
            <a:r>
              <a:rPr lang="es-ES" sz="600" dirty="0"/>
              <a:t> = </a:t>
            </a:r>
            <a:r>
              <a:rPr lang="es-ES" sz="600" dirty="0" err="1"/>
              <a:t>c.add_ref</a:t>
            </a:r>
            <a:r>
              <a:rPr lang="es-ES" sz="600" dirty="0"/>
              <a:t>(</a:t>
            </a:r>
            <a:r>
              <a:rPr lang="es-ES" sz="600" dirty="0" err="1"/>
              <a:t>guia_recta</a:t>
            </a:r>
            <a:r>
              <a:rPr lang="es-ES" sz="600" dirty="0"/>
              <a:t>)</a:t>
            </a:r>
          </a:p>
          <a:p>
            <a:r>
              <a:rPr lang="es-ES" sz="600" dirty="0"/>
              <a:t>    </a:t>
            </a:r>
            <a:r>
              <a:rPr lang="es-ES" sz="600" dirty="0" err="1"/>
              <a:t>recta_superior</a:t>
            </a:r>
            <a:r>
              <a:rPr lang="es-ES" sz="600" dirty="0"/>
              <a:t> = </a:t>
            </a:r>
            <a:r>
              <a:rPr lang="es-ES" sz="600" dirty="0" err="1"/>
              <a:t>c.add_ref</a:t>
            </a:r>
            <a:r>
              <a:rPr lang="es-ES" sz="600" dirty="0"/>
              <a:t>(</a:t>
            </a:r>
            <a:r>
              <a:rPr lang="es-ES" sz="600" dirty="0" err="1"/>
              <a:t>guia_recta</a:t>
            </a:r>
            <a:r>
              <a:rPr lang="es-ES" sz="600" dirty="0"/>
              <a:t>)</a:t>
            </a:r>
          </a:p>
          <a:p>
            <a:br>
              <a:rPr lang="es-ES" sz="600" dirty="0"/>
            </a:br>
            <a:endParaRPr lang="es-ES" sz="600" dirty="0"/>
          </a:p>
          <a:p>
            <a:r>
              <a:rPr lang="es-ES" sz="600" dirty="0"/>
              <a:t>    </a:t>
            </a:r>
            <a:r>
              <a:rPr lang="es-ES" sz="600" dirty="0" err="1"/>
              <a:t>separacion_centros</a:t>
            </a:r>
            <a:r>
              <a:rPr lang="es-ES" sz="600" dirty="0"/>
              <a:t> = gap + </a:t>
            </a:r>
            <a:r>
              <a:rPr lang="es-ES" sz="600" dirty="0" err="1"/>
              <a:t>width</a:t>
            </a:r>
            <a:r>
              <a:rPr lang="es-ES" sz="600" dirty="0"/>
              <a:t> </a:t>
            </a:r>
          </a:p>
          <a:p>
            <a:r>
              <a:rPr lang="es-ES" sz="600" dirty="0"/>
              <a:t>    </a:t>
            </a:r>
            <a:r>
              <a:rPr lang="es-ES" sz="600" dirty="0" err="1"/>
              <a:t>recta_superior.movey</a:t>
            </a:r>
            <a:r>
              <a:rPr lang="es-ES" sz="600" dirty="0"/>
              <a:t>(-</a:t>
            </a:r>
            <a:r>
              <a:rPr lang="es-ES" sz="600" dirty="0" err="1"/>
              <a:t>separacion_centros</a:t>
            </a:r>
            <a:r>
              <a:rPr lang="es-ES" sz="600" dirty="0"/>
              <a:t>)</a:t>
            </a:r>
          </a:p>
          <a:p>
            <a:br>
              <a:rPr lang="es-ES" sz="600" dirty="0"/>
            </a:br>
            <a:endParaRPr lang="es-ES" sz="600" dirty="0"/>
          </a:p>
          <a:p>
            <a:r>
              <a:rPr lang="es-ES" sz="600" dirty="0"/>
              <a:t>    </a:t>
            </a:r>
            <a:r>
              <a:rPr lang="es-ES" sz="600" dirty="0" err="1"/>
              <a:t>distancia_separacion_y</a:t>
            </a:r>
            <a:r>
              <a:rPr lang="es-ES" sz="600" dirty="0"/>
              <a:t> = 12.0     </a:t>
            </a:r>
          </a:p>
          <a:p>
            <a:r>
              <a:rPr lang="es-ES" sz="600" dirty="0"/>
              <a:t>    </a:t>
            </a:r>
            <a:r>
              <a:rPr lang="es-ES" sz="600" dirty="0" err="1"/>
              <a:t>longitud_transicion</a:t>
            </a:r>
            <a:r>
              <a:rPr lang="es-ES" sz="600" dirty="0"/>
              <a:t> = 35.0        </a:t>
            </a:r>
          </a:p>
          <a:p>
            <a:br>
              <a:rPr lang="es-ES" sz="600" dirty="0"/>
            </a:br>
            <a:endParaRPr lang="es-ES" sz="600" dirty="0"/>
          </a:p>
          <a:p>
            <a:r>
              <a:rPr lang="es-ES" sz="600" dirty="0"/>
              <a:t>    </a:t>
            </a:r>
            <a:r>
              <a:rPr lang="es-ES" sz="600" dirty="0" err="1"/>
              <a:t>offset_y</a:t>
            </a:r>
            <a:r>
              <a:rPr lang="es-ES" sz="600" dirty="0"/>
              <a:t> = (</a:t>
            </a:r>
            <a:r>
              <a:rPr lang="es-ES" sz="600" dirty="0" err="1"/>
              <a:t>distancia_separacion_y</a:t>
            </a:r>
            <a:r>
              <a:rPr lang="es-ES" sz="600" dirty="0"/>
              <a:t> - </a:t>
            </a:r>
            <a:r>
              <a:rPr lang="es-ES" sz="600" dirty="0" err="1"/>
              <a:t>separacion_centros</a:t>
            </a:r>
            <a:r>
              <a:rPr lang="es-ES" sz="600" dirty="0"/>
              <a:t>) / 2</a:t>
            </a:r>
          </a:p>
          <a:p>
            <a:r>
              <a:rPr lang="es-ES" sz="600" dirty="0"/>
              <a:t>    </a:t>
            </a:r>
            <a:r>
              <a:rPr lang="es-ES" sz="600" dirty="0" err="1"/>
              <a:t>s_bend</a:t>
            </a:r>
            <a:r>
              <a:rPr lang="es-ES" sz="600" dirty="0"/>
              <a:t> = </a:t>
            </a:r>
            <a:r>
              <a:rPr lang="es-ES" sz="600" dirty="0" err="1"/>
              <a:t>gf.components.bend_s</a:t>
            </a:r>
            <a:r>
              <a:rPr lang="es-ES" sz="600" dirty="0"/>
              <a:t>(</a:t>
            </a:r>
            <a:r>
              <a:rPr lang="es-ES" sz="600" dirty="0" err="1"/>
              <a:t>size</a:t>
            </a:r>
            <a:r>
              <a:rPr lang="es-ES" sz="600" dirty="0"/>
              <a:t>=(</a:t>
            </a:r>
            <a:r>
              <a:rPr lang="es-ES" sz="600" dirty="0" err="1"/>
              <a:t>longitud_transicion</a:t>
            </a:r>
            <a:r>
              <a:rPr lang="es-ES" sz="600" dirty="0"/>
              <a:t>, </a:t>
            </a:r>
            <a:r>
              <a:rPr lang="es-ES" sz="600" dirty="0" err="1"/>
              <a:t>offset_y</a:t>
            </a:r>
            <a:r>
              <a:rPr lang="es-ES" sz="600" dirty="0"/>
              <a:t>), </a:t>
            </a:r>
            <a:r>
              <a:rPr lang="es-ES" sz="600" dirty="0" err="1"/>
              <a:t>cross_section</a:t>
            </a:r>
            <a:r>
              <a:rPr lang="es-ES" sz="600" dirty="0"/>
              <a:t>=seccion_300nm)</a:t>
            </a:r>
          </a:p>
          <a:p>
            <a:br>
              <a:rPr lang="es-ES" sz="600" dirty="0"/>
            </a:br>
            <a:endParaRPr lang="es-ES" sz="600" dirty="0"/>
          </a:p>
          <a:p>
            <a:r>
              <a:rPr lang="es-ES" sz="600" dirty="0"/>
              <a:t>    # Conexiones lado izquierdo (Entradas)</a:t>
            </a:r>
          </a:p>
          <a:p>
            <a:r>
              <a:rPr lang="es-ES" sz="600" dirty="0"/>
              <a:t>    </a:t>
            </a:r>
            <a:r>
              <a:rPr lang="es-ES" sz="600" dirty="0" err="1"/>
              <a:t>s_in_top</a:t>
            </a:r>
            <a:r>
              <a:rPr lang="es-ES" sz="600" dirty="0"/>
              <a:t> = </a:t>
            </a:r>
            <a:r>
              <a:rPr lang="es-ES" sz="600" dirty="0" err="1"/>
              <a:t>c.add_ref</a:t>
            </a:r>
            <a:r>
              <a:rPr lang="es-ES" sz="600" dirty="0"/>
              <a:t>(</a:t>
            </a:r>
            <a:r>
              <a:rPr lang="es-ES" sz="600" dirty="0" err="1"/>
              <a:t>s_bend</a:t>
            </a:r>
            <a:r>
              <a:rPr lang="es-ES" sz="600" dirty="0"/>
              <a:t>)</a:t>
            </a:r>
          </a:p>
          <a:p>
            <a:r>
              <a:rPr lang="es-ES" sz="600" dirty="0"/>
              <a:t>    </a:t>
            </a:r>
            <a:r>
              <a:rPr lang="es-ES" sz="600" dirty="0" err="1"/>
              <a:t>s_in_top.connect</a:t>
            </a:r>
            <a:r>
              <a:rPr lang="es-ES" sz="600" dirty="0"/>
              <a:t>("o2", </a:t>
            </a:r>
            <a:r>
              <a:rPr lang="es-ES" sz="600" dirty="0" err="1"/>
              <a:t>recta_superior.ports</a:t>
            </a:r>
            <a:r>
              <a:rPr lang="es-ES" sz="600" dirty="0"/>
              <a:t>["o1"]) </a:t>
            </a:r>
          </a:p>
          <a:p>
            <a:br>
              <a:rPr lang="es-ES" sz="600" dirty="0"/>
            </a:br>
            <a:endParaRPr lang="es-ES" sz="600" dirty="0"/>
          </a:p>
          <a:p>
            <a:r>
              <a:rPr lang="es-ES" sz="600" dirty="0"/>
              <a:t>    </a:t>
            </a:r>
            <a:r>
              <a:rPr lang="es-ES" sz="600" dirty="0" err="1"/>
              <a:t>s_in_bot</a:t>
            </a:r>
            <a:r>
              <a:rPr lang="es-ES" sz="600" dirty="0"/>
              <a:t> = </a:t>
            </a:r>
            <a:r>
              <a:rPr lang="es-ES" sz="600" dirty="0" err="1"/>
              <a:t>c.add_ref</a:t>
            </a:r>
            <a:r>
              <a:rPr lang="es-ES" sz="600" dirty="0"/>
              <a:t>(</a:t>
            </a:r>
            <a:r>
              <a:rPr lang="es-ES" sz="600" dirty="0" err="1"/>
              <a:t>s_bend</a:t>
            </a:r>
            <a:r>
              <a:rPr lang="es-ES" sz="600" dirty="0"/>
              <a:t>)</a:t>
            </a:r>
          </a:p>
          <a:p>
            <a:r>
              <a:rPr lang="es-ES" sz="600" dirty="0"/>
              <a:t>    </a:t>
            </a:r>
            <a:r>
              <a:rPr lang="es-ES" sz="600" dirty="0" err="1"/>
              <a:t>s_in_bot.mirror_y</a:t>
            </a:r>
            <a:r>
              <a:rPr lang="es-ES" sz="600" dirty="0"/>
              <a:t>()</a:t>
            </a:r>
          </a:p>
          <a:p>
            <a:r>
              <a:rPr lang="es-ES" sz="600" dirty="0"/>
              <a:t>    </a:t>
            </a:r>
            <a:r>
              <a:rPr lang="es-ES" sz="600" dirty="0" err="1"/>
              <a:t>s_in_bot.connect</a:t>
            </a:r>
            <a:r>
              <a:rPr lang="es-ES" sz="600" dirty="0"/>
              <a:t>("o2", </a:t>
            </a:r>
            <a:r>
              <a:rPr lang="es-ES" sz="600" dirty="0" err="1"/>
              <a:t>recta_inferior.ports</a:t>
            </a:r>
            <a:r>
              <a:rPr lang="es-ES" sz="600" dirty="0"/>
              <a:t>["o1"])</a:t>
            </a:r>
          </a:p>
          <a:p>
            <a:br>
              <a:rPr lang="es-ES" sz="600" dirty="0"/>
            </a:br>
            <a:endParaRPr lang="es-ES" sz="600" dirty="0"/>
          </a:p>
          <a:p>
            <a:r>
              <a:rPr lang="es-ES" sz="600" dirty="0"/>
              <a:t>    # Conexiones lado derecho (Salidas)</a:t>
            </a:r>
          </a:p>
          <a:p>
            <a:r>
              <a:rPr lang="es-ES" sz="600" dirty="0"/>
              <a:t>    </a:t>
            </a:r>
            <a:r>
              <a:rPr lang="es-ES" sz="600" dirty="0" err="1"/>
              <a:t>s_out_top</a:t>
            </a:r>
            <a:r>
              <a:rPr lang="es-ES" sz="600" dirty="0"/>
              <a:t> = </a:t>
            </a:r>
            <a:r>
              <a:rPr lang="es-ES" sz="600" dirty="0" err="1"/>
              <a:t>c.add_ref</a:t>
            </a:r>
            <a:r>
              <a:rPr lang="es-ES" sz="600" dirty="0"/>
              <a:t>(</a:t>
            </a:r>
            <a:r>
              <a:rPr lang="es-ES" sz="600" dirty="0" err="1"/>
              <a:t>s_bend</a:t>
            </a:r>
            <a:r>
              <a:rPr lang="es-ES" sz="600" dirty="0"/>
              <a:t>)</a:t>
            </a:r>
          </a:p>
          <a:p>
            <a:r>
              <a:rPr lang="es-ES" sz="600" dirty="0"/>
              <a:t>    </a:t>
            </a:r>
            <a:r>
              <a:rPr lang="es-ES" sz="600" dirty="0" err="1"/>
              <a:t>s_out_top.mirror_x</a:t>
            </a:r>
            <a:r>
              <a:rPr lang="es-ES" sz="600" dirty="0"/>
              <a:t>() </a:t>
            </a:r>
          </a:p>
          <a:p>
            <a:r>
              <a:rPr lang="es-ES" sz="600" dirty="0"/>
              <a:t>    </a:t>
            </a:r>
            <a:r>
              <a:rPr lang="es-ES" sz="600" dirty="0" err="1"/>
              <a:t>s_out_top.connect</a:t>
            </a:r>
            <a:r>
              <a:rPr lang="es-ES" sz="600" dirty="0"/>
              <a:t>("o2", </a:t>
            </a:r>
            <a:r>
              <a:rPr lang="es-ES" sz="600" dirty="0" err="1"/>
              <a:t>recta_superior.ports</a:t>
            </a:r>
            <a:r>
              <a:rPr lang="es-ES" sz="600" dirty="0"/>
              <a:t>["o2"])</a:t>
            </a:r>
          </a:p>
          <a:p>
            <a:br>
              <a:rPr lang="es-ES" sz="600" dirty="0"/>
            </a:br>
            <a:endParaRPr lang="es-ES" sz="600" dirty="0"/>
          </a:p>
          <a:p>
            <a:r>
              <a:rPr lang="es-ES" sz="600" dirty="0"/>
              <a:t>    </a:t>
            </a:r>
            <a:r>
              <a:rPr lang="es-ES" sz="600" dirty="0" err="1"/>
              <a:t>s_out_bot</a:t>
            </a:r>
            <a:r>
              <a:rPr lang="es-ES" sz="600" dirty="0"/>
              <a:t> = </a:t>
            </a:r>
            <a:r>
              <a:rPr lang="es-ES" sz="600" dirty="0" err="1"/>
              <a:t>c.add_ref</a:t>
            </a:r>
            <a:r>
              <a:rPr lang="es-ES" sz="600" dirty="0"/>
              <a:t>(</a:t>
            </a:r>
            <a:r>
              <a:rPr lang="es-ES" sz="600" dirty="0" err="1"/>
              <a:t>s_bend</a:t>
            </a:r>
            <a:r>
              <a:rPr lang="es-ES" sz="600" dirty="0"/>
              <a:t>)</a:t>
            </a:r>
          </a:p>
          <a:p>
            <a:r>
              <a:rPr lang="es-ES" sz="600" dirty="0"/>
              <a:t>    </a:t>
            </a:r>
            <a:r>
              <a:rPr lang="es-ES" sz="600" dirty="0" err="1"/>
              <a:t>s_out_bot.mirror_y</a:t>
            </a:r>
            <a:r>
              <a:rPr lang="es-ES" sz="600" dirty="0"/>
              <a:t>() </a:t>
            </a:r>
          </a:p>
          <a:p>
            <a:r>
              <a:rPr lang="es-ES" sz="600" dirty="0"/>
              <a:t>    </a:t>
            </a:r>
            <a:r>
              <a:rPr lang="es-ES" sz="600" dirty="0" err="1"/>
              <a:t>s_out_bot.mirror_x</a:t>
            </a:r>
            <a:r>
              <a:rPr lang="es-ES" sz="600" dirty="0"/>
              <a:t>() </a:t>
            </a:r>
          </a:p>
          <a:p>
            <a:r>
              <a:rPr lang="es-ES" sz="600" dirty="0"/>
              <a:t>    </a:t>
            </a:r>
            <a:r>
              <a:rPr lang="es-ES" sz="600" dirty="0" err="1"/>
              <a:t>s_out_bot.connect</a:t>
            </a:r>
            <a:r>
              <a:rPr lang="es-ES" sz="600" dirty="0"/>
              <a:t>("o2", </a:t>
            </a:r>
            <a:r>
              <a:rPr lang="es-ES" sz="600" dirty="0" err="1"/>
              <a:t>recta_inferior.ports</a:t>
            </a:r>
            <a:r>
              <a:rPr lang="es-ES" sz="600" dirty="0"/>
              <a:t>["o2"])</a:t>
            </a:r>
          </a:p>
          <a:p>
            <a:br>
              <a:rPr lang="es-ES" sz="600" dirty="0"/>
            </a:br>
            <a:endParaRPr lang="es-ES" sz="600" dirty="0"/>
          </a:p>
          <a:p>
            <a:r>
              <a:rPr lang="es-ES" sz="600" dirty="0"/>
              <a:t>    # Puertos locales del componente específico</a:t>
            </a:r>
          </a:p>
          <a:p>
            <a:r>
              <a:rPr lang="es-ES" sz="600" dirty="0"/>
              <a:t>    </a:t>
            </a:r>
            <a:r>
              <a:rPr lang="es-ES" sz="600" dirty="0" err="1"/>
              <a:t>c.add_port</a:t>
            </a:r>
            <a:r>
              <a:rPr lang="es-ES" sz="600" dirty="0"/>
              <a:t>("</a:t>
            </a:r>
            <a:r>
              <a:rPr lang="es-ES" sz="600" dirty="0" err="1"/>
              <a:t>in_top</a:t>
            </a:r>
            <a:r>
              <a:rPr lang="es-ES" sz="600" dirty="0"/>
              <a:t>", </a:t>
            </a:r>
            <a:r>
              <a:rPr lang="es-ES" sz="600" dirty="0" err="1"/>
              <a:t>port</a:t>
            </a:r>
            <a:r>
              <a:rPr lang="es-ES" sz="600" dirty="0"/>
              <a:t>=</a:t>
            </a:r>
            <a:r>
              <a:rPr lang="es-ES" sz="600" dirty="0" err="1"/>
              <a:t>s_in_top.ports</a:t>
            </a:r>
            <a:r>
              <a:rPr lang="es-ES" sz="600" dirty="0"/>
              <a:t>["o1"])</a:t>
            </a:r>
          </a:p>
          <a:p>
            <a:r>
              <a:rPr lang="es-ES" sz="600" dirty="0"/>
              <a:t>    </a:t>
            </a:r>
            <a:r>
              <a:rPr lang="es-ES" sz="600" dirty="0" err="1"/>
              <a:t>c.add_port</a:t>
            </a:r>
            <a:r>
              <a:rPr lang="es-ES" sz="600" dirty="0"/>
              <a:t>("</a:t>
            </a:r>
            <a:r>
              <a:rPr lang="es-ES" sz="600" dirty="0" err="1"/>
              <a:t>in_bot</a:t>
            </a:r>
            <a:r>
              <a:rPr lang="es-ES" sz="600" dirty="0"/>
              <a:t>", </a:t>
            </a:r>
            <a:r>
              <a:rPr lang="es-ES" sz="600" dirty="0" err="1"/>
              <a:t>port</a:t>
            </a:r>
            <a:r>
              <a:rPr lang="es-ES" sz="600" dirty="0"/>
              <a:t>=</a:t>
            </a:r>
            <a:r>
              <a:rPr lang="es-ES" sz="600" dirty="0" err="1"/>
              <a:t>s_in_bot.ports</a:t>
            </a:r>
            <a:r>
              <a:rPr lang="es-ES" sz="600" dirty="0"/>
              <a:t>["o1"])</a:t>
            </a:r>
          </a:p>
          <a:p>
            <a:r>
              <a:rPr lang="es-ES" sz="600" dirty="0"/>
              <a:t>    </a:t>
            </a:r>
            <a:r>
              <a:rPr lang="es-ES" sz="600" dirty="0" err="1"/>
              <a:t>c.add_port</a:t>
            </a:r>
            <a:r>
              <a:rPr lang="es-ES" sz="600" dirty="0"/>
              <a:t>("</a:t>
            </a:r>
            <a:r>
              <a:rPr lang="es-ES" sz="600" dirty="0" err="1"/>
              <a:t>out_top</a:t>
            </a:r>
            <a:r>
              <a:rPr lang="es-ES" sz="600" dirty="0"/>
              <a:t>", </a:t>
            </a:r>
            <a:r>
              <a:rPr lang="es-ES" sz="600" dirty="0" err="1"/>
              <a:t>port</a:t>
            </a:r>
            <a:r>
              <a:rPr lang="es-ES" sz="600" dirty="0"/>
              <a:t>=</a:t>
            </a:r>
            <a:r>
              <a:rPr lang="es-ES" sz="600" dirty="0" err="1"/>
              <a:t>s_out_top.ports</a:t>
            </a:r>
            <a:r>
              <a:rPr lang="es-ES" sz="600" dirty="0"/>
              <a:t>["o1"])</a:t>
            </a:r>
          </a:p>
          <a:p>
            <a:r>
              <a:rPr lang="es-ES" sz="600" dirty="0"/>
              <a:t>    </a:t>
            </a:r>
            <a:r>
              <a:rPr lang="es-ES" sz="600" dirty="0" err="1"/>
              <a:t>c.add_port</a:t>
            </a:r>
            <a:r>
              <a:rPr lang="es-ES" sz="600" dirty="0"/>
              <a:t>("</a:t>
            </a:r>
            <a:r>
              <a:rPr lang="es-ES" sz="600" dirty="0" err="1"/>
              <a:t>out_bot</a:t>
            </a:r>
            <a:r>
              <a:rPr lang="es-ES" sz="600" dirty="0"/>
              <a:t>", </a:t>
            </a:r>
            <a:r>
              <a:rPr lang="es-ES" sz="600" dirty="0" err="1"/>
              <a:t>port</a:t>
            </a:r>
            <a:r>
              <a:rPr lang="es-ES" sz="600" dirty="0"/>
              <a:t>=</a:t>
            </a:r>
            <a:r>
              <a:rPr lang="es-ES" sz="600" dirty="0" err="1"/>
              <a:t>s_out_bot.ports</a:t>
            </a:r>
            <a:r>
              <a:rPr lang="es-ES" sz="600" dirty="0"/>
              <a:t>["o1"])</a:t>
            </a:r>
          </a:p>
          <a:p>
            <a:r>
              <a:rPr lang="es-ES" sz="600" dirty="0"/>
              <a:t>    </a:t>
            </a:r>
          </a:p>
          <a:p>
            <a:r>
              <a:rPr lang="es-ES" sz="600" dirty="0"/>
              <a:t>    </a:t>
            </a:r>
            <a:r>
              <a:rPr lang="es-ES" sz="600" dirty="0" err="1"/>
              <a:t>return</a:t>
            </a:r>
            <a:r>
              <a:rPr lang="es-ES" sz="600" dirty="0"/>
              <a:t> c</a:t>
            </a:r>
          </a:p>
          <a:p>
            <a:br>
              <a:rPr lang="es-ES" sz="600" dirty="0"/>
            </a:br>
            <a:br>
              <a:rPr lang="es-ES" sz="600" dirty="0"/>
            </a:br>
            <a:endParaRPr lang="es-ES" sz="600" dirty="0"/>
          </a:p>
          <a:p>
            <a:r>
              <a:rPr lang="es-ES" sz="600" dirty="0"/>
              <a:t># =======================================================================</a:t>
            </a:r>
          </a:p>
          <a:p>
            <a:r>
              <a:rPr lang="es-ES" sz="600" dirty="0"/>
              <a:t># 2. CELDA INTERMEDIA (Nivel medio: Estructura del Die + Extensiones)</a:t>
            </a:r>
          </a:p>
          <a:p>
            <a:r>
              <a:rPr lang="es-ES" sz="600" dirty="0"/>
              <a:t># =======================================================================</a:t>
            </a:r>
          </a:p>
          <a:p>
            <a:r>
              <a:rPr lang="es-ES" sz="600" dirty="0"/>
              <a:t>@gf.cell</a:t>
            </a:r>
          </a:p>
          <a:p>
            <a:r>
              <a:rPr lang="es-ES" sz="600" dirty="0" err="1"/>
              <a:t>def</a:t>
            </a:r>
            <a:r>
              <a:rPr lang="es-ES" sz="600" dirty="0"/>
              <a:t> </a:t>
            </a:r>
            <a:r>
              <a:rPr lang="es-ES" sz="600" dirty="0" err="1"/>
              <a:t>die_acoplador</a:t>
            </a:r>
            <a:r>
              <a:rPr lang="es-ES" sz="600" dirty="0"/>
              <a:t>(</a:t>
            </a:r>
            <a:r>
              <a:rPr lang="es-ES" sz="600" dirty="0" err="1"/>
              <a:t>dieL</a:t>
            </a:r>
            <a:r>
              <a:rPr lang="es-ES" sz="600" dirty="0"/>
              <a:t>=200, </a:t>
            </a:r>
            <a:r>
              <a:rPr lang="es-ES" sz="600" dirty="0" err="1"/>
              <a:t>dieW</a:t>
            </a:r>
            <a:r>
              <a:rPr lang="es-ES" sz="600" dirty="0"/>
              <a:t>=200, </a:t>
            </a:r>
            <a:r>
              <a:rPr lang="es-ES" sz="600" dirty="0" err="1"/>
              <a:t>border</a:t>
            </a:r>
            <a:r>
              <a:rPr lang="es-ES" sz="600" dirty="0"/>
              <a:t>=25, </a:t>
            </a:r>
            <a:r>
              <a:rPr lang="es-ES" sz="600" dirty="0" err="1"/>
              <a:t>layer_box</a:t>
            </a:r>
            <a:r>
              <a:rPr lang="es-ES" sz="600" dirty="0"/>
              <a:t>="FLOORPLAN") -&gt; </a:t>
            </a:r>
            <a:r>
              <a:rPr lang="es-ES" sz="600" dirty="0" err="1"/>
              <a:t>gf.Component</a:t>
            </a:r>
            <a:r>
              <a:rPr lang="es-ES" sz="600" dirty="0"/>
              <a:t>:</a:t>
            </a:r>
          </a:p>
          <a:p>
            <a:r>
              <a:rPr lang="es-ES" sz="600" dirty="0"/>
              <a:t>    """Celda que fabrica el marco perimetral booleano e integra el componente."""</a:t>
            </a:r>
          </a:p>
          <a:p>
            <a:r>
              <a:rPr lang="es-ES" sz="600" dirty="0"/>
              <a:t>    box = </a:t>
            </a:r>
            <a:r>
              <a:rPr lang="es-ES" sz="600" dirty="0" err="1"/>
              <a:t>gf.Component</a:t>
            </a:r>
            <a:r>
              <a:rPr lang="es-ES" sz="600" dirty="0"/>
              <a:t>("</a:t>
            </a:r>
            <a:r>
              <a:rPr lang="es-ES" sz="600" dirty="0" err="1"/>
              <a:t>Die_Acoplador_Cell</a:t>
            </a:r>
            <a:r>
              <a:rPr lang="es-ES" sz="600" dirty="0"/>
              <a:t>")</a:t>
            </a:r>
          </a:p>
          <a:p>
            <a:r>
              <a:rPr lang="es-ES" sz="600" dirty="0"/>
              <a:t>    </a:t>
            </a:r>
          </a:p>
          <a:p>
            <a:r>
              <a:rPr lang="es-ES" sz="600" dirty="0"/>
              <a:t>    # --- Marco del Die (Tu estructura booleana exacta) ---</a:t>
            </a:r>
          </a:p>
          <a:p>
            <a:r>
              <a:rPr lang="es-ES" sz="600" dirty="0"/>
              <a:t>    </a:t>
            </a:r>
            <a:r>
              <a:rPr lang="es-ES" sz="600" dirty="0" err="1"/>
              <a:t>obox</a:t>
            </a:r>
            <a:r>
              <a:rPr lang="es-ES" sz="600" dirty="0"/>
              <a:t> = </a:t>
            </a:r>
            <a:r>
              <a:rPr lang="es-ES" sz="600" dirty="0" err="1"/>
              <a:t>box.add_ref</a:t>
            </a:r>
            <a:r>
              <a:rPr lang="es-ES" sz="600" dirty="0"/>
              <a:t>(</a:t>
            </a:r>
            <a:r>
              <a:rPr lang="es-ES" sz="600" dirty="0" err="1"/>
              <a:t>gf.components.rectangle</a:t>
            </a:r>
            <a:r>
              <a:rPr lang="es-ES" sz="600" dirty="0"/>
              <a:t>(</a:t>
            </a:r>
            <a:r>
              <a:rPr lang="es-ES" sz="600" dirty="0" err="1"/>
              <a:t>size</a:t>
            </a:r>
            <a:r>
              <a:rPr lang="es-ES" sz="600" dirty="0"/>
              <a:t>=(</a:t>
            </a:r>
            <a:r>
              <a:rPr lang="es-ES" sz="600" dirty="0" err="1"/>
              <a:t>dieW</a:t>
            </a:r>
            <a:r>
              <a:rPr lang="es-ES" sz="600" dirty="0"/>
              <a:t>, </a:t>
            </a:r>
            <a:r>
              <a:rPr lang="es-ES" sz="600" dirty="0" err="1"/>
              <a:t>dieL</a:t>
            </a:r>
            <a:r>
              <a:rPr lang="es-ES" sz="600" dirty="0"/>
              <a:t>), </a:t>
            </a:r>
            <a:r>
              <a:rPr lang="es-ES" sz="600" dirty="0" err="1"/>
              <a:t>layer</a:t>
            </a:r>
            <a:r>
              <a:rPr lang="es-ES" sz="600" dirty="0"/>
              <a:t>=</a:t>
            </a:r>
            <a:r>
              <a:rPr lang="es-ES" sz="600" dirty="0" err="1"/>
              <a:t>layer_box</a:t>
            </a:r>
            <a:r>
              <a:rPr lang="es-ES" sz="600" dirty="0"/>
              <a:t>))</a:t>
            </a:r>
          </a:p>
          <a:p>
            <a:r>
              <a:rPr lang="es-ES" sz="600" dirty="0"/>
              <a:t>    </a:t>
            </a:r>
            <a:r>
              <a:rPr lang="es-ES" sz="600" dirty="0" err="1"/>
              <a:t>ibox</a:t>
            </a:r>
            <a:r>
              <a:rPr lang="es-ES" sz="600" dirty="0"/>
              <a:t> = </a:t>
            </a:r>
            <a:r>
              <a:rPr lang="es-ES" sz="600" dirty="0" err="1"/>
              <a:t>box.add_ref</a:t>
            </a:r>
            <a:r>
              <a:rPr lang="es-ES" sz="600" dirty="0"/>
              <a:t>(</a:t>
            </a:r>
            <a:r>
              <a:rPr lang="es-ES" sz="600" dirty="0" err="1"/>
              <a:t>gf.components.rectangle</a:t>
            </a:r>
            <a:r>
              <a:rPr lang="es-ES" sz="600" dirty="0"/>
              <a:t>(</a:t>
            </a:r>
            <a:r>
              <a:rPr lang="es-ES" sz="600" dirty="0" err="1"/>
              <a:t>size</a:t>
            </a:r>
            <a:r>
              <a:rPr lang="es-ES" sz="600" dirty="0"/>
              <a:t>=(</a:t>
            </a:r>
            <a:r>
              <a:rPr lang="es-ES" sz="600" dirty="0" err="1"/>
              <a:t>dieW</a:t>
            </a:r>
            <a:r>
              <a:rPr lang="es-ES" sz="600" dirty="0"/>
              <a:t> - </a:t>
            </a:r>
            <a:r>
              <a:rPr lang="es-ES" sz="600" dirty="0" err="1"/>
              <a:t>border</a:t>
            </a:r>
            <a:r>
              <a:rPr lang="es-ES" sz="600" dirty="0"/>
              <a:t> * 2, </a:t>
            </a:r>
            <a:r>
              <a:rPr lang="es-ES" sz="600" dirty="0" err="1"/>
              <a:t>dieL</a:t>
            </a:r>
            <a:r>
              <a:rPr lang="es-ES" sz="600" dirty="0"/>
              <a:t> - </a:t>
            </a:r>
            <a:r>
              <a:rPr lang="es-ES" sz="600" dirty="0" err="1"/>
              <a:t>border</a:t>
            </a:r>
            <a:r>
              <a:rPr lang="es-ES" sz="600" dirty="0"/>
              <a:t> * 2), </a:t>
            </a:r>
            <a:r>
              <a:rPr lang="es-ES" sz="600" dirty="0" err="1"/>
              <a:t>layer</a:t>
            </a:r>
            <a:r>
              <a:rPr lang="es-ES" sz="600" dirty="0"/>
              <a:t>=</a:t>
            </a:r>
            <a:r>
              <a:rPr lang="es-ES" sz="600" dirty="0" err="1"/>
              <a:t>layer_box</a:t>
            </a:r>
            <a:r>
              <a:rPr lang="es-ES" sz="600" dirty="0"/>
              <a:t>)).</a:t>
            </a:r>
            <a:r>
              <a:rPr lang="es-ES" sz="600" dirty="0" err="1"/>
              <a:t>dmovex</a:t>
            </a:r>
            <a:r>
              <a:rPr lang="es-ES" sz="600" dirty="0"/>
              <a:t>(</a:t>
            </a:r>
            <a:r>
              <a:rPr lang="es-ES" sz="600" dirty="0" err="1"/>
              <a:t>border</a:t>
            </a:r>
            <a:r>
              <a:rPr lang="es-ES" sz="600" dirty="0"/>
              <a:t>).</a:t>
            </a:r>
            <a:r>
              <a:rPr lang="es-ES" sz="600" dirty="0" err="1"/>
              <a:t>dmovey</a:t>
            </a:r>
            <a:r>
              <a:rPr lang="es-ES" sz="600" dirty="0"/>
              <a:t>(</a:t>
            </a:r>
            <a:r>
              <a:rPr lang="es-ES" sz="600" dirty="0" err="1"/>
              <a:t>border</a:t>
            </a:r>
            <a:r>
              <a:rPr lang="es-ES" sz="600" dirty="0"/>
              <a:t>)</a:t>
            </a:r>
          </a:p>
          <a:p>
            <a:r>
              <a:rPr lang="es-ES" sz="600" dirty="0"/>
              <a:t>    </a:t>
            </a:r>
            <a:r>
              <a:rPr lang="es-ES" sz="600" dirty="0" err="1"/>
              <a:t>box_frame</a:t>
            </a:r>
            <a:r>
              <a:rPr lang="es-ES" sz="600" dirty="0"/>
              <a:t> = </a:t>
            </a:r>
            <a:r>
              <a:rPr lang="es-ES" sz="600" dirty="0" err="1"/>
              <a:t>gf.boolean</a:t>
            </a:r>
            <a:r>
              <a:rPr lang="es-ES" sz="600" dirty="0"/>
              <a:t>(A=</a:t>
            </a:r>
            <a:r>
              <a:rPr lang="es-ES" sz="600" dirty="0" err="1"/>
              <a:t>obox</a:t>
            </a:r>
            <a:r>
              <a:rPr lang="es-ES" sz="600" dirty="0"/>
              <a:t>, B=</a:t>
            </a:r>
            <a:r>
              <a:rPr lang="es-ES" sz="600" dirty="0" err="1"/>
              <a:t>ibox</a:t>
            </a:r>
            <a:r>
              <a:rPr lang="es-ES" sz="600" dirty="0"/>
              <a:t>, </a:t>
            </a:r>
            <a:r>
              <a:rPr lang="es-ES" sz="600" dirty="0" err="1"/>
              <a:t>operation</a:t>
            </a:r>
            <a:r>
              <a:rPr lang="es-ES" sz="600" dirty="0"/>
              <a:t>="A-B", </a:t>
            </a:r>
            <a:r>
              <a:rPr lang="es-ES" sz="600" dirty="0" err="1"/>
              <a:t>layer</a:t>
            </a:r>
            <a:r>
              <a:rPr lang="es-ES" sz="600" dirty="0"/>
              <a:t>=</a:t>
            </a:r>
            <a:r>
              <a:rPr lang="es-ES" sz="600" dirty="0" err="1"/>
              <a:t>layer_box</a:t>
            </a:r>
            <a:r>
              <a:rPr lang="es-ES" sz="600" dirty="0"/>
              <a:t>)</a:t>
            </a:r>
          </a:p>
          <a:p>
            <a:r>
              <a:rPr lang="es-ES" sz="600" dirty="0"/>
              <a:t>    </a:t>
            </a:r>
            <a:r>
              <a:rPr lang="es-ES" sz="600" dirty="0" err="1"/>
              <a:t>box.add_ref</a:t>
            </a:r>
            <a:r>
              <a:rPr lang="es-ES" sz="600" dirty="0"/>
              <a:t>(</a:t>
            </a:r>
            <a:r>
              <a:rPr lang="es-ES" sz="600" dirty="0" err="1"/>
              <a:t>box_frame</a:t>
            </a:r>
            <a:r>
              <a:rPr lang="es-ES" sz="600" dirty="0"/>
              <a:t>)</a:t>
            </a:r>
          </a:p>
          <a:p>
            <a:br>
              <a:rPr lang="es-ES" sz="600" dirty="0"/>
            </a:br>
            <a:endParaRPr lang="es-ES" sz="600" dirty="0"/>
          </a:p>
          <a:p>
            <a:r>
              <a:rPr lang="es-ES" sz="600" dirty="0"/>
              <a:t>    # Puerto de anclaje de la esquina solicitado</a:t>
            </a:r>
          </a:p>
          <a:p>
            <a:r>
              <a:rPr lang="es-ES" sz="600" dirty="0"/>
              <a:t>    </a:t>
            </a:r>
            <a:r>
              <a:rPr lang="es-ES" sz="600" dirty="0" err="1"/>
              <a:t>box.add_port</a:t>
            </a:r>
            <a:r>
              <a:rPr lang="es-ES" sz="600" dirty="0"/>
              <a:t>(</a:t>
            </a:r>
            <a:r>
              <a:rPr lang="es-ES" sz="600" dirty="0" err="1"/>
              <a:t>name</a:t>
            </a:r>
            <a:r>
              <a:rPr lang="es-ES" sz="600" dirty="0"/>
              <a:t>="</a:t>
            </a:r>
            <a:r>
              <a:rPr lang="es-ES" sz="600" dirty="0" err="1"/>
              <a:t>block@org</a:t>
            </a:r>
            <a:r>
              <a:rPr lang="es-ES" sz="600" dirty="0"/>
              <a:t>", center=[</a:t>
            </a:r>
            <a:r>
              <a:rPr lang="es-ES" sz="600" dirty="0" err="1"/>
              <a:t>border</a:t>
            </a:r>
            <a:r>
              <a:rPr lang="es-ES" sz="600" dirty="0"/>
              <a:t>, </a:t>
            </a:r>
            <a:r>
              <a:rPr lang="es-ES" sz="600" dirty="0" err="1"/>
              <a:t>border</a:t>
            </a:r>
            <a:r>
              <a:rPr lang="es-ES" sz="600" dirty="0"/>
              <a:t>], </a:t>
            </a:r>
            <a:r>
              <a:rPr lang="es-ES" sz="600" dirty="0" err="1"/>
              <a:t>width</a:t>
            </a:r>
            <a:r>
              <a:rPr lang="es-ES" sz="600" dirty="0"/>
              <a:t>=1, </a:t>
            </a:r>
            <a:r>
              <a:rPr lang="es-ES" sz="600" dirty="0" err="1"/>
              <a:t>orientation</a:t>
            </a:r>
            <a:r>
              <a:rPr lang="es-ES" sz="600" dirty="0"/>
              <a:t>=0, </a:t>
            </a:r>
            <a:r>
              <a:rPr lang="es-ES" sz="600" dirty="0" err="1"/>
              <a:t>layer</a:t>
            </a:r>
            <a:r>
              <a:rPr lang="es-ES" sz="600" dirty="0"/>
              <a:t>=</a:t>
            </a:r>
            <a:r>
              <a:rPr lang="es-ES" sz="600" dirty="0" err="1"/>
              <a:t>layer_box</a:t>
            </a:r>
            <a:r>
              <a:rPr lang="es-ES" sz="600" dirty="0"/>
              <a:t>)</a:t>
            </a:r>
          </a:p>
          <a:p>
            <a:br>
              <a:rPr lang="es-ES" sz="600" dirty="0"/>
            </a:br>
            <a:endParaRPr lang="es-ES" sz="600" dirty="0"/>
          </a:p>
          <a:p>
            <a:r>
              <a:rPr lang="es-ES" sz="600" dirty="0"/>
              <a:t>    # --- Instanciamos el acoplador en el centro del Die ---</a:t>
            </a:r>
          </a:p>
          <a:p>
            <a:r>
              <a:rPr lang="es-ES" sz="600" dirty="0"/>
              <a:t>    </a:t>
            </a:r>
            <a:r>
              <a:rPr lang="es-ES" sz="600" dirty="0" err="1"/>
              <a:t>acoplador_ref</a:t>
            </a:r>
            <a:r>
              <a:rPr lang="es-ES" sz="600" dirty="0"/>
              <a:t> = </a:t>
            </a:r>
            <a:r>
              <a:rPr lang="es-ES" sz="600" dirty="0" err="1"/>
              <a:t>box.add_ref</a:t>
            </a:r>
            <a:r>
              <a:rPr lang="es-ES" sz="600" dirty="0"/>
              <a:t>(</a:t>
            </a:r>
            <a:r>
              <a:rPr lang="es-ES" sz="600" dirty="0" err="1"/>
              <a:t>acoplador_direccional_base</a:t>
            </a:r>
            <a:r>
              <a:rPr lang="es-ES" sz="600" dirty="0"/>
              <a:t>())</a:t>
            </a:r>
          </a:p>
          <a:p>
            <a:r>
              <a:rPr lang="es-ES" sz="600" dirty="0"/>
              <a:t>    </a:t>
            </a:r>
            <a:r>
              <a:rPr lang="es-ES" sz="600" dirty="0" err="1"/>
              <a:t>acoplador_ref.center</a:t>
            </a:r>
            <a:r>
              <a:rPr lang="es-ES" sz="600" dirty="0"/>
              <a:t> = (</a:t>
            </a:r>
            <a:r>
              <a:rPr lang="es-ES" sz="600" dirty="0" err="1"/>
              <a:t>dieW</a:t>
            </a:r>
            <a:r>
              <a:rPr lang="es-ES" sz="600" dirty="0"/>
              <a:t> / 2, </a:t>
            </a:r>
            <a:r>
              <a:rPr lang="es-ES" sz="600" dirty="0" err="1"/>
              <a:t>dieL</a:t>
            </a:r>
            <a:r>
              <a:rPr lang="es-ES" sz="600" dirty="0"/>
              <a:t> / 2)</a:t>
            </a:r>
          </a:p>
          <a:p>
            <a:br>
              <a:rPr lang="es-ES" sz="600" dirty="0"/>
            </a:br>
            <a:endParaRPr lang="es-ES" sz="600" dirty="0"/>
          </a:p>
          <a:p>
            <a:r>
              <a:rPr lang="es-ES" sz="600" dirty="0"/>
              <a:t>    # --- Extensiones de las guías de onda hasta los bordes ---</a:t>
            </a:r>
          </a:p>
          <a:p>
            <a:r>
              <a:rPr lang="es-ES" sz="600" dirty="0"/>
              <a:t>    </a:t>
            </a:r>
            <a:r>
              <a:rPr lang="es-ES" sz="600" dirty="0" err="1"/>
              <a:t>capa_base</a:t>
            </a:r>
            <a:r>
              <a:rPr lang="es-ES" sz="600" dirty="0"/>
              <a:t> = </a:t>
            </a:r>
            <a:r>
              <a:rPr lang="es-ES" sz="600" dirty="0" err="1"/>
              <a:t>gf.components.straight</a:t>
            </a:r>
            <a:r>
              <a:rPr lang="es-ES" sz="600" dirty="0"/>
              <a:t>().</a:t>
            </a:r>
            <a:r>
              <a:rPr lang="es-ES" sz="600" dirty="0" err="1"/>
              <a:t>ports</a:t>
            </a:r>
            <a:r>
              <a:rPr lang="es-ES" sz="600" dirty="0"/>
              <a:t>["o1"].</a:t>
            </a:r>
            <a:r>
              <a:rPr lang="es-ES" sz="600" dirty="0" err="1"/>
              <a:t>layer</a:t>
            </a:r>
            <a:endParaRPr lang="es-ES" sz="600" dirty="0"/>
          </a:p>
          <a:p>
            <a:r>
              <a:rPr lang="es-ES" sz="600" dirty="0"/>
              <a:t>    seccion_300nm = </a:t>
            </a:r>
            <a:r>
              <a:rPr lang="es-ES" sz="600" dirty="0" err="1"/>
              <a:t>gf.cross_section.cross_section</a:t>
            </a:r>
            <a:r>
              <a:rPr lang="es-ES" sz="600" dirty="0"/>
              <a:t>(</a:t>
            </a:r>
            <a:r>
              <a:rPr lang="es-ES" sz="600" dirty="0" err="1"/>
              <a:t>width</a:t>
            </a:r>
            <a:r>
              <a:rPr lang="es-ES" sz="600" dirty="0"/>
              <a:t>=1.2, </a:t>
            </a:r>
            <a:r>
              <a:rPr lang="es-ES" sz="600" dirty="0" err="1"/>
              <a:t>layer</a:t>
            </a:r>
            <a:r>
              <a:rPr lang="es-ES" sz="600" dirty="0"/>
              <a:t>=</a:t>
            </a:r>
            <a:r>
              <a:rPr lang="es-ES" sz="600" dirty="0" err="1"/>
              <a:t>capa_base</a:t>
            </a:r>
            <a:r>
              <a:rPr lang="es-ES" sz="600" dirty="0"/>
              <a:t>)</a:t>
            </a:r>
          </a:p>
          <a:p>
            <a:r>
              <a:rPr lang="es-ES" sz="600" dirty="0"/>
              <a:t>    </a:t>
            </a:r>
          </a:p>
          <a:p>
            <a:r>
              <a:rPr lang="es-ES" sz="600" dirty="0"/>
              <a:t>    # Cálculo automático de distancias a los extremos (X=0 y X=5000)</a:t>
            </a:r>
          </a:p>
          <a:p>
            <a:r>
              <a:rPr lang="es-ES" sz="600" dirty="0"/>
              <a:t>    </a:t>
            </a:r>
            <a:r>
              <a:rPr lang="es-ES" sz="600" dirty="0" err="1"/>
              <a:t>longitud_extension_izq</a:t>
            </a:r>
            <a:r>
              <a:rPr lang="es-ES" sz="600" dirty="0"/>
              <a:t> = </a:t>
            </a:r>
            <a:r>
              <a:rPr lang="es-ES" sz="600" dirty="0" err="1"/>
              <a:t>acoplador_ref.ports</a:t>
            </a:r>
            <a:r>
              <a:rPr lang="es-ES" sz="600" dirty="0"/>
              <a:t>["</a:t>
            </a:r>
            <a:r>
              <a:rPr lang="es-ES" sz="600" dirty="0" err="1"/>
              <a:t>in_top</a:t>
            </a:r>
            <a:r>
              <a:rPr lang="es-ES" sz="600" dirty="0"/>
              <a:t>"].x</a:t>
            </a:r>
          </a:p>
          <a:p>
            <a:r>
              <a:rPr lang="es-ES" sz="600" dirty="0"/>
              <a:t>    </a:t>
            </a:r>
            <a:r>
              <a:rPr lang="es-ES" sz="600" dirty="0" err="1"/>
              <a:t>longitud_extension_der</a:t>
            </a:r>
            <a:r>
              <a:rPr lang="es-ES" sz="600" dirty="0"/>
              <a:t> = </a:t>
            </a:r>
            <a:r>
              <a:rPr lang="es-ES" sz="600" dirty="0" err="1"/>
              <a:t>dieW</a:t>
            </a:r>
            <a:r>
              <a:rPr lang="es-ES" sz="600" dirty="0"/>
              <a:t> - </a:t>
            </a:r>
            <a:r>
              <a:rPr lang="es-ES" sz="600" dirty="0" err="1"/>
              <a:t>acoplador_ref.ports</a:t>
            </a:r>
            <a:r>
              <a:rPr lang="es-ES" sz="600" dirty="0"/>
              <a:t>["</a:t>
            </a:r>
            <a:r>
              <a:rPr lang="es-ES" sz="600" dirty="0" err="1"/>
              <a:t>out_top</a:t>
            </a:r>
            <a:r>
              <a:rPr lang="es-ES" sz="600" dirty="0"/>
              <a:t>"].x</a:t>
            </a:r>
          </a:p>
          <a:p>
            <a:br>
              <a:rPr lang="es-ES" sz="600" dirty="0"/>
            </a:br>
            <a:endParaRPr lang="es-ES" sz="600" dirty="0"/>
          </a:p>
          <a:p>
            <a:r>
              <a:rPr lang="es-ES" sz="600" dirty="0"/>
              <a:t>    </a:t>
            </a:r>
            <a:r>
              <a:rPr lang="es-ES" sz="600" dirty="0" err="1"/>
              <a:t>guia_ext_izq</a:t>
            </a:r>
            <a:r>
              <a:rPr lang="es-ES" sz="600" dirty="0"/>
              <a:t> = </a:t>
            </a:r>
            <a:r>
              <a:rPr lang="es-ES" sz="600" dirty="0" err="1"/>
              <a:t>gf.components.straight</a:t>
            </a:r>
            <a:r>
              <a:rPr lang="es-ES" sz="600" dirty="0"/>
              <a:t>(</a:t>
            </a:r>
            <a:r>
              <a:rPr lang="es-ES" sz="600" dirty="0" err="1"/>
              <a:t>length</a:t>
            </a:r>
            <a:r>
              <a:rPr lang="es-ES" sz="600" dirty="0"/>
              <a:t>=</a:t>
            </a:r>
            <a:r>
              <a:rPr lang="es-ES" sz="600" dirty="0" err="1"/>
              <a:t>longitud_extension_izq</a:t>
            </a:r>
            <a:r>
              <a:rPr lang="es-ES" sz="600" dirty="0"/>
              <a:t>, </a:t>
            </a:r>
            <a:r>
              <a:rPr lang="es-ES" sz="600" dirty="0" err="1"/>
              <a:t>cross_section</a:t>
            </a:r>
            <a:r>
              <a:rPr lang="es-ES" sz="600" dirty="0"/>
              <a:t>=seccion_300nm)</a:t>
            </a:r>
          </a:p>
          <a:p>
            <a:r>
              <a:rPr lang="es-ES" sz="600" dirty="0"/>
              <a:t>    </a:t>
            </a:r>
            <a:r>
              <a:rPr lang="es-ES" sz="600" dirty="0" err="1"/>
              <a:t>guia_ext_der</a:t>
            </a:r>
            <a:r>
              <a:rPr lang="es-ES" sz="600" dirty="0"/>
              <a:t> = </a:t>
            </a:r>
            <a:r>
              <a:rPr lang="es-ES" sz="600" dirty="0" err="1"/>
              <a:t>gf.components.straight</a:t>
            </a:r>
            <a:r>
              <a:rPr lang="es-ES" sz="600" dirty="0"/>
              <a:t>(</a:t>
            </a:r>
            <a:r>
              <a:rPr lang="es-ES" sz="600" dirty="0" err="1"/>
              <a:t>length</a:t>
            </a:r>
            <a:r>
              <a:rPr lang="es-ES" sz="600" dirty="0"/>
              <a:t>=</a:t>
            </a:r>
            <a:r>
              <a:rPr lang="es-ES" sz="600" dirty="0" err="1"/>
              <a:t>longitud_extension_der</a:t>
            </a:r>
            <a:r>
              <a:rPr lang="es-ES" sz="600" dirty="0"/>
              <a:t>, </a:t>
            </a:r>
            <a:r>
              <a:rPr lang="es-ES" sz="600" dirty="0" err="1"/>
              <a:t>cross_section</a:t>
            </a:r>
            <a:r>
              <a:rPr lang="es-ES" sz="600" dirty="0"/>
              <a:t>=seccion_300nm)</a:t>
            </a:r>
          </a:p>
          <a:p>
            <a:br>
              <a:rPr lang="es-ES" sz="600" dirty="0"/>
            </a:br>
            <a:endParaRPr lang="es-ES" sz="600" dirty="0"/>
          </a:p>
          <a:p>
            <a:r>
              <a:rPr lang="es-ES" sz="600" dirty="0"/>
              <a:t>    # Conectamos las extensiones izquierdas (Entradas hacia el borde X=0)</a:t>
            </a:r>
          </a:p>
          <a:p>
            <a:r>
              <a:rPr lang="es-ES" sz="600" dirty="0"/>
              <a:t>    </a:t>
            </a:r>
            <a:r>
              <a:rPr lang="es-ES" sz="600" dirty="0" err="1"/>
              <a:t>ext_in_top</a:t>
            </a:r>
            <a:r>
              <a:rPr lang="es-ES" sz="600" dirty="0"/>
              <a:t> = </a:t>
            </a:r>
            <a:r>
              <a:rPr lang="es-ES" sz="600" dirty="0" err="1"/>
              <a:t>box.add_ref</a:t>
            </a:r>
            <a:r>
              <a:rPr lang="es-ES" sz="600" dirty="0"/>
              <a:t>(</a:t>
            </a:r>
            <a:r>
              <a:rPr lang="es-ES" sz="600" dirty="0" err="1"/>
              <a:t>guia_ext_izq</a:t>
            </a:r>
            <a:r>
              <a:rPr lang="es-ES" sz="600" dirty="0"/>
              <a:t>)</a:t>
            </a:r>
          </a:p>
          <a:p>
            <a:r>
              <a:rPr lang="es-ES" sz="600" dirty="0"/>
              <a:t>    </a:t>
            </a:r>
            <a:r>
              <a:rPr lang="es-ES" sz="600" dirty="0" err="1"/>
              <a:t>ext_in_top.connect</a:t>
            </a:r>
            <a:r>
              <a:rPr lang="es-ES" sz="600" dirty="0"/>
              <a:t>("o2", </a:t>
            </a:r>
            <a:r>
              <a:rPr lang="es-ES" sz="600" dirty="0" err="1"/>
              <a:t>acoplador_ref.ports</a:t>
            </a:r>
            <a:r>
              <a:rPr lang="es-ES" sz="600" dirty="0"/>
              <a:t>["</a:t>
            </a:r>
            <a:r>
              <a:rPr lang="es-ES" sz="600" dirty="0" err="1"/>
              <a:t>in_top</a:t>
            </a:r>
            <a:r>
              <a:rPr lang="es-ES" sz="600" dirty="0"/>
              <a:t>"])</a:t>
            </a:r>
          </a:p>
          <a:p>
            <a:br>
              <a:rPr lang="es-ES" sz="600" dirty="0"/>
            </a:br>
            <a:endParaRPr lang="es-ES" sz="600" dirty="0"/>
          </a:p>
          <a:p>
            <a:r>
              <a:rPr lang="es-ES" sz="600" dirty="0"/>
              <a:t>    </a:t>
            </a:r>
            <a:r>
              <a:rPr lang="es-ES" sz="600" dirty="0" err="1"/>
              <a:t>ext_in_bot</a:t>
            </a:r>
            <a:r>
              <a:rPr lang="es-ES" sz="600" dirty="0"/>
              <a:t> = </a:t>
            </a:r>
            <a:r>
              <a:rPr lang="es-ES" sz="600" dirty="0" err="1"/>
              <a:t>box.add_ref</a:t>
            </a:r>
            <a:r>
              <a:rPr lang="es-ES" sz="600" dirty="0"/>
              <a:t>(</a:t>
            </a:r>
            <a:r>
              <a:rPr lang="es-ES" sz="600" dirty="0" err="1"/>
              <a:t>guia_ext_izq</a:t>
            </a:r>
            <a:r>
              <a:rPr lang="es-ES" sz="600" dirty="0"/>
              <a:t>)</a:t>
            </a:r>
          </a:p>
          <a:p>
            <a:r>
              <a:rPr lang="es-ES" sz="600" dirty="0"/>
              <a:t>    </a:t>
            </a:r>
            <a:r>
              <a:rPr lang="es-ES" sz="600" dirty="0" err="1"/>
              <a:t>ext_in_bot.connect</a:t>
            </a:r>
            <a:r>
              <a:rPr lang="es-ES" sz="600" dirty="0"/>
              <a:t>("o2", </a:t>
            </a:r>
            <a:r>
              <a:rPr lang="es-ES" sz="600" dirty="0" err="1"/>
              <a:t>acoplador_ref.ports</a:t>
            </a:r>
            <a:r>
              <a:rPr lang="es-ES" sz="600" dirty="0"/>
              <a:t>["</a:t>
            </a:r>
            <a:r>
              <a:rPr lang="es-ES" sz="600" dirty="0" err="1"/>
              <a:t>in_bot</a:t>
            </a:r>
            <a:r>
              <a:rPr lang="es-ES" sz="600" dirty="0"/>
              <a:t>"])</a:t>
            </a:r>
          </a:p>
          <a:p>
            <a:br>
              <a:rPr lang="es-ES" sz="600" dirty="0"/>
            </a:br>
            <a:endParaRPr lang="es-ES" sz="600" dirty="0"/>
          </a:p>
          <a:p>
            <a:r>
              <a:rPr lang="es-ES" sz="600" dirty="0"/>
              <a:t>    # Conectamos las extensiones derechas (Salidas hacia el borde X=5000)</a:t>
            </a:r>
          </a:p>
          <a:p>
            <a:r>
              <a:rPr lang="es-ES" sz="600" dirty="0"/>
              <a:t>    </a:t>
            </a:r>
            <a:r>
              <a:rPr lang="es-ES" sz="600" dirty="0" err="1"/>
              <a:t>ext_out_top</a:t>
            </a:r>
            <a:r>
              <a:rPr lang="es-ES" sz="600" dirty="0"/>
              <a:t> = </a:t>
            </a:r>
            <a:r>
              <a:rPr lang="es-ES" sz="600" dirty="0" err="1"/>
              <a:t>box.add_ref</a:t>
            </a:r>
            <a:r>
              <a:rPr lang="es-ES" sz="600" dirty="0"/>
              <a:t>(</a:t>
            </a:r>
            <a:r>
              <a:rPr lang="es-ES" sz="600" dirty="0" err="1"/>
              <a:t>guia_ext_der</a:t>
            </a:r>
            <a:r>
              <a:rPr lang="es-ES" sz="600" dirty="0"/>
              <a:t>)</a:t>
            </a:r>
          </a:p>
          <a:p>
            <a:r>
              <a:rPr lang="es-ES" sz="600" dirty="0"/>
              <a:t>    </a:t>
            </a:r>
            <a:r>
              <a:rPr lang="es-ES" sz="600" dirty="0" err="1"/>
              <a:t>ext_out_top.connect</a:t>
            </a:r>
            <a:r>
              <a:rPr lang="es-ES" sz="600" dirty="0"/>
              <a:t>("o1", </a:t>
            </a:r>
            <a:r>
              <a:rPr lang="es-ES" sz="600" dirty="0" err="1"/>
              <a:t>acoplador_ref.ports</a:t>
            </a:r>
            <a:r>
              <a:rPr lang="es-ES" sz="600" dirty="0"/>
              <a:t>["</a:t>
            </a:r>
            <a:r>
              <a:rPr lang="es-ES" sz="600" dirty="0" err="1"/>
              <a:t>out_top</a:t>
            </a:r>
            <a:r>
              <a:rPr lang="es-ES" sz="600" dirty="0"/>
              <a:t>"])  # ¡Corregido "o1"!</a:t>
            </a:r>
          </a:p>
          <a:p>
            <a:br>
              <a:rPr lang="es-ES" sz="600" dirty="0"/>
            </a:br>
            <a:endParaRPr lang="es-ES" sz="600" dirty="0"/>
          </a:p>
          <a:p>
            <a:r>
              <a:rPr lang="es-ES" sz="600" dirty="0"/>
              <a:t>    </a:t>
            </a:r>
            <a:r>
              <a:rPr lang="es-ES" sz="600" dirty="0" err="1"/>
              <a:t>ext_out_bot</a:t>
            </a:r>
            <a:r>
              <a:rPr lang="es-ES" sz="600" dirty="0"/>
              <a:t> = </a:t>
            </a:r>
            <a:r>
              <a:rPr lang="es-ES" sz="600" dirty="0" err="1"/>
              <a:t>box.add_ref</a:t>
            </a:r>
            <a:r>
              <a:rPr lang="es-ES" sz="600" dirty="0"/>
              <a:t>(</a:t>
            </a:r>
            <a:r>
              <a:rPr lang="es-ES" sz="600" dirty="0" err="1"/>
              <a:t>guia_ext_der</a:t>
            </a:r>
            <a:r>
              <a:rPr lang="es-ES" sz="600" dirty="0"/>
              <a:t>)</a:t>
            </a:r>
          </a:p>
          <a:p>
            <a:r>
              <a:rPr lang="es-ES" sz="600" dirty="0"/>
              <a:t>    </a:t>
            </a:r>
            <a:r>
              <a:rPr lang="es-ES" sz="600" dirty="0" err="1"/>
              <a:t>ext_out_bot.connect</a:t>
            </a:r>
            <a:r>
              <a:rPr lang="es-ES" sz="600" dirty="0"/>
              <a:t>("o1", </a:t>
            </a:r>
            <a:r>
              <a:rPr lang="es-ES" sz="600" dirty="0" err="1"/>
              <a:t>acoplador_ref.ports</a:t>
            </a:r>
            <a:r>
              <a:rPr lang="es-ES" sz="600" dirty="0"/>
              <a:t>["</a:t>
            </a:r>
            <a:r>
              <a:rPr lang="es-ES" sz="600" dirty="0" err="1"/>
              <a:t>out_bot</a:t>
            </a:r>
            <a:r>
              <a:rPr lang="es-ES" sz="600" dirty="0"/>
              <a:t>"])  # ¡Corregido "o1"!</a:t>
            </a:r>
          </a:p>
          <a:p>
            <a:br>
              <a:rPr lang="es-ES" sz="600" dirty="0"/>
            </a:br>
            <a:endParaRPr lang="es-ES" sz="600" dirty="0"/>
          </a:p>
          <a:p>
            <a:r>
              <a:rPr lang="es-ES" sz="600" dirty="0"/>
              <a:t>    # Puertos expuestos finales de la celda del Die</a:t>
            </a:r>
          </a:p>
          <a:p>
            <a:r>
              <a:rPr lang="es-ES" sz="600" dirty="0"/>
              <a:t>    </a:t>
            </a:r>
            <a:r>
              <a:rPr lang="es-ES" sz="600" dirty="0" err="1"/>
              <a:t>box.add_port</a:t>
            </a:r>
            <a:r>
              <a:rPr lang="es-ES" sz="600" dirty="0"/>
              <a:t>("</a:t>
            </a:r>
            <a:r>
              <a:rPr lang="es-ES" sz="600" dirty="0" err="1"/>
              <a:t>in_top</a:t>
            </a:r>
            <a:r>
              <a:rPr lang="es-ES" sz="600" dirty="0"/>
              <a:t>", </a:t>
            </a:r>
            <a:r>
              <a:rPr lang="es-ES" sz="600" dirty="0" err="1"/>
              <a:t>port</a:t>
            </a:r>
            <a:r>
              <a:rPr lang="es-ES" sz="600" dirty="0"/>
              <a:t>=</a:t>
            </a:r>
            <a:r>
              <a:rPr lang="es-ES" sz="600" dirty="0" err="1"/>
              <a:t>ext_in_top.ports</a:t>
            </a:r>
            <a:r>
              <a:rPr lang="es-ES" sz="600" dirty="0"/>
              <a:t>["o1"])</a:t>
            </a:r>
          </a:p>
          <a:p>
            <a:r>
              <a:rPr lang="es-ES" sz="600" dirty="0"/>
              <a:t>    </a:t>
            </a:r>
            <a:r>
              <a:rPr lang="es-ES" sz="600" dirty="0" err="1"/>
              <a:t>box.add_port</a:t>
            </a:r>
            <a:r>
              <a:rPr lang="es-ES" sz="600" dirty="0"/>
              <a:t>("</a:t>
            </a:r>
            <a:r>
              <a:rPr lang="es-ES" sz="600" dirty="0" err="1"/>
              <a:t>in_bot</a:t>
            </a:r>
            <a:r>
              <a:rPr lang="es-ES" sz="600" dirty="0"/>
              <a:t>", </a:t>
            </a:r>
            <a:r>
              <a:rPr lang="es-ES" sz="600" dirty="0" err="1"/>
              <a:t>port</a:t>
            </a:r>
            <a:r>
              <a:rPr lang="es-ES" sz="600" dirty="0"/>
              <a:t>=</a:t>
            </a:r>
            <a:r>
              <a:rPr lang="es-ES" sz="600" dirty="0" err="1"/>
              <a:t>ext_in_bot.ports</a:t>
            </a:r>
            <a:r>
              <a:rPr lang="es-ES" sz="600" dirty="0"/>
              <a:t>["o1"])</a:t>
            </a:r>
          </a:p>
          <a:p>
            <a:r>
              <a:rPr lang="es-ES" sz="600" dirty="0"/>
              <a:t>    </a:t>
            </a:r>
            <a:r>
              <a:rPr lang="es-ES" sz="600" dirty="0" err="1"/>
              <a:t>box.add_port</a:t>
            </a:r>
            <a:r>
              <a:rPr lang="es-ES" sz="600" dirty="0"/>
              <a:t>("</a:t>
            </a:r>
            <a:r>
              <a:rPr lang="es-ES" sz="600" dirty="0" err="1"/>
              <a:t>out_top</a:t>
            </a:r>
            <a:r>
              <a:rPr lang="es-ES" sz="600" dirty="0"/>
              <a:t>", </a:t>
            </a:r>
            <a:r>
              <a:rPr lang="es-ES" sz="600" dirty="0" err="1"/>
              <a:t>port</a:t>
            </a:r>
            <a:r>
              <a:rPr lang="es-ES" sz="600" dirty="0"/>
              <a:t>=</a:t>
            </a:r>
            <a:r>
              <a:rPr lang="es-ES" sz="600" dirty="0" err="1"/>
              <a:t>ext_out_top.ports</a:t>
            </a:r>
            <a:r>
              <a:rPr lang="es-ES" sz="600" dirty="0"/>
              <a:t>["o2"])</a:t>
            </a:r>
          </a:p>
          <a:p>
            <a:r>
              <a:rPr lang="es-ES" sz="600" dirty="0"/>
              <a:t>    </a:t>
            </a:r>
            <a:r>
              <a:rPr lang="es-ES" sz="600" dirty="0" err="1"/>
              <a:t>box.add_port</a:t>
            </a:r>
            <a:r>
              <a:rPr lang="es-ES" sz="600" dirty="0"/>
              <a:t>("</a:t>
            </a:r>
            <a:r>
              <a:rPr lang="es-ES" sz="600" dirty="0" err="1"/>
              <a:t>out_bot</a:t>
            </a:r>
            <a:r>
              <a:rPr lang="es-ES" sz="600" dirty="0"/>
              <a:t>", </a:t>
            </a:r>
            <a:r>
              <a:rPr lang="es-ES" sz="600" dirty="0" err="1"/>
              <a:t>port</a:t>
            </a:r>
            <a:r>
              <a:rPr lang="es-ES" sz="600" dirty="0"/>
              <a:t>=</a:t>
            </a:r>
            <a:r>
              <a:rPr lang="es-ES" sz="600" dirty="0" err="1"/>
              <a:t>ext_out_bot.ports</a:t>
            </a:r>
            <a:r>
              <a:rPr lang="es-ES" sz="600" dirty="0"/>
              <a:t>["o2"])</a:t>
            </a:r>
          </a:p>
          <a:p>
            <a:r>
              <a:rPr lang="es-ES" sz="600" dirty="0"/>
              <a:t>    </a:t>
            </a:r>
          </a:p>
          <a:p>
            <a:r>
              <a:rPr lang="es-ES" sz="600" dirty="0"/>
              <a:t>    </a:t>
            </a:r>
            <a:r>
              <a:rPr lang="es-ES" sz="600" dirty="0" err="1"/>
              <a:t>return</a:t>
            </a:r>
            <a:r>
              <a:rPr lang="es-ES" sz="600" dirty="0"/>
              <a:t> box</a:t>
            </a:r>
          </a:p>
          <a:p>
            <a:br>
              <a:rPr lang="es-ES" sz="600" dirty="0"/>
            </a:br>
            <a:br>
              <a:rPr lang="es-ES" sz="600" dirty="0"/>
            </a:br>
            <a:endParaRPr lang="es-ES" sz="600" dirty="0"/>
          </a:p>
          <a:p>
            <a:r>
              <a:rPr lang="es-ES" sz="600" dirty="0"/>
              <a:t># =======================================================================</a:t>
            </a:r>
          </a:p>
          <a:p>
            <a:r>
              <a:rPr lang="es-ES" sz="600" dirty="0"/>
              <a:t># 3. COMPONENTE SUPERIOR (Lienzo final / Wafer de la práctica)</a:t>
            </a:r>
          </a:p>
          <a:p>
            <a:r>
              <a:rPr lang="es-ES" sz="600" dirty="0"/>
              <a:t># =======================================================================</a:t>
            </a:r>
          </a:p>
          <a:p>
            <a:r>
              <a:rPr lang="es-ES" sz="600" dirty="0" err="1"/>
              <a:t>wafer_layout</a:t>
            </a:r>
            <a:r>
              <a:rPr lang="es-ES" sz="600" dirty="0"/>
              <a:t> = </a:t>
            </a:r>
            <a:r>
              <a:rPr lang="es-ES" sz="600" dirty="0" err="1"/>
              <a:t>gf.Component</a:t>
            </a:r>
            <a:r>
              <a:rPr lang="es-ES" sz="600" dirty="0"/>
              <a:t>("</a:t>
            </a:r>
            <a:r>
              <a:rPr lang="es-ES" sz="600" dirty="0" err="1"/>
              <a:t>Layout_Final_Acoplador</a:t>
            </a:r>
            <a:r>
              <a:rPr lang="es-ES" sz="600" dirty="0"/>
              <a:t>")</a:t>
            </a:r>
          </a:p>
          <a:p>
            <a:br>
              <a:rPr lang="es-ES" sz="600" dirty="0"/>
            </a:br>
            <a:endParaRPr lang="es-ES" sz="600" dirty="0"/>
          </a:p>
          <a:p>
            <a:r>
              <a:rPr lang="es-ES" sz="600" dirty="0"/>
              <a:t># Instanciamos la celda intermedia dentro del componente superior</a:t>
            </a:r>
          </a:p>
          <a:p>
            <a:r>
              <a:rPr lang="es-ES" sz="600" dirty="0" err="1"/>
              <a:t>wafer_layout.add_ref</a:t>
            </a:r>
            <a:r>
              <a:rPr lang="es-ES" sz="600" dirty="0"/>
              <a:t>(</a:t>
            </a:r>
            <a:r>
              <a:rPr lang="es-ES" sz="600" dirty="0" err="1"/>
              <a:t>die_acoplador</a:t>
            </a:r>
            <a:r>
              <a:rPr lang="es-ES" sz="600" dirty="0"/>
              <a:t>())</a:t>
            </a:r>
          </a:p>
          <a:p>
            <a:br>
              <a:rPr lang="es-ES" sz="600" dirty="0"/>
            </a:br>
            <a:endParaRPr lang="es-ES" sz="600" dirty="0"/>
          </a:p>
          <a:p>
            <a:r>
              <a:rPr lang="es-ES" sz="600" dirty="0"/>
              <a:t># Visualización</a:t>
            </a:r>
          </a:p>
          <a:p>
            <a:r>
              <a:rPr lang="es-ES" sz="600" dirty="0" err="1"/>
              <a:t>wafer_layout.show</a:t>
            </a:r>
            <a:r>
              <a:rPr lang="es-ES" sz="600" dirty="0"/>
              <a:t>()</a:t>
            </a:r>
          </a:p>
          <a:p>
            <a:r>
              <a:rPr lang="es-ES" sz="600" dirty="0" err="1"/>
              <a:t>wafer_layout.plot</a:t>
            </a:r>
            <a:r>
              <a:rPr lang="es-ES" sz="600" dirty="0"/>
              <a:t>()</a:t>
            </a:r>
          </a:p>
          <a:p>
            <a:pPr algn="ctr"/>
            <a:endParaRPr lang="en-US" sz="600" dirty="0"/>
          </a:p>
        </p:txBody>
      </p:sp>
      <p:sp>
        <p:nvSpPr>
          <p:cNvPr id="8" name="Rectángulo 7">
            <a:extLst>
              <a:ext uri="{FF2B5EF4-FFF2-40B4-BE49-F238E27FC236}">
                <a16:creationId xmlns:a16="http://schemas.microsoft.com/office/drawing/2014/main" id="{BAAAC818-8C43-CF5D-4DB7-21D1E6A0DEED}"/>
              </a:ext>
            </a:extLst>
          </p:cNvPr>
          <p:cNvSpPr/>
          <p:nvPr/>
        </p:nvSpPr>
        <p:spPr>
          <a:xfrm>
            <a:off x="6476841" y="1420406"/>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2E0254F2-3F36-2B82-F469-33464298D91B}"/>
              </a:ext>
            </a:extLst>
          </p:cNvPr>
          <p:cNvSpPr txBox="1"/>
          <p:nvPr/>
        </p:nvSpPr>
        <p:spPr>
          <a:xfrm>
            <a:off x="7644330" y="2496339"/>
            <a:ext cx="2997616" cy="369332"/>
          </a:xfrm>
          <a:prstGeom prst="rect">
            <a:avLst/>
          </a:prstGeom>
          <a:noFill/>
        </p:spPr>
        <p:txBody>
          <a:bodyPr wrap="none" rtlCol="0">
            <a:spAutoFit/>
          </a:bodyPr>
          <a:lstStyle/>
          <a:p>
            <a:pPr algn="ctr"/>
            <a:r>
              <a:rPr lang="es-ES" dirty="0" err="1"/>
              <a:t>Component</a:t>
            </a:r>
            <a:r>
              <a:rPr lang="es-ES" dirty="0"/>
              <a:t> as </a:t>
            </a:r>
            <a:r>
              <a:rPr lang="es-ES" dirty="0" err="1"/>
              <a:t>cell</a:t>
            </a:r>
            <a:r>
              <a:rPr lang="es-ES" dirty="0"/>
              <a:t> </a:t>
            </a:r>
            <a:r>
              <a:rPr lang="es-ES" dirty="0" err="1"/>
              <a:t>screenshot</a:t>
            </a:r>
            <a:endParaRPr lang="en-US" dirty="0"/>
          </a:p>
        </p:txBody>
      </p:sp>
      <p:pic>
        <p:nvPicPr>
          <p:cNvPr id="4" name="Picture 3">
            <a:extLst>
              <a:ext uri="{FF2B5EF4-FFF2-40B4-BE49-F238E27FC236}">
                <a16:creationId xmlns:a16="http://schemas.microsoft.com/office/drawing/2014/main" id="{9173B499-5B66-4E83-EE75-87CB057CA1E8}"/>
              </a:ext>
            </a:extLst>
          </p:cNvPr>
          <p:cNvPicPr>
            <a:picLocks noChangeAspect="1"/>
          </p:cNvPicPr>
          <p:nvPr/>
        </p:nvPicPr>
        <p:blipFill>
          <a:blip r:embed="rId4"/>
          <a:stretch>
            <a:fillRect/>
          </a:stretch>
        </p:blipFill>
        <p:spPr>
          <a:xfrm>
            <a:off x="6580943" y="1765074"/>
            <a:ext cx="5124366" cy="3868394"/>
          </a:xfrm>
          <a:prstGeom prst="rect">
            <a:avLst/>
          </a:prstGeom>
        </p:spPr>
      </p:pic>
    </p:spTree>
    <p:extLst>
      <p:ext uri="{BB962C8B-B14F-4D97-AF65-F5344CB8AC3E}">
        <p14:creationId xmlns:p14="http://schemas.microsoft.com/office/powerpoint/2010/main" val="15040021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B4E09-81D1-E0B0-365D-12FB55D8B9E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111C79A-2B97-8CA6-4570-9FDB90B0F4D8}"/>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gn="ctr">
              <a:lnSpc>
                <a:spcPct val="100000"/>
              </a:lnSpc>
              <a:spcBef>
                <a:spcPts val="100"/>
              </a:spcBef>
            </a:pPr>
            <a:r>
              <a:rPr lang="en-US" dirty="0"/>
              <a:t>Learning outcome #2a – Notebook section 2. Layout Fundamentals – </a:t>
            </a:r>
            <a:r>
              <a:rPr lang="en-US" dirty="0">
                <a:solidFill>
                  <a:srgbClr val="FF0000"/>
                </a:solidFill>
              </a:rPr>
              <a:t>1 slide per component</a:t>
            </a:r>
            <a:br>
              <a:rPr lang="en-US" sz="2500" dirty="0"/>
            </a:br>
            <a:r>
              <a:rPr lang="en-US" sz="2500" dirty="0"/>
              <a:t>MMI</a:t>
            </a:r>
            <a:endParaRPr sz="2500" b="0" i="1" dirty="0">
              <a:solidFill>
                <a:srgbClr val="FF0000"/>
              </a:solidFill>
              <a:latin typeface="+mj-lt"/>
              <a:cs typeface="Lucida Sans"/>
            </a:endParaRPr>
          </a:p>
        </p:txBody>
      </p:sp>
      <p:pic>
        <p:nvPicPr>
          <p:cNvPr id="83" name="Gráfico 82">
            <a:extLst>
              <a:ext uri="{FF2B5EF4-FFF2-40B4-BE49-F238E27FC236}">
                <a16:creationId xmlns:a16="http://schemas.microsoft.com/office/drawing/2014/main" id="{10449B8F-4A0B-404B-FFA5-B4F4114964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88095D05-548C-2674-A5B9-488970DCA422}"/>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3" name="Marcador de pie de página 2">
            <a:extLst>
              <a:ext uri="{FF2B5EF4-FFF2-40B4-BE49-F238E27FC236}">
                <a16:creationId xmlns:a16="http://schemas.microsoft.com/office/drawing/2014/main" id="{9B9C950D-FF98-BBBE-B1C8-C82C426A1EA9}"/>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6" name="Rectángulo 5">
            <a:extLst>
              <a:ext uri="{FF2B5EF4-FFF2-40B4-BE49-F238E27FC236}">
                <a16:creationId xmlns:a16="http://schemas.microsoft.com/office/drawing/2014/main" id="{BCB70447-3F62-1681-3A13-B8940C493699}"/>
              </a:ext>
            </a:extLst>
          </p:cNvPr>
          <p:cNvSpPr/>
          <p:nvPr/>
        </p:nvSpPr>
        <p:spPr>
          <a:xfrm>
            <a:off x="609441" y="1418373"/>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D124FEC8-4526-E52A-B6C3-748973A46B68}"/>
              </a:ext>
            </a:extLst>
          </p:cNvPr>
          <p:cNvSpPr txBox="1"/>
          <p:nvPr/>
        </p:nvSpPr>
        <p:spPr>
          <a:xfrm>
            <a:off x="587029" y="1418373"/>
            <a:ext cx="6854825" cy="12372618"/>
          </a:xfrm>
          <a:prstGeom prst="rect">
            <a:avLst/>
          </a:prstGeom>
          <a:noFill/>
        </p:spPr>
        <p:txBody>
          <a:bodyPr wrap="none" rtlCol="0">
            <a:spAutoFit/>
          </a:bodyPr>
          <a:lstStyle/>
          <a:p>
            <a:r>
              <a:rPr lang="es-ES" sz="600" dirty="0" err="1"/>
              <a:t>gf.clear_cache</a:t>
            </a:r>
            <a:r>
              <a:rPr lang="es-ES" sz="600" dirty="0"/>
              <a:t>()</a:t>
            </a:r>
          </a:p>
          <a:p>
            <a:br>
              <a:rPr lang="es-ES" sz="600" dirty="0"/>
            </a:br>
            <a:endParaRPr lang="es-ES" sz="600" dirty="0"/>
          </a:p>
          <a:p>
            <a:r>
              <a:rPr lang="es-ES" sz="600" dirty="0"/>
              <a:t># =======================================================================</a:t>
            </a:r>
          </a:p>
          <a:p>
            <a:r>
              <a:rPr lang="es-ES" sz="600" dirty="0"/>
              <a:t># 1. COMPONENTE ESPECÍFICO (Nivel inferior de la jerarquía)</a:t>
            </a:r>
          </a:p>
          <a:p>
            <a:r>
              <a:rPr lang="es-ES" sz="600" dirty="0"/>
              <a:t># =======================================================================</a:t>
            </a:r>
          </a:p>
          <a:p>
            <a:r>
              <a:rPr lang="es-ES" sz="600" dirty="0"/>
              <a:t>@gf.cell</a:t>
            </a:r>
          </a:p>
          <a:p>
            <a:r>
              <a:rPr lang="es-ES" sz="600" dirty="0" err="1"/>
              <a:t>def</a:t>
            </a:r>
            <a:r>
              <a:rPr lang="es-ES" sz="600" dirty="0"/>
              <a:t> mmi_2x2_base(</a:t>
            </a:r>
            <a:r>
              <a:rPr lang="es-ES" sz="600" dirty="0" err="1"/>
              <a:t>width</a:t>
            </a:r>
            <a:r>
              <a:rPr lang="es-ES" sz="600" dirty="0"/>
              <a:t>: </a:t>
            </a:r>
            <a:r>
              <a:rPr lang="es-ES" sz="600" dirty="0" err="1"/>
              <a:t>float</a:t>
            </a:r>
            <a:r>
              <a:rPr lang="es-ES" sz="600" dirty="0"/>
              <a:t> = 1.2, </a:t>
            </a:r>
            <a:r>
              <a:rPr lang="es-ES" sz="600" dirty="0" err="1"/>
              <a:t>ancho_body</a:t>
            </a:r>
            <a:r>
              <a:rPr lang="es-ES" sz="600" dirty="0"/>
              <a:t>: </a:t>
            </a:r>
            <a:r>
              <a:rPr lang="es-ES" sz="600" dirty="0" err="1"/>
              <a:t>float</a:t>
            </a:r>
            <a:r>
              <a:rPr lang="es-ES" sz="600" dirty="0"/>
              <a:t> = 6.6) -&gt; </a:t>
            </a:r>
            <a:r>
              <a:rPr lang="es-ES" sz="600" dirty="0" err="1"/>
              <a:t>gf.Component</a:t>
            </a:r>
            <a:r>
              <a:rPr lang="es-ES" sz="600" dirty="0"/>
              <a:t>:</a:t>
            </a:r>
          </a:p>
          <a:p>
            <a:r>
              <a:rPr lang="es-ES" sz="600" dirty="0"/>
              <a:t>    """Genera la estructura limpia del MMI 2x2 con accesos rectos a +/- 1/6."""</a:t>
            </a:r>
          </a:p>
          <a:p>
            <a:r>
              <a:rPr lang="es-ES" sz="600" dirty="0"/>
              <a:t>    c = </a:t>
            </a:r>
            <a:r>
              <a:rPr lang="es-ES" sz="600" dirty="0" err="1"/>
              <a:t>gf.Component</a:t>
            </a:r>
            <a:r>
              <a:rPr lang="es-ES" sz="600" dirty="0"/>
              <a:t>("MMI_2x2_Base")</a:t>
            </a:r>
          </a:p>
          <a:p>
            <a:r>
              <a:rPr lang="es-ES" sz="600" dirty="0"/>
              <a:t>    </a:t>
            </a:r>
          </a:p>
          <a:p>
            <a:r>
              <a:rPr lang="es-ES" sz="600" dirty="0"/>
              <a:t>    </a:t>
            </a:r>
            <a:r>
              <a:rPr lang="es-ES" sz="600" dirty="0" err="1"/>
              <a:t>capa_base</a:t>
            </a:r>
            <a:r>
              <a:rPr lang="es-ES" sz="600" dirty="0"/>
              <a:t> = </a:t>
            </a:r>
            <a:r>
              <a:rPr lang="es-ES" sz="600" dirty="0" err="1"/>
              <a:t>gf.components.straight</a:t>
            </a:r>
            <a:r>
              <a:rPr lang="es-ES" sz="600" dirty="0"/>
              <a:t>().</a:t>
            </a:r>
            <a:r>
              <a:rPr lang="es-ES" sz="600" dirty="0" err="1"/>
              <a:t>ports</a:t>
            </a:r>
            <a:r>
              <a:rPr lang="es-ES" sz="600" dirty="0"/>
              <a:t>["o1"].</a:t>
            </a:r>
            <a:r>
              <a:rPr lang="es-ES" sz="600" dirty="0" err="1"/>
              <a:t>layer</a:t>
            </a:r>
            <a:endParaRPr lang="es-ES" sz="600" dirty="0"/>
          </a:p>
          <a:p>
            <a:r>
              <a:rPr lang="es-ES" sz="600" dirty="0"/>
              <a:t>    </a:t>
            </a:r>
            <a:r>
              <a:rPr lang="es-ES" sz="600" dirty="0" err="1"/>
              <a:t>seccion_acceso</a:t>
            </a:r>
            <a:r>
              <a:rPr lang="es-ES" sz="600" dirty="0"/>
              <a:t> = </a:t>
            </a:r>
            <a:r>
              <a:rPr lang="es-ES" sz="600" dirty="0" err="1"/>
              <a:t>gf.cross_section.cross_section</a:t>
            </a:r>
            <a:r>
              <a:rPr lang="es-ES" sz="600" dirty="0"/>
              <a:t>(</a:t>
            </a:r>
            <a:r>
              <a:rPr lang="es-ES" sz="600" dirty="0" err="1"/>
              <a:t>width</a:t>
            </a:r>
            <a:r>
              <a:rPr lang="es-ES" sz="600" dirty="0"/>
              <a:t>=</a:t>
            </a:r>
            <a:r>
              <a:rPr lang="es-ES" sz="600" dirty="0" err="1"/>
              <a:t>width</a:t>
            </a:r>
            <a:r>
              <a:rPr lang="es-ES" sz="600" dirty="0"/>
              <a:t>, </a:t>
            </a:r>
            <a:r>
              <a:rPr lang="es-ES" sz="600" dirty="0" err="1"/>
              <a:t>layer</a:t>
            </a:r>
            <a:r>
              <a:rPr lang="es-ES" sz="600" dirty="0"/>
              <a:t>=</a:t>
            </a:r>
            <a:r>
              <a:rPr lang="es-ES" sz="600" dirty="0" err="1"/>
              <a:t>capa_base</a:t>
            </a:r>
            <a:r>
              <a:rPr lang="es-ES" sz="600" dirty="0"/>
              <a:t>)</a:t>
            </a:r>
          </a:p>
          <a:p>
            <a:r>
              <a:rPr lang="es-ES" sz="600" dirty="0"/>
              <a:t>    </a:t>
            </a:r>
            <a:r>
              <a:rPr lang="es-ES" sz="600" dirty="0" err="1"/>
              <a:t>seccion_body</a:t>
            </a:r>
            <a:r>
              <a:rPr lang="es-ES" sz="600" dirty="0"/>
              <a:t> = </a:t>
            </a:r>
            <a:r>
              <a:rPr lang="es-ES" sz="600" dirty="0" err="1"/>
              <a:t>gf.cross_section.cross_section</a:t>
            </a:r>
            <a:r>
              <a:rPr lang="es-ES" sz="600" dirty="0"/>
              <a:t>(</a:t>
            </a:r>
            <a:r>
              <a:rPr lang="es-ES" sz="600" dirty="0" err="1"/>
              <a:t>width</a:t>
            </a:r>
            <a:r>
              <a:rPr lang="es-ES" sz="600" dirty="0"/>
              <a:t>=</a:t>
            </a:r>
            <a:r>
              <a:rPr lang="es-ES" sz="600" dirty="0" err="1"/>
              <a:t>ancho_body</a:t>
            </a:r>
            <a:r>
              <a:rPr lang="es-ES" sz="600" dirty="0"/>
              <a:t>, </a:t>
            </a:r>
            <a:r>
              <a:rPr lang="es-ES" sz="600" dirty="0" err="1"/>
              <a:t>layer</a:t>
            </a:r>
            <a:r>
              <a:rPr lang="es-ES" sz="600" dirty="0"/>
              <a:t>=</a:t>
            </a:r>
            <a:r>
              <a:rPr lang="es-ES" sz="600" dirty="0" err="1"/>
              <a:t>capa_base</a:t>
            </a:r>
            <a:r>
              <a:rPr lang="es-ES" sz="600" dirty="0"/>
              <a:t>)</a:t>
            </a:r>
          </a:p>
          <a:p>
            <a:r>
              <a:rPr lang="es-ES" sz="600" dirty="0"/>
              <a:t>    </a:t>
            </a:r>
          </a:p>
          <a:p>
            <a:r>
              <a:rPr lang="es-ES" sz="600" dirty="0"/>
              <a:t>    # 1. Cuerpo central del MMI (Interferencia pareada: L = </a:t>
            </a:r>
            <a:r>
              <a:rPr lang="es-ES" sz="600" dirty="0" err="1"/>
              <a:t>L_pi</a:t>
            </a:r>
            <a:r>
              <a:rPr lang="es-ES" sz="600" dirty="0"/>
              <a:t> / 2)</a:t>
            </a:r>
          </a:p>
          <a:p>
            <a:r>
              <a:rPr lang="es-ES" sz="600" dirty="0"/>
              <a:t>    </a:t>
            </a:r>
            <a:r>
              <a:rPr lang="es-ES" sz="600" dirty="0" err="1"/>
              <a:t>L_pi</a:t>
            </a:r>
            <a:r>
              <a:rPr lang="es-ES" sz="600" dirty="0"/>
              <a:t> = 69.03598607255596</a:t>
            </a:r>
          </a:p>
          <a:p>
            <a:r>
              <a:rPr lang="es-ES" sz="600" dirty="0"/>
              <a:t>    </a:t>
            </a:r>
            <a:r>
              <a:rPr lang="es-ES" sz="600" dirty="0" err="1"/>
              <a:t>longitud_mmi</a:t>
            </a:r>
            <a:r>
              <a:rPr lang="es-ES" sz="600" dirty="0"/>
              <a:t> = </a:t>
            </a:r>
            <a:r>
              <a:rPr lang="es-ES" sz="600" dirty="0" err="1"/>
              <a:t>L_pi</a:t>
            </a:r>
            <a:r>
              <a:rPr lang="es-ES" sz="600" dirty="0"/>
              <a:t> / 2 </a:t>
            </a:r>
          </a:p>
          <a:p>
            <a:r>
              <a:rPr lang="es-ES" sz="600" dirty="0"/>
              <a:t>    cuerpo = </a:t>
            </a:r>
            <a:r>
              <a:rPr lang="es-ES" sz="600" dirty="0" err="1"/>
              <a:t>gf.components.straight</a:t>
            </a:r>
            <a:r>
              <a:rPr lang="es-ES" sz="600" dirty="0"/>
              <a:t>(</a:t>
            </a:r>
            <a:r>
              <a:rPr lang="es-ES" sz="600" dirty="0" err="1"/>
              <a:t>length</a:t>
            </a:r>
            <a:r>
              <a:rPr lang="es-ES" sz="600" dirty="0"/>
              <a:t>=</a:t>
            </a:r>
            <a:r>
              <a:rPr lang="es-ES" sz="600" dirty="0" err="1"/>
              <a:t>longitud_mmi</a:t>
            </a:r>
            <a:r>
              <a:rPr lang="es-ES" sz="600" dirty="0"/>
              <a:t>, </a:t>
            </a:r>
            <a:r>
              <a:rPr lang="es-ES" sz="600" dirty="0" err="1"/>
              <a:t>cross_section</a:t>
            </a:r>
            <a:r>
              <a:rPr lang="es-ES" sz="600" dirty="0"/>
              <a:t>=</a:t>
            </a:r>
            <a:r>
              <a:rPr lang="es-ES" sz="600" dirty="0" err="1"/>
              <a:t>seccion_body</a:t>
            </a:r>
            <a:r>
              <a:rPr lang="es-ES" sz="600" dirty="0"/>
              <a:t>)</a:t>
            </a:r>
          </a:p>
          <a:p>
            <a:r>
              <a:rPr lang="es-ES" sz="600" dirty="0"/>
              <a:t>    </a:t>
            </a:r>
            <a:r>
              <a:rPr lang="es-ES" sz="600" dirty="0" err="1"/>
              <a:t>c.add_ref</a:t>
            </a:r>
            <a:r>
              <a:rPr lang="es-ES" sz="600" dirty="0"/>
              <a:t>(cuerpo)</a:t>
            </a:r>
          </a:p>
          <a:p>
            <a:r>
              <a:rPr lang="es-ES" sz="600" dirty="0"/>
              <a:t>    </a:t>
            </a:r>
          </a:p>
          <a:p>
            <a:r>
              <a:rPr lang="es-ES" sz="600" dirty="0"/>
              <a:t>    # 2. Guías de acceso rectas cortas (rabillos de 10 </a:t>
            </a:r>
            <a:r>
              <a:rPr lang="es-ES" sz="600" dirty="0" err="1"/>
              <a:t>um</a:t>
            </a:r>
            <a:r>
              <a:rPr lang="es-ES" sz="600" dirty="0"/>
              <a:t>)</a:t>
            </a:r>
          </a:p>
          <a:p>
            <a:r>
              <a:rPr lang="es-ES" sz="600" dirty="0"/>
              <a:t>    </a:t>
            </a:r>
            <a:r>
              <a:rPr lang="es-ES" sz="600" dirty="0" err="1"/>
              <a:t>posicion_y</a:t>
            </a:r>
            <a:r>
              <a:rPr lang="es-ES" sz="600" dirty="0"/>
              <a:t> = </a:t>
            </a:r>
            <a:r>
              <a:rPr lang="es-ES" sz="600" dirty="0" err="1"/>
              <a:t>ancho_body</a:t>
            </a:r>
            <a:r>
              <a:rPr lang="es-ES" sz="600" dirty="0"/>
              <a:t> / 6.0  # Posiciones exactas a 1/6 y -1/6</a:t>
            </a:r>
          </a:p>
          <a:p>
            <a:r>
              <a:rPr lang="es-ES" sz="600" dirty="0"/>
              <a:t>    </a:t>
            </a:r>
            <a:r>
              <a:rPr lang="es-ES" sz="600" dirty="0" err="1"/>
              <a:t>longitud_acceso</a:t>
            </a:r>
            <a:r>
              <a:rPr lang="es-ES" sz="600" dirty="0"/>
              <a:t> = 10.0  </a:t>
            </a:r>
          </a:p>
          <a:p>
            <a:r>
              <a:rPr lang="es-ES" sz="600" dirty="0"/>
              <a:t>    </a:t>
            </a:r>
            <a:r>
              <a:rPr lang="es-ES" sz="600" dirty="0" err="1"/>
              <a:t>guia_recta_acceso</a:t>
            </a:r>
            <a:r>
              <a:rPr lang="es-ES" sz="600" dirty="0"/>
              <a:t> = </a:t>
            </a:r>
            <a:r>
              <a:rPr lang="es-ES" sz="600" dirty="0" err="1"/>
              <a:t>gf.components.straight</a:t>
            </a:r>
            <a:r>
              <a:rPr lang="es-ES" sz="600" dirty="0"/>
              <a:t>(</a:t>
            </a:r>
            <a:r>
              <a:rPr lang="es-ES" sz="600" dirty="0" err="1"/>
              <a:t>length</a:t>
            </a:r>
            <a:r>
              <a:rPr lang="es-ES" sz="600" dirty="0"/>
              <a:t>=</a:t>
            </a:r>
            <a:r>
              <a:rPr lang="es-ES" sz="600" dirty="0" err="1"/>
              <a:t>longitud_acceso</a:t>
            </a:r>
            <a:r>
              <a:rPr lang="es-ES" sz="600" dirty="0"/>
              <a:t>, </a:t>
            </a:r>
            <a:r>
              <a:rPr lang="es-ES" sz="600" dirty="0" err="1"/>
              <a:t>cross_section</a:t>
            </a:r>
            <a:r>
              <a:rPr lang="es-ES" sz="600" dirty="0"/>
              <a:t>=</a:t>
            </a:r>
            <a:r>
              <a:rPr lang="es-ES" sz="600" dirty="0" err="1"/>
              <a:t>seccion_acceso</a:t>
            </a:r>
            <a:r>
              <a:rPr lang="es-ES" sz="600" dirty="0"/>
              <a:t>)</a:t>
            </a:r>
          </a:p>
          <a:p>
            <a:r>
              <a:rPr lang="es-ES" sz="600" dirty="0"/>
              <a:t>    </a:t>
            </a:r>
          </a:p>
          <a:p>
            <a:r>
              <a:rPr lang="es-ES" sz="600" dirty="0"/>
              <a:t>    # --- LADO IZQUIERDO (Entradas en X = 0) ---</a:t>
            </a:r>
          </a:p>
          <a:p>
            <a:r>
              <a:rPr lang="es-ES" sz="600" dirty="0"/>
              <a:t>    </a:t>
            </a:r>
            <a:r>
              <a:rPr lang="es-ES" sz="600" dirty="0" err="1"/>
              <a:t>in_top</a:t>
            </a:r>
            <a:r>
              <a:rPr lang="es-ES" sz="600" dirty="0"/>
              <a:t> = </a:t>
            </a:r>
            <a:r>
              <a:rPr lang="es-ES" sz="600" dirty="0" err="1"/>
              <a:t>c.add_ref</a:t>
            </a:r>
            <a:r>
              <a:rPr lang="es-ES" sz="600" dirty="0"/>
              <a:t>(</a:t>
            </a:r>
            <a:r>
              <a:rPr lang="es-ES" sz="600" dirty="0" err="1"/>
              <a:t>guia_recta_acceso</a:t>
            </a:r>
            <a:r>
              <a:rPr lang="es-ES" sz="600" dirty="0"/>
              <a:t>)</a:t>
            </a:r>
          </a:p>
          <a:p>
            <a:r>
              <a:rPr lang="es-ES" sz="600" dirty="0"/>
              <a:t>    </a:t>
            </a:r>
            <a:r>
              <a:rPr lang="es-ES" sz="600" dirty="0" err="1"/>
              <a:t>in_top.movex</a:t>
            </a:r>
            <a:r>
              <a:rPr lang="es-ES" sz="600" dirty="0"/>
              <a:t>(-</a:t>
            </a:r>
            <a:r>
              <a:rPr lang="es-ES" sz="600" dirty="0" err="1"/>
              <a:t>longitud_acceso</a:t>
            </a:r>
            <a:r>
              <a:rPr lang="es-ES" sz="600" dirty="0"/>
              <a:t>)</a:t>
            </a:r>
          </a:p>
          <a:p>
            <a:r>
              <a:rPr lang="es-ES" sz="600" dirty="0"/>
              <a:t>    </a:t>
            </a:r>
            <a:r>
              <a:rPr lang="es-ES" sz="600" dirty="0" err="1"/>
              <a:t>in_top.movey</a:t>
            </a:r>
            <a:r>
              <a:rPr lang="es-ES" sz="600" dirty="0"/>
              <a:t>(</a:t>
            </a:r>
            <a:r>
              <a:rPr lang="es-ES" sz="600" dirty="0" err="1"/>
              <a:t>posicion_y</a:t>
            </a:r>
            <a:r>
              <a:rPr lang="es-ES" sz="600" dirty="0"/>
              <a:t>)</a:t>
            </a:r>
          </a:p>
          <a:p>
            <a:r>
              <a:rPr lang="es-ES" sz="600" dirty="0"/>
              <a:t>    </a:t>
            </a:r>
          </a:p>
          <a:p>
            <a:r>
              <a:rPr lang="es-ES" sz="600" dirty="0"/>
              <a:t>    </a:t>
            </a:r>
            <a:r>
              <a:rPr lang="es-ES" sz="600" dirty="0" err="1"/>
              <a:t>in_bot</a:t>
            </a:r>
            <a:r>
              <a:rPr lang="es-ES" sz="600" dirty="0"/>
              <a:t> = </a:t>
            </a:r>
            <a:r>
              <a:rPr lang="es-ES" sz="600" dirty="0" err="1"/>
              <a:t>c.add_ref</a:t>
            </a:r>
            <a:r>
              <a:rPr lang="es-ES" sz="600" dirty="0"/>
              <a:t>(</a:t>
            </a:r>
            <a:r>
              <a:rPr lang="es-ES" sz="600" dirty="0" err="1"/>
              <a:t>guia_recta_acceso</a:t>
            </a:r>
            <a:r>
              <a:rPr lang="es-ES" sz="600" dirty="0"/>
              <a:t>)</a:t>
            </a:r>
          </a:p>
          <a:p>
            <a:r>
              <a:rPr lang="es-ES" sz="600" dirty="0"/>
              <a:t>    </a:t>
            </a:r>
            <a:r>
              <a:rPr lang="es-ES" sz="600" dirty="0" err="1"/>
              <a:t>in_bot.movex</a:t>
            </a:r>
            <a:r>
              <a:rPr lang="es-ES" sz="600" dirty="0"/>
              <a:t>(-</a:t>
            </a:r>
            <a:r>
              <a:rPr lang="es-ES" sz="600" dirty="0" err="1"/>
              <a:t>longitud_acceso</a:t>
            </a:r>
            <a:r>
              <a:rPr lang="es-ES" sz="600" dirty="0"/>
              <a:t>)</a:t>
            </a:r>
          </a:p>
          <a:p>
            <a:r>
              <a:rPr lang="es-ES" sz="600" dirty="0"/>
              <a:t>    </a:t>
            </a:r>
            <a:r>
              <a:rPr lang="es-ES" sz="600" dirty="0" err="1"/>
              <a:t>in_bot.movey</a:t>
            </a:r>
            <a:r>
              <a:rPr lang="es-ES" sz="600" dirty="0"/>
              <a:t>(-</a:t>
            </a:r>
            <a:r>
              <a:rPr lang="es-ES" sz="600" dirty="0" err="1"/>
              <a:t>posicion_y</a:t>
            </a:r>
            <a:r>
              <a:rPr lang="es-ES" sz="600" dirty="0"/>
              <a:t>)</a:t>
            </a:r>
          </a:p>
          <a:p>
            <a:r>
              <a:rPr lang="es-ES" sz="600" dirty="0"/>
              <a:t>    </a:t>
            </a:r>
          </a:p>
          <a:p>
            <a:r>
              <a:rPr lang="es-ES" sz="600" dirty="0"/>
              <a:t>    # --- LADO DERECHO (Salidas en X = </a:t>
            </a:r>
            <a:r>
              <a:rPr lang="es-ES" sz="600" dirty="0" err="1"/>
              <a:t>longitud_mmi</a:t>
            </a:r>
            <a:r>
              <a:rPr lang="es-ES" sz="600" dirty="0"/>
              <a:t>) ---</a:t>
            </a:r>
          </a:p>
          <a:p>
            <a:r>
              <a:rPr lang="es-ES" sz="600" dirty="0"/>
              <a:t>    </a:t>
            </a:r>
            <a:r>
              <a:rPr lang="es-ES" sz="600" dirty="0" err="1"/>
              <a:t>out_top</a:t>
            </a:r>
            <a:r>
              <a:rPr lang="es-ES" sz="600" dirty="0"/>
              <a:t> = </a:t>
            </a:r>
            <a:r>
              <a:rPr lang="es-ES" sz="600" dirty="0" err="1"/>
              <a:t>c.add_ref</a:t>
            </a:r>
            <a:r>
              <a:rPr lang="es-ES" sz="600" dirty="0"/>
              <a:t>(</a:t>
            </a:r>
            <a:r>
              <a:rPr lang="es-ES" sz="600" dirty="0" err="1"/>
              <a:t>guia_recta_acceso</a:t>
            </a:r>
            <a:r>
              <a:rPr lang="es-ES" sz="600" dirty="0"/>
              <a:t>)</a:t>
            </a:r>
          </a:p>
          <a:p>
            <a:r>
              <a:rPr lang="es-ES" sz="600" dirty="0"/>
              <a:t>    </a:t>
            </a:r>
            <a:r>
              <a:rPr lang="es-ES" sz="600" dirty="0" err="1"/>
              <a:t>out_top.movex</a:t>
            </a:r>
            <a:r>
              <a:rPr lang="es-ES" sz="600" dirty="0"/>
              <a:t>(</a:t>
            </a:r>
            <a:r>
              <a:rPr lang="es-ES" sz="600" dirty="0" err="1"/>
              <a:t>longitud_mmi</a:t>
            </a:r>
            <a:r>
              <a:rPr lang="es-ES" sz="600" dirty="0"/>
              <a:t>)</a:t>
            </a:r>
          </a:p>
          <a:p>
            <a:r>
              <a:rPr lang="es-ES" sz="600" dirty="0"/>
              <a:t>    </a:t>
            </a:r>
            <a:r>
              <a:rPr lang="es-ES" sz="600" dirty="0" err="1"/>
              <a:t>out_top.movey</a:t>
            </a:r>
            <a:r>
              <a:rPr lang="es-ES" sz="600" dirty="0"/>
              <a:t>(</a:t>
            </a:r>
            <a:r>
              <a:rPr lang="es-ES" sz="600" dirty="0" err="1"/>
              <a:t>posicion_y</a:t>
            </a:r>
            <a:r>
              <a:rPr lang="es-ES" sz="600" dirty="0"/>
              <a:t>)</a:t>
            </a:r>
          </a:p>
          <a:p>
            <a:r>
              <a:rPr lang="es-ES" sz="600" dirty="0"/>
              <a:t>    </a:t>
            </a:r>
          </a:p>
          <a:p>
            <a:r>
              <a:rPr lang="es-ES" sz="600" dirty="0"/>
              <a:t>    </a:t>
            </a:r>
            <a:r>
              <a:rPr lang="es-ES" sz="600" dirty="0" err="1"/>
              <a:t>out_bot</a:t>
            </a:r>
            <a:r>
              <a:rPr lang="es-ES" sz="600" dirty="0"/>
              <a:t> = </a:t>
            </a:r>
            <a:r>
              <a:rPr lang="es-ES" sz="600" dirty="0" err="1"/>
              <a:t>c.add_ref</a:t>
            </a:r>
            <a:r>
              <a:rPr lang="es-ES" sz="600" dirty="0"/>
              <a:t>(</a:t>
            </a:r>
            <a:r>
              <a:rPr lang="es-ES" sz="600" dirty="0" err="1"/>
              <a:t>guia_recta_acceso</a:t>
            </a:r>
            <a:r>
              <a:rPr lang="es-ES" sz="600" dirty="0"/>
              <a:t>)</a:t>
            </a:r>
          </a:p>
          <a:p>
            <a:r>
              <a:rPr lang="es-ES" sz="600" dirty="0"/>
              <a:t>    </a:t>
            </a:r>
            <a:r>
              <a:rPr lang="es-ES" sz="600" dirty="0" err="1"/>
              <a:t>out_bot.movex</a:t>
            </a:r>
            <a:r>
              <a:rPr lang="es-ES" sz="600" dirty="0"/>
              <a:t>(</a:t>
            </a:r>
            <a:r>
              <a:rPr lang="es-ES" sz="600" dirty="0" err="1"/>
              <a:t>longitud_mmi</a:t>
            </a:r>
            <a:r>
              <a:rPr lang="es-ES" sz="600" dirty="0"/>
              <a:t>)</a:t>
            </a:r>
          </a:p>
          <a:p>
            <a:r>
              <a:rPr lang="es-ES" sz="600" dirty="0"/>
              <a:t>    </a:t>
            </a:r>
            <a:r>
              <a:rPr lang="es-ES" sz="600" dirty="0" err="1"/>
              <a:t>out_bot.movey</a:t>
            </a:r>
            <a:r>
              <a:rPr lang="es-ES" sz="600" dirty="0"/>
              <a:t>(-</a:t>
            </a:r>
            <a:r>
              <a:rPr lang="es-ES" sz="600" dirty="0" err="1"/>
              <a:t>posicion_y</a:t>
            </a:r>
            <a:r>
              <a:rPr lang="es-ES" sz="600" dirty="0"/>
              <a:t>)</a:t>
            </a:r>
          </a:p>
          <a:p>
            <a:r>
              <a:rPr lang="es-ES" sz="600" dirty="0"/>
              <a:t>    </a:t>
            </a:r>
          </a:p>
          <a:p>
            <a:r>
              <a:rPr lang="es-ES" sz="600" dirty="0"/>
              <a:t>    # Puertos locales expuestos del MMI limpio</a:t>
            </a:r>
          </a:p>
          <a:p>
            <a:r>
              <a:rPr lang="es-ES" sz="600" dirty="0"/>
              <a:t>    </a:t>
            </a:r>
            <a:r>
              <a:rPr lang="es-ES" sz="600" dirty="0" err="1"/>
              <a:t>c.add_port</a:t>
            </a:r>
            <a:r>
              <a:rPr lang="es-ES" sz="600" dirty="0"/>
              <a:t>("</a:t>
            </a:r>
            <a:r>
              <a:rPr lang="es-ES" sz="600" dirty="0" err="1"/>
              <a:t>in_top</a:t>
            </a:r>
            <a:r>
              <a:rPr lang="es-ES" sz="600" dirty="0"/>
              <a:t>", </a:t>
            </a:r>
            <a:r>
              <a:rPr lang="es-ES" sz="600" dirty="0" err="1"/>
              <a:t>port</a:t>
            </a:r>
            <a:r>
              <a:rPr lang="es-ES" sz="600" dirty="0"/>
              <a:t>=</a:t>
            </a:r>
            <a:r>
              <a:rPr lang="es-ES" sz="600" dirty="0" err="1"/>
              <a:t>in_top.ports</a:t>
            </a:r>
            <a:r>
              <a:rPr lang="es-ES" sz="600" dirty="0"/>
              <a:t>["o1"])</a:t>
            </a:r>
          </a:p>
          <a:p>
            <a:r>
              <a:rPr lang="es-ES" sz="600" dirty="0"/>
              <a:t>    </a:t>
            </a:r>
            <a:r>
              <a:rPr lang="es-ES" sz="600" dirty="0" err="1"/>
              <a:t>c.add_port</a:t>
            </a:r>
            <a:r>
              <a:rPr lang="es-ES" sz="600" dirty="0"/>
              <a:t>("</a:t>
            </a:r>
            <a:r>
              <a:rPr lang="es-ES" sz="600" dirty="0" err="1"/>
              <a:t>in_bot</a:t>
            </a:r>
            <a:r>
              <a:rPr lang="es-ES" sz="600" dirty="0"/>
              <a:t>", </a:t>
            </a:r>
            <a:r>
              <a:rPr lang="es-ES" sz="600" dirty="0" err="1"/>
              <a:t>port</a:t>
            </a:r>
            <a:r>
              <a:rPr lang="es-ES" sz="600" dirty="0"/>
              <a:t>=</a:t>
            </a:r>
            <a:r>
              <a:rPr lang="es-ES" sz="600" dirty="0" err="1"/>
              <a:t>in_bot.ports</a:t>
            </a:r>
            <a:r>
              <a:rPr lang="es-ES" sz="600" dirty="0"/>
              <a:t>["o1"])</a:t>
            </a:r>
          </a:p>
          <a:p>
            <a:r>
              <a:rPr lang="es-ES" sz="600" dirty="0"/>
              <a:t>    </a:t>
            </a:r>
            <a:r>
              <a:rPr lang="es-ES" sz="600" dirty="0" err="1"/>
              <a:t>c.add_port</a:t>
            </a:r>
            <a:r>
              <a:rPr lang="es-ES" sz="600" dirty="0"/>
              <a:t>("</a:t>
            </a:r>
            <a:r>
              <a:rPr lang="es-ES" sz="600" dirty="0" err="1"/>
              <a:t>out_top</a:t>
            </a:r>
            <a:r>
              <a:rPr lang="es-ES" sz="600" dirty="0"/>
              <a:t>", </a:t>
            </a:r>
            <a:r>
              <a:rPr lang="es-ES" sz="600" dirty="0" err="1"/>
              <a:t>port</a:t>
            </a:r>
            <a:r>
              <a:rPr lang="es-ES" sz="600" dirty="0"/>
              <a:t>=</a:t>
            </a:r>
            <a:r>
              <a:rPr lang="es-ES" sz="600" dirty="0" err="1"/>
              <a:t>out_top.ports</a:t>
            </a:r>
            <a:r>
              <a:rPr lang="es-ES" sz="600" dirty="0"/>
              <a:t>["o2"])</a:t>
            </a:r>
          </a:p>
          <a:p>
            <a:r>
              <a:rPr lang="es-ES" sz="600" dirty="0"/>
              <a:t>    </a:t>
            </a:r>
            <a:r>
              <a:rPr lang="es-ES" sz="600" dirty="0" err="1"/>
              <a:t>c.add_port</a:t>
            </a:r>
            <a:r>
              <a:rPr lang="es-ES" sz="600" dirty="0"/>
              <a:t>("</a:t>
            </a:r>
            <a:r>
              <a:rPr lang="es-ES" sz="600" dirty="0" err="1"/>
              <a:t>out_bot</a:t>
            </a:r>
            <a:r>
              <a:rPr lang="es-ES" sz="600" dirty="0"/>
              <a:t>", </a:t>
            </a:r>
            <a:r>
              <a:rPr lang="es-ES" sz="600" dirty="0" err="1"/>
              <a:t>port</a:t>
            </a:r>
            <a:r>
              <a:rPr lang="es-ES" sz="600" dirty="0"/>
              <a:t>=</a:t>
            </a:r>
            <a:r>
              <a:rPr lang="es-ES" sz="600" dirty="0" err="1"/>
              <a:t>out_bot.ports</a:t>
            </a:r>
            <a:r>
              <a:rPr lang="es-ES" sz="600" dirty="0"/>
              <a:t>["o2"])</a:t>
            </a:r>
          </a:p>
          <a:p>
            <a:r>
              <a:rPr lang="es-ES" sz="600" dirty="0"/>
              <a:t>    </a:t>
            </a:r>
          </a:p>
          <a:p>
            <a:r>
              <a:rPr lang="es-ES" sz="600" dirty="0"/>
              <a:t>    </a:t>
            </a:r>
            <a:r>
              <a:rPr lang="es-ES" sz="600" dirty="0" err="1"/>
              <a:t>return</a:t>
            </a:r>
            <a:r>
              <a:rPr lang="es-ES" sz="600" dirty="0"/>
              <a:t> c</a:t>
            </a:r>
          </a:p>
          <a:p>
            <a:br>
              <a:rPr lang="es-ES" sz="600" dirty="0"/>
            </a:br>
            <a:br>
              <a:rPr lang="es-ES" sz="600" dirty="0"/>
            </a:br>
            <a:endParaRPr lang="es-ES" sz="600" dirty="0"/>
          </a:p>
          <a:p>
            <a:r>
              <a:rPr lang="es-ES" sz="600" dirty="0"/>
              <a:t># =======================================================================</a:t>
            </a:r>
          </a:p>
          <a:p>
            <a:r>
              <a:rPr lang="es-ES" sz="600" dirty="0"/>
              <a:t># 2. CELDA INTERMEDIA (Nivel medio: Estructura del Die + Extensiones)</a:t>
            </a:r>
          </a:p>
          <a:p>
            <a:r>
              <a:rPr lang="es-ES" sz="600" dirty="0"/>
              <a:t># =======================================================================</a:t>
            </a:r>
          </a:p>
          <a:p>
            <a:r>
              <a:rPr lang="es-ES" sz="600" dirty="0"/>
              <a:t>@gf.cell</a:t>
            </a:r>
          </a:p>
          <a:p>
            <a:r>
              <a:rPr lang="es-ES" sz="600" dirty="0" err="1"/>
              <a:t>def</a:t>
            </a:r>
            <a:r>
              <a:rPr lang="es-ES" sz="600" dirty="0"/>
              <a:t> </a:t>
            </a:r>
            <a:r>
              <a:rPr lang="es-ES" sz="600" dirty="0" err="1"/>
              <a:t>die_mmi</a:t>
            </a:r>
            <a:r>
              <a:rPr lang="es-ES" sz="600" dirty="0"/>
              <a:t>(</a:t>
            </a:r>
            <a:r>
              <a:rPr lang="es-ES" sz="600" dirty="0" err="1"/>
              <a:t>dieL</a:t>
            </a:r>
            <a:r>
              <a:rPr lang="es-ES" sz="600" dirty="0"/>
              <a:t>=200, </a:t>
            </a:r>
            <a:r>
              <a:rPr lang="es-ES" sz="600" dirty="0" err="1"/>
              <a:t>dieW</a:t>
            </a:r>
            <a:r>
              <a:rPr lang="es-ES" sz="600" dirty="0"/>
              <a:t>=200, </a:t>
            </a:r>
            <a:r>
              <a:rPr lang="es-ES" sz="600" dirty="0" err="1"/>
              <a:t>border</a:t>
            </a:r>
            <a:r>
              <a:rPr lang="es-ES" sz="600" dirty="0"/>
              <a:t>=10, </a:t>
            </a:r>
            <a:r>
              <a:rPr lang="es-ES" sz="600" dirty="0" err="1"/>
              <a:t>layer_box</a:t>
            </a:r>
            <a:r>
              <a:rPr lang="es-ES" sz="600" dirty="0"/>
              <a:t>="FLOORPLAN") -&gt; </a:t>
            </a:r>
            <a:r>
              <a:rPr lang="es-ES" sz="600" dirty="0" err="1"/>
              <a:t>gf.Component</a:t>
            </a:r>
            <a:r>
              <a:rPr lang="es-ES" sz="600" dirty="0"/>
              <a:t>:</a:t>
            </a:r>
          </a:p>
          <a:p>
            <a:r>
              <a:rPr lang="es-ES" sz="600" dirty="0"/>
              <a:t>    """Celda que fabrica el marco booleano del chip e integra el MMI centrado."""</a:t>
            </a:r>
          </a:p>
          <a:p>
            <a:r>
              <a:rPr lang="es-ES" sz="600" dirty="0"/>
              <a:t>    box = </a:t>
            </a:r>
            <a:r>
              <a:rPr lang="es-ES" sz="600" dirty="0" err="1"/>
              <a:t>gf.Component</a:t>
            </a:r>
            <a:r>
              <a:rPr lang="es-ES" sz="600" dirty="0"/>
              <a:t>("</a:t>
            </a:r>
            <a:r>
              <a:rPr lang="es-ES" sz="600" dirty="0" err="1"/>
              <a:t>Die_MMI_Cell</a:t>
            </a:r>
            <a:r>
              <a:rPr lang="es-ES" sz="600" dirty="0"/>
              <a:t>")</a:t>
            </a:r>
          </a:p>
          <a:p>
            <a:r>
              <a:rPr lang="es-ES" sz="600" dirty="0"/>
              <a:t>    </a:t>
            </a:r>
          </a:p>
          <a:p>
            <a:r>
              <a:rPr lang="es-ES" sz="600" dirty="0"/>
              <a:t>    # --- Marco del Die (Tu estructura booleana exacta) ---</a:t>
            </a:r>
          </a:p>
          <a:p>
            <a:r>
              <a:rPr lang="es-ES" sz="600" dirty="0"/>
              <a:t>    </a:t>
            </a:r>
            <a:r>
              <a:rPr lang="es-ES" sz="600" dirty="0" err="1"/>
              <a:t>obox</a:t>
            </a:r>
            <a:r>
              <a:rPr lang="es-ES" sz="600" dirty="0"/>
              <a:t> = </a:t>
            </a:r>
            <a:r>
              <a:rPr lang="es-ES" sz="600" dirty="0" err="1"/>
              <a:t>box.add_ref</a:t>
            </a:r>
            <a:r>
              <a:rPr lang="es-ES" sz="600" dirty="0"/>
              <a:t>(</a:t>
            </a:r>
            <a:r>
              <a:rPr lang="es-ES" sz="600" dirty="0" err="1"/>
              <a:t>gf.components.rectangle</a:t>
            </a:r>
            <a:r>
              <a:rPr lang="es-ES" sz="600" dirty="0"/>
              <a:t>(</a:t>
            </a:r>
            <a:r>
              <a:rPr lang="es-ES" sz="600" dirty="0" err="1"/>
              <a:t>size</a:t>
            </a:r>
            <a:r>
              <a:rPr lang="es-ES" sz="600" dirty="0"/>
              <a:t>=(</a:t>
            </a:r>
            <a:r>
              <a:rPr lang="es-ES" sz="600" dirty="0" err="1"/>
              <a:t>dieW</a:t>
            </a:r>
            <a:r>
              <a:rPr lang="es-ES" sz="600" dirty="0"/>
              <a:t>, </a:t>
            </a:r>
            <a:r>
              <a:rPr lang="es-ES" sz="600" dirty="0" err="1"/>
              <a:t>dieL</a:t>
            </a:r>
            <a:r>
              <a:rPr lang="es-ES" sz="600" dirty="0"/>
              <a:t>), </a:t>
            </a:r>
            <a:r>
              <a:rPr lang="es-ES" sz="600" dirty="0" err="1"/>
              <a:t>layer</a:t>
            </a:r>
            <a:r>
              <a:rPr lang="es-ES" sz="600" dirty="0"/>
              <a:t>=</a:t>
            </a:r>
            <a:r>
              <a:rPr lang="es-ES" sz="600" dirty="0" err="1"/>
              <a:t>layer_box</a:t>
            </a:r>
            <a:r>
              <a:rPr lang="es-ES" sz="600" dirty="0"/>
              <a:t>))</a:t>
            </a:r>
          </a:p>
          <a:p>
            <a:r>
              <a:rPr lang="es-ES" sz="600" dirty="0"/>
              <a:t>    </a:t>
            </a:r>
            <a:r>
              <a:rPr lang="es-ES" sz="600" dirty="0" err="1"/>
              <a:t>ibox</a:t>
            </a:r>
            <a:r>
              <a:rPr lang="es-ES" sz="600" dirty="0"/>
              <a:t> = </a:t>
            </a:r>
            <a:r>
              <a:rPr lang="es-ES" sz="600" dirty="0" err="1"/>
              <a:t>box.add_ref</a:t>
            </a:r>
            <a:r>
              <a:rPr lang="es-ES" sz="600" dirty="0"/>
              <a:t>(</a:t>
            </a:r>
            <a:r>
              <a:rPr lang="es-ES" sz="600" dirty="0" err="1"/>
              <a:t>gf.components.rectangle</a:t>
            </a:r>
            <a:r>
              <a:rPr lang="es-ES" sz="600" dirty="0"/>
              <a:t>(</a:t>
            </a:r>
            <a:r>
              <a:rPr lang="es-ES" sz="600" dirty="0" err="1"/>
              <a:t>size</a:t>
            </a:r>
            <a:r>
              <a:rPr lang="es-ES" sz="600" dirty="0"/>
              <a:t>=(</a:t>
            </a:r>
            <a:r>
              <a:rPr lang="es-ES" sz="600" dirty="0" err="1"/>
              <a:t>dieW</a:t>
            </a:r>
            <a:r>
              <a:rPr lang="es-ES" sz="600" dirty="0"/>
              <a:t> - </a:t>
            </a:r>
            <a:r>
              <a:rPr lang="es-ES" sz="600" dirty="0" err="1"/>
              <a:t>border</a:t>
            </a:r>
            <a:r>
              <a:rPr lang="es-ES" sz="600" dirty="0"/>
              <a:t> * 2, </a:t>
            </a:r>
            <a:r>
              <a:rPr lang="es-ES" sz="600" dirty="0" err="1"/>
              <a:t>dieL</a:t>
            </a:r>
            <a:r>
              <a:rPr lang="es-ES" sz="600" dirty="0"/>
              <a:t> - </a:t>
            </a:r>
            <a:r>
              <a:rPr lang="es-ES" sz="600" dirty="0" err="1"/>
              <a:t>border</a:t>
            </a:r>
            <a:r>
              <a:rPr lang="es-ES" sz="600" dirty="0"/>
              <a:t> * 2), </a:t>
            </a:r>
            <a:r>
              <a:rPr lang="es-ES" sz="600" dirty="0" err="1"/>
              <a:t>layer</a:t>
            </a:r>
            <a:r>
              <a:rPr lang="es-ES" sz="600" dirty="0"/>
              <a:t>=</a:t>
            </a:r>
            <a:r>
              <a:rPr lang="es-ES" sz="600" dirty="0" err="1"/>
              <a:t>layer_box</a:t>
            </a:r>
            <a:r>
              <a:rPr lang="es-ES" sz="600" dirty="0"/>
              <a:t>)).</a:t>
            </a:r>
            <a:r>
              <a:rPr lang="es-ES" sz="600" dirty="0" err="1"/>
              <a:t>dmovex</a:t>
            </a:r>
            <a:r>
              <a:rPr lang="es-ES" sz="600" dirty="0"/>
              <a:t>(</a:t>
            </a:r>
            <a:r>
              <a:rPr lang="es-ES" sz="600" dirty="0" err="1"/>
              <a:t>border</a:t>
            </a:r>
            <a:r>
              <a:rPr lang="es-ES" sz="600" dirty="0"/>
              <a:t>).</a:t>
            </a:r>
            <a:r>
              <a:rPr lang="es-ES" sz="600" dirty="0" err="1"/>
              <a:t>dmovey</a:t>
            </a:r>
            <a:r>
              <a:rPr lang="es-ES" sz="600" dirty="0"/>
              <a:t>(</a:t>
            </a:r>
            <a:r>
              <a:rPr lang="es-ES" sz="600" dirty="0" err="1"/>
              <a:t>border</a:t>
            </a:r>
            <a:r>
              <a:rPr lang="es-ES" sz="600" dirty="0"/>
              <a:t>)</a:t>
            </a:r>
          </a:p>
          <a:p>
            <a:r>
              <a:rPr lang="es-ES" sz="600" dirty="0"/>
              <a:t>    </a:t>
            </a:r>
            <a:r>
              <a:rPr lang="es-ES" sz="600" dirty="0" err="1"/>
              <a:t>box_frame</a:t>
            </a:r>
            <a:r>
              <a:rPr lang="es-ES" sz="600" dirty="0"/>
              <a:t> = </a:t>
            </a:r>
            <a:r>
              <a:rPr lang="es-ES" sz="600" dirty="0" err="1"/>
              <a:t>gf.boolean</a:t>
            </a:r>
            <a:r>
              <a:rPr lang="es-ES" sz="600" dirty="0"/>
              <a:t>(A=</a:t>
            </a:r>
            <a:r>
              <a:rPr lang="es-ES" sz="600" dirty="0" err="1"/>
              <a:t>obox</a:t>
            </a:r>
            <a:r>
              <a:rPr lang="es-ES" sz="600" dirty="0"/>
              <a:t>, B=</a:t>
            </a:r>
            <a:r>
              <a:rPr lang="es-ES" sz="600" dirty="0" err="1"/>
              <a:t>ibox</a:t>
            </a:r>
            <a:r>
              <a:rPr lang="es-ES" sz="600" dirty="0"/>
              <a:t>, </a:t>
            </a:r>
            <a:r>
              <a:rPr lang="es-ES" sz="600" dirty="0" err="1"/>
              <a:t>operation</a:t>
            </a:r>
            <a:r>
              <a:rPr lang="es-ES" sz="600" dirty="0"/>
              <a:t>="A-B", </a:t>
            </a:r>
            <a:r>
              <a:rPr lang="es-ES" sz="600" dirty="0" err="1"/>
              <a:t>layer</a:t>
            </a:r>
            <a:r>
              <a:rPr lang="es-ES" sz="600" dirty="0"/>
              <a:t>=</a:t>
            </a:r>
            <a:r>
              <a:rPr lang="es-ES" sz="600" dirty="0" err="1"/>
              <a:t>layer_box</a:t>
            </a:r>
            <a:r>
              <a:rPr lang="es-ES" sz="600" dirty="0"/>
              <a:t>)</a:t>
            </a:r>
          </a:p>
          <a:p>
            <a:r>
              <a:rPr lang="es-ES" sz="600" dirty="0"/>
              <a:t>    </a:t>
            </a:r>
            <a:r>
              <a:rPr lang="es-ES" sz="600" dirty="0" err="1"/>
              <a:t>box.add_ref</a:t>
            </a:r>
            <a:r>
              <a:rPr lang="es-ES" sz="600" dirty="0"/>
              <a:t>(</a:t>
            </a:r>
            <a:r>
              <a:rPr lang="es-ES" sz="600" dirty="0" err="1"/>
              <a:t>box_frame</a:t>
            </a:r>
            <a:r>
              <a:rPr lang="es-ES" sz="600" dirty="0"/>
              <a:t>)</a:t>
            </a:r>
          </a:p>
          <a:p>
            <a:br>
              <a:rPr lang="es-ES" sz="600" dirty="0"/>
            </a:br>
            <a:endParaRPr lang="es-ES" sz="600" dirty="0"/>
          </a:p>
          <a:p>
            <a:r>
              <a:rPr lang="es-ES" sz="600" dirty="0"/>
              <a:t>    # Puerto de anclaje de la esquina solicitado en tu especificación</a:t>
            </a:r>
          </a:p>
          <a:p>
            <a:r>
              <a:rPr lang="es-ES" sz="600" dirty="0"/>
              <a:t>    </a:t>
            </a:r>
            <a:r>
              <a:rPr lang="es-ES" sz="600" dirty="0" err="1"/>
              <a:t>box.add_port</a:t>
            </a:r>
            <a:r>
              <a:rPr lang="es-ES" sz="600" dirty="0"/>
              <a:t>(</a:t>
            </a:r>
            <a:r>
              <a:rPr lang="es-ES" sz="600" dirty="0" err="1"/>
              <a:t>name</a:t>
            </a:r>
            <a:r>
              <a:rPr lang="es-ES" sz="600" dirty="0"/>
              <a:t>="</a:t>
            </a:r>
            <a:r>
              <a:rPr lang="es-ES" sz="600" dirty="0" err="1"/>
              <a:t>block@org</a:t>
            </a:r>
            <a:r>
              <a:rPr lang="es-ES" sz="600" dirty="0"/>
              <a:t>", center=[</a:t>
            </a:r>
            <a:r>
              <a:rPr lang="es-ES" sz="600" dirty="0" err="1"/>
              <a:t>border</a:t>
            </a:r>
            <a:r>
              <a:rPr lang="es-ES" sz="600" dirty="0"/>
              <a:t>, </a:t>
            </a:r>
            <a:r>
              <a:rPr lang="es-ES" sz="600" dirty="0" err="1"/>
              <a:t>border</a:t>
            </a:r>
            <a:r>
              <a:rPr lang="es-ES" sz="600" dirty="0"/>
              <a:t>], </a:t>
            </a:r>
            <a:r>
              <a:rPr lang="es-ES" sz="600" dirty="0" err="1"/>
              <a:t>width</a:t>
            </a:r>
            <a:r>
              <a:rPr lang="es-ES" sz="600" dirty="0"/>
              <a:t>=1, </a:t>
            </a:r>
            <a:r>
              <a:rPr lang="es-ES" sz="600" dirty="0" err="1"/>
              <a:t>orientation</a:t>
            </a:r>
            <a:r>
              <a:rPr lang="es-ES" sz="600" dirty="0"/>
              <a:t>=0, </a:t>
            </a:r>
            <a:r>
              <a:rPr lang="es-ES" sz="600" dirty="0" err="1"/>
              <a:t>layer</a:t>
            </a:r>
            <a:r>
              <a:rPr lang="es-ES" sz="600" dirty="0"/>
              <a:t>=</a:t>
            </a:r>
            <a:r>
              <a:rPr lang="es-ES" sz="600" dirty="0" err="1"/>
              <a:t>layer_box</a:t>
            </a:r>
            <a:r>
              <a:rPr lang="es-ES" sz="600" dirty="0"/>
              <a:t>)</a:t>
            </a:r>
          </a:p>
          <a:p>
            <a:br>
              <a:rPr lang="es-ES" sz="600" dirty="0"/>
            </a:br>
            <a:endParaRPr lang="es-ES" sz="600" dirty="0"/>
          </a:p>
          <a:p>
            <a:r>
              <a:rPr lang="es-ES" sz="600" dirty="0"/>
              <a:t>    # --- Instanciamos el MMI en el centro del Die ---</a:t>
            </a:r>
          </a:p>
          <a:p>
            <a:r>
              <a:rPr lang="es-ES" sz="600" dirty="0"/>
              <a:t>    </a:t>
            </a:r>
            <a:r>
              <a:rPr lang="es-ES" sz="600" dirty="0" err="1"/>
              <a:t>mmi_ref</a:t>
            </a:r>
            <a:r>
              <a:rPr lang="es-ES" sz="600" dirty="0"/>
              <a:t> = </a:t>
            </a:r>
            <a:r>
              <a:rPr lang="es-ES" sz="600" dirty="0" err="1"/>
              <a:t>box.add_ref</a:t>
            </a:r>
            <a:r>
              <a:rPr lang="es-ES" sz="600" dirty="0"/>
              <a:t>(mmi_2x2_base())</a:t>
            </a:r>
          </a:p>
          <a:p>
            <a:r>
              <a:rPr lang="es-ES" sz="600" dirty="0"/>
              <a:t>    </a:t>
            </a:r>
            <a:r>
              <a:rPr lang="es-ES" sz="600" dirty="0" err="1"/>
              <a:t>mmi_ref.center</a:t>
            </a:r>
            <a:r>
              <a:rPr lang="es-ES" sz="600" dirty="0"/>
              <a:t> = (</a:t>
            </a:r>
            <a:r>
              <a:rPr lang="es-ES" sz="600" dirty="0" err="1"/>
              <a:t>dieW</a:t>
            </a:r>
            <a:r>
              <a:rPr lang="es-ES" sz="600" dirty="0"/>
              <a:t> / 2, </a:t>
            </a:r>
            <a:r>
              <a:rPr lang="es-ES" sz="600" dirty="0" err="1"/>
              <a:t>dieL</a:t>
            </a:r>
            <a:r>
              <a:rPr lang="es-ES" sz="600" dirty="0"/>
              <a:t> / 2)</a:t>
            </a:r>
          </a:p>
          <a:p>
            <a:br>
              <a:rPr lang="es-ES" sz="600" dirty="0"/>
            </a:br>
            <a:endParaRPr lang="es-ES" sz="600" dirty="0"/>
          </a:p>
          <a:p>
            <a:r>
              <a:rPr lang="es-ES" sz="600" dirty="0"/>
              <a:t>    # --- Extensiones de las guías de onda largas hasta los bordes del chip ---</a:t>
            </a:r>
          </a:p>
          <a:p>
            <a:r>
              <a:rPr lang="es-ES" sz="600" dirty="0"/>
              <a:t>    </a:t>
            </a:r>
            <a:r>
              <a:rPr lang="es-ES" sz="600" dirty="0" err="1"/>
              <a:t>capa_base</a:t>
            </a:r>
            <a:r>
              <a:rPr lang="es-ES" sz="600" dirty="0"/>
              <a:t> = </a:t>
            </a:r>
            <a:r>
              <a:rPr lang="es-ES" sz="600" dirty="0" err="1"/>
              <a:t>gf.components.straight</a:t>
            </a:r>
            <a:r>
              <a:rPr lang="es-ES" sz="600" dirty="0"/>
              <a:t>().</a:t>
            </a:r>
            <a:r>
              <a:rPr lang="es-ES" sz="600" dirty="0" err="1"/>
              <a:t>ports</a:t>
            </a:r>
            <a:r>
              <a:rPr lang="es-ES" sz="600" dirty="0"/>
              <a:t>["o1"].</a:t>
            </a:r>
            <a:r>
              <a:rPr lang="es-ES" sz="600" dirty="0" err="1"/>
              <a:t>layer</a:t>
            </a:r>
            <a:endParaRPr lang="es-ES" sz="600" dirty="0"/>
          </a:p>
          <a:p>
            <a:r>
              <a:rPr lang="es-ES" sz="600" dirty="0"/>
              <a:t>    seccion_300nm = </a:t>
            </a:r>
            <a:r>
              <a:rPr lang="es-ES" sz="600" dirty="0" err="1"/>
              <a:t>gf.cross_section.cross_section</a:t>
            </a:r>
            <a:r>
              <a:rPr lang="es-ES" sz="600" dirty="0"/>
              <a:t>(</a:t>
            </a:r>
            <a:r>
              <a:rPr lang="es-ES" sz="600" dirty="0" err="1"/>
              <a:t>width</a:t>
            </a:r>
            <a:r>
              <a:rPr lang="es-ES" sz="600" dirty="0"/>
              <a:t>=1.2, </a:t>
            </a:r>
            <a:r>
              <a:rPr lang="es-ES" sz="600" dirty="0" err="1"/>
              <a:t>layer</a:t>
            </a:r>
            <a:r>
              <a:rPr lang="es-ES" sz="600" dirty="0"/>
              <a:t>=</a:t>
            </a:r>
            <a:r>
              <a:rPr lang="es-ES" sz="600" dirty="0" err="1"/>
              <a:t>capa_base</a:t>
            </a:r>
            <a:r>
              <a:rPr lang="es-ES" sz="600" dirty="0"/>
              <a:t>)</a:t>
            </a:r>
          </a:p>
          <a:p>
            <a:r>
              <a:rPr lang="es-ES" sz="600" dirty="0"/>
              <a:t>    </a:t>
            </a:r>
          </a:p>
          <a:p>
            <a:r>
              <a:rPr lang="es-ES" sz="600" dirty="0"/>
              <a:t>    # Cálculo dinámico de distancias a los extremos (X=0 y X=5000)</a:t>
            </a:r>
          </a:p>
          <a:p>
            <a:r>
              <a:rPr lang="es-ES" sz="600" dirty="0"/>
              <a:t>    </a:t>
            </a:r>
            <a:r>
              <a:rPr lang="es-ES" sz="600" dirty="0" err="1"/>
              <a:t>longitud_extension_izq</a:t>
            </a:r>
            <a:r>
              <a:rPr lang="es-ES" sz="600" dirty="0"/>
              <a:t> = </a:t>
            </a:r>
            <a:r>
              <a:rPr lang="es-ES" sz="600" dirty="0" err="1"/>
              <a:t>mmi_ref.ports</a:t>
            </a:r>
            <a:r>
              <a:rPr lang="es-ES" sz="600" dirty="0"/>
              <a:t>["</a:t>
            </a:r>
            <a:r>
              <a:rPr lang="es-ES" sz="600" dirty="0" err="1"/>
              <a:t>in_top</a:t>
            </a:r>
            <a:r>
              <a:rPr lang="es-ES" sz="600" dirty="0"/>
              <a:t>"].x</a:t>
            </a:r>
          </a:p>
          <a:p>
            <a:r>
              <a:rPr lang="es-ES" sz="600" dirty="0"/>
              <a:t>    </a:t>
            </a:r>
            <a:r>
              <a:rPr lang="es-ES" sz="600" dirty="0" err="1"/>
              <a:t>longitud_extension_der</a:t>
            </a:r>
            <a:r>
              <a:rPr lang="es-ES" sz="600" dirty="0"/>
              <a:t> = </a:t>
            </a:r>
            <a:r>
              <a:rPr lang="es-ES" sz="600" dirty="0" err="1"/>
              <a:t>dieW</a:t>
            </a:r>
            <a:r>
              <a:rPr lang="es-ES" sz="600" dirty="0"/>
              <a:t> - </a:t>
            </a:r>
            <a:r>
              <a:rPr lang="es-ES" sz="600" dirty="0" err="1"/>
              <a:t>mmi_ref.ports</a:t>
            </a:r>
            <a:r>
              <a:rPr lang="es-ES" sz="600" dirty="0"/>
              <a:t>["</a:t>
            </a:r>
            <a:r>
              <a:rPr lang="es-ES" sz="600" dirty="0" err="1"/>
              <a:t>out_top</a:t>
            </a:r>
            <a:r>
              <a:rPr lang="es-ES" sz="600" dirty="0"/>
              <a:t>"].x</a:t>
            </a:r>
          </a:p>
          <a:p>
            <a:br>
              <a:rPr lang="es-ES" sz="600" dirty="0"/>
            </a:br>
            <a:endParaRPr lang="es-ES" sz="600" dirty="0"/>
          </a:p>
          <a:p>
            <a:r>
              <a:rPr lang="es-ES" sz="600" dirty="0"/>
              <a:t>    </a:t>
            </a:r>
            <a:r>
              <a:rPr lang="es-ES" sz="600" dirty="0" err="1"/>
              <a:t>guia_ext_izq</a:t>
            </a:r>
            <a:r>
              <a:rPr lang="es-ES" sz="600" dirty="0"/>
              <a:t> = </a:t>
            </a:r>
            <a:r>
              <a:rPr lang="es-ES" sz="600" dirty="0" err="1"/>
              <a:t>gf.components.straight</a:t>
            </a:r>
            <a:r>
              <a:rPr lang="es-ES" sz="600" dirty="0"/>
              <a:t>(</a:t>
            </a:r>
            <a:r>
              <a:rPr lang="es-ES" sz="600" dirty="0" err="1"/>
              <a:t>length</a:t>
            </a:r>
            <a:r>
              <a:rPr lang="es-ES" sz="600" dirty="0"/>
              <a:t>=</a:t>
            </a:r>
            <a:r>
              <a:rPr lang="es-ES" sz="600" dirty="0" err="1"/>
              <a:t>longitud_extension_izq</a:t>
            </a:r>
            <a:r>
              <a:rPr lang="es-ES" sz="600" dirty="0"/>
              <a:t>, </a:t>
            </a:r>
            <a:r>
              <a:rPr lang="es-ES" sz="600" dirty="0" err="1"/>
              <a:t>cross_section</a:t>
            </a:r>
            <a:r>
              <a:rPr lang="es-ES" sz="600" dirty="0"/>
              <a:t>=seccion_300nm)</a:t>
            </a:r>
          </a:p>
          <a:p>
            <a:r>
              <a:rPr lang="es-ES" sz="600" dirty="0"/>
              <a:t>    </a:t>
            </a:r>
            <a:r>
              <a:rPr lang="es-ES" sz="600" dirty="0" err="1"/>
              <a:t>guia_ext_der</a:t>
            </a:r>
            <a:r>
              <a:rPr lang="es-ES" sz="600" dirty="0"/>
              <a:t> = </a:t>
            </a:r>
            <a:r>
              <a:rPr lang="es-ES" sz="600" dirty="0" err="1"/>
              <a:t>gf.components.straight</a:t>
            </a:r>
            <a:r>
              <a:rPr lang="es-ES" sz="600" dirty="0"/>
              <a:t>(</a:t>
            </a:r>
            <a:r>
              <a:rPr lang="es-ES" sz="600" dirty="0" err="1"/>
              <a:t>length</a:t>
            </a:r>
            <a:r>
              <a:rPr lang="es-ES" sz="600" dirty="0"/>
              <a:t>=</a:t>
            </a:r>
            <a:r>
              <a:rPr lang="es-ES" sz="600" dirty="0" err="1"/>
              <a:t>longitud_extension_der</a:t>
            </a:r>
            <a:r>
              <a:rPr lang="es-ES" sz="600" dirty="0"/>
              <a:t>, </a:t>
            </a:r>
            <a:r>
              <a:rPr lang="es-ES" sz="600" dirty="0" err="1"/>
              <a:t>cross_section</a:t>
            </a:r>
            <a:r>
              <a:rPr lang="es-ES" sz="600" dirty="0"/>
              <a:t>=seccion_300nm)</a:t>
            </a:r>
          </a:p>
          <a:p>
            <a:br>
              <a:rPr lang="es-ES" sz="600" dirty="0"/>
            </a:br>
            <a:endParaRPr lang="es-ES" sz="600" dirty="0"/>
          </a:p>
          <a:p>
            <a:r>
              <a:rPr lang="es-ES" sz="600" dirty="0"/>
              <a:t>    # Conectamos las extensiones izquierdas (Entradas hacia el borde X=0)</a:t>
            </a:r>
          </a:p>
          <a:p>
            <a:r>
              <a:rPr lang="es-ES" sz="600" dirty="0"/>
              <a:t>    </a:t>
            </a:r>
            <a:r>
              <a:rPr lang="es-ES" sz="600" dirty="0" err="1"/>
              <a:t>ext_in_top</a:t>
            </a:r>
            <a:r>
              <a:rPr lang="es-ES" sz="600" dirty="0"/>
              <a:t> = </a:t>
            </a:r>
            <a:r>
              <a:rPr lang="es-ES" sz="600" dirty="0" err="1"/>
              <a:t>box.add_ref</a:t>
            </a:r>
            <a:r>
              <a:rPr lang="es-ES" sz="600" dirty="0"/>
              <a:t>(</a:t>
            </a:r>
            <a:r>
              <a:rPr lang="es-ES" sz="600" dirty="0" err="1"/>
              <a:t>guia_ext_izq</a:t>
            </a:r>
            <a:r>
              <a:rPr lang="es-ES" sz="600" dirty="0"/>
              <a:t>)</a:t>
            </a:r>
          </a:p>
          <a:p>
            <a:r>
              <a:rPr lang="es-ES" sz="600" dirty="0"/>
              <a:t>    </a:t>
            </a:r>
            <a:r>
              <a:rPr lang="es-ES" sz="600" dirty="0" err="1"/>
              <a:t>ext_in_top.connect</a:t>
            </a:r>
            <a:r>
              <a:rPr lang="es-ES" sz="600" dirty="0"/>
              <a:t>("o2", </a:t>
            </a:r>
            <a:r>
              <a:rPr lang="es-ES" sz="600" dirty="0" err="1"/>
              <a:t>mmi_ref.ports</a:t>
            </a:r>
            <a:r>
              <a:rPr lang="es-ES" sz="600" dirty="0"/>
              <a:t>["</a:t>
            </a:r>
            <a:r>
              <a:rPr lang="es-ES" sz="600" dirty="0" err="1"/>
              <a:t>in_top</a:t>
            </a:r>
            <a:r>
              <a:rPr lang="es-ES" sz="600" dirty="0"/>
              <a:t>"])</a:t>
            </a:r>
          </a:p>
          <a:p>
            <a:br>
              <a:rPr lang="es-ES" sz="600" dirty="0"/>
            </a:br>
            <a:endParaRPr lang="es-ES" sz="600" dirty="0"/>
          </a:p>
          <a:p>
            <a:r>
              <a:rPr lang="es-ES" sz="600" dirty="0"/>
              <a:t>    </a:t>
            </a:r>
            <a:r>
              <a:rPr lang="es-ES" sz="600" dirty="0" err="1"/>
              <a:t>ext_in_bot</a:t>
            </a:r>
            <a:r>
              <a:rPr lang="es-ES" sz="600" dirty="0"/>
              <a:t> = </a:t>
            </a:r>
            <a:r>
              <a:rPr lang="es-ES" sz="600" dirty="0" err="1"/>
              <a:t>box.add_ref</a:t>
            </a:r>
            <a:r>
              <a:rPr lang="es-ES" sz="600" dirty="0"/>
              <a:t>(</a:t>
            </a:r>
            <a:r>
              <a:rPr lang="es-ES" sz="600" dirty="0" err="1"/>
              <a:t>guia_ext_izq</a:t>
            </a:r>
            <a:r>
              <a:rPr lang="es-ES" sz="600" dirty="0"/>
              <a:t>)</a:t>
            </a:r>
          </a:p>
          <a:p>
            <a:r>
              <a:rPr lang="es-ES" sz="600" dirty="0"/>
              <a:t>    </a:t>
            </a:r>
            <a:r>
              <a:rPr lang="es-ES" sz="600" dirty="0" err="1"/>
              <a:t>ext_in_bot.connect</a:t>
            </a:r>
            <a:r>
              <a:rPr lang="es-ES" sz="600" dirty="0"/>
              <a:t>("o2", </a:t>
            </a:r>
            <a:r>
              <a:rPr lang="es-ES" sz="600" dirty="0" err="1"/>
              <a:t>mmi_ref.ports</a:t>
            </a:r>
            <a:r>
              <a:rPr lang="es-ES" sz="600" dirty="0"/>
              <a:t>["</a:t>
            </a:r>
            <a:r>
              <a:rPr lang="es-ES" sz="600" dirty="0" err="1"/>
              <a:t>in_bot</a:t>
            </a:r>
            <a:r>
              <a:rPr lang="es-ES" sz="600" dirty="0"/>
              <a:t>"])</a:t>
            </a:r>
          </a:p>
          <a:p>
            <a:br>
              <a:rPr lang="es-ES" sz="600" dirty="0"/>
            </a:br>
            <a:endParaRPr lang="es-ES" sz="600" dirty="0"/>
          </a:p>
          <a:p>
            <a:r>
              <a:rPr lang="es-ES" sz="600" dirty="0"/>
              <a:t>    # Conectamos las extensiones derechas (Salidas hacia el borde X=5000)</a:t>
            </a:r>
          </a:p>
          <a:p>
            <a:r>
              <a:rPr lang="es-ES" sz="600" dirty="0"/>
              <a:t>    </a:t>
            </a:r>
            <a:r>
              <a:rPr lang="es-ES" sz="600" dirty="0" err="1"/>
              <a:t>ext_out_top</a:t>
            </a:r>
            <a:r>
              <a:rPr lang="es-ES" sz="600" dirty="0"/>
              <a:t> = </a:t>
            </a:r>
            <a:r>
              <a:rPr lang="es-ES" sz="600" dirty="0" err="1"/>
              <a:t>box.add_ref</a:t>
            </a:r>
            <a:r>
              <a:rPr lang="es-ES" sz="600" dirty="0"/>
              <a:t>(</a:t>
            </a:r>
            <a:r>
              <a:rPr lang="es-ES" sz="600" dirty="0" err="1"/>
              <a:t>guia_ext_der</a:t>
            </a:r>
            <a:r>
              <a:rPr lang="es-ES" sz="600" dirty="0"/>
              <a:t>)</a:t>
            </a:r>
          </a:p>
          <a:p>
            <a:r>
              <a:rPr lang="es-ES" sz="600" dirty="0"/>
              <a:t>    </a:t>
            </a:r>
            <a:r>
              <a:rPr lang="es-ES" sz="600" dirty="0" err="1"/>
              <a:t>ext_out_top.connect</a:t>
            </a:r>
            <a:r>
              <a:rPr lang="es-ES" sz="600" dirty="0"/>
              <a:t>("o1", </a:t>
            </a:r>
            <a:r>
              <a:rPr lang="es-ES" sz="600" dirty="0" err="1"/>
              <a:t>mmi_ref.ports</a:t>
            </a:r>
            <a:r>
              <a:rPr lang="es-ES" sz="600" dirty="0"/>
              <a:t>["</a:t>
            </a:r>
            <a:r>
              <a:rPr lang="es-ES" sz="600" dirty="0" err="1"/>
              <a:t>out_top</a:t>
            </a:r>
            <a:r>
              <a:rPr lang="es-ES" sz="600" dirty="0"/>
              <a:t>"])</a:t>
            </a:r>
          </a:p>
          <a:p>
            <a:br>
              <a:rPr lang="es-ES" sz="600" dirty="0"/>
            </a:br>
            <a:endParaRPr lang="es-ES" sz="600" dirty="0"/>
          </a:p>
          <a:p>
            <a:r>
              <a:rPr lang="es-ES" sz="600" dirty="0"/>
              <a:t>    </a:t>
            </a:r>
            <a:r>
              <a:rPr lang="es-ES" sz="600" dirty="0" err="1"/>
              <a:t>ext_out_bot</a:t>
            </a:r>
            <a:r>
              <a:rPr lang="es-ES" sz="600" dirty="0"/>
              <a:t> = </a:t>
            </a:r>
            <a:r>
              <a:rPr lang="es-ES" sz="600" dirty="0" err="1"/>
              <a:t>box.add_ref</a:t>
            </a:r>
            <a:r>
              <a:rPr lang="es-ES" sz="600" dirty="0"/>
              <a:t>(</a:t>
            </a:r>
            <a:r>
              <a:rPr lang="es-ES" sz="600" dirty="0" err="1"/>
              <a:t>guia_ext_der</a:t>
            </a:r>
            <a:r>
              <a:rPr lang="es-ES" sz="600" dirty="0"/>
              <a:t>)</a:t>
            </a:r>
          </a:p>
          <a:p>
            <a:r>
              <a:rPr lang="es-ES" sz="600" dirty="0"/>
              <a:t>    </a:t>
            </a:r>
            <a:r>
              <a:rPr lang="es-ES" sz="600" dirty="0" err="1"/>
              <a:t>ext_out_bot.connect</a:t>
            </a:r>
            <a:r>
              <a:rPr lang="es-ES" sz="600" dirty="0"/>
              <a:t>("o1", </a:t>
            </a:r>
            <a:r>
              <a:rPr lang="es-ES" sz="600" dirty="0" err="1"/>
              <a:t>mmi_ref.ports</a:t>
            </a:r>
            <a:r>
              <a:rPr lang="es-ES" sz="600" dirty="0"/>
              <a:t>["</a:t>
            </a:r>
            <a:r>
              <a:rPr lang="es-ES" sz="600" dirty="0" err="1"/>
              <a:t>out_bot</a:t>
            </a:r>
            <a:r>
              <a:rPr lang="es-ES" sz="600" dirty="0"/>
              <a:t>"])</a:t>
            </a:r>
          </a:p>
          <a:p>
            <a:br>
              <a:rPr lang="es-ES" sz="600" dirty="0"/>
            </a:br>
            <a:endParaRPr lang="es-ES" sz="600" dirty="0"/>
          </a:p>
          <a:p>
            <a:r>
              <a:rPr lang="es-ES" sz="600" dirty="0"/>
              <a:t>    # Puertos expuestos finales de la celda del Die</a:t>
            </a:r>
          </a:p>
          <a:p>
            <a:r>
              <a:rPr lang="es-ES" sz="600" dirty="0"/>
              <a:t>    </a:t>
            </a:r>
            <a:r>
              <a:rPr lang="es-ES" sz="600" dirty="0" err="1"/>
              <a:t>box.add_port</a:t>
            </a:r>
            <a:r>
              <a:rPr lang="es-ES" sz="600" dirty="0"/>
              <a:t>("</a:t>
            </a:r>
            <a:r>
              <a:rPr lang="es-ES" sz="600" dirty="0" err="1"/>
              <a:t>in_top</a:t>
            </a:r>
            <a:r>
              <a:rPr lang="es-ES" sz="600" dirty="0"/>
              <a:t>", </a:t>
            </a:r>
            <a:r>
              <a:rPr lang="es-ES" sz="600" dirty="0" err="1"/>
              <a:t>port</a:t>
            </a:r>
            <a:r>
              <a:rPr lang="es-ES" sz="600" dirty="0"/>
              <a:t>=</a:t>
            </a:r>
            <a:r>
              <a:rPr lang="es-ES" sz="600" dirty="0" err="1"/>
              <a:t>ext_in_top.ports</a:t>
            </a:r>
            <a:r>
              <a:rPr lang="es-ES" sz="600" dirty="0"/>
              <a:t>["o1"])</a:t>
            </a:r>
          </a:p>
          <a:p>
            <a:r>
              <a:rPr lang="es-ES" sz="600" dirty="0"/>
              <a:t>    </a:t>
            </a:r>
            <a:r>
              <a:rPr lang="es-ES" sz="600" dirty="0" err="1"/>
              <a:t>box.add_port</a:t>
            </a:r>
            <a:r>
              <a:rPr lang="es-ES" sz="600" dirty="0"/>
              <a:t>("</a:t>
            </a:r>
            <a:r>
              <a:rPr lang="es-ES" sz="600" dirty="0" err="1"/>
              <a:t>in_bot</a:t>
            </a:r>
            <a:r>
              <a:rPr lang="es-ES" sz="600" dirty="0"/>
              <a:t>", </a:t>
            </a:r>
            <a:r>
              <a:rPr lang="es-ES" sz="600" dirty="0" err="1"/>
              <a:t>port</a:t>
            </a:r>
            <a:r>
              <a:rPr lang="es-ES" sz="600" dirty="0"/>
              <a:t>=</a:t>
            </a:r>
            <a:r>
              <a:rPr lang="es-ES" sz="600" dirty="0" err="1"/>
              <a:t>ext_in_bot.ports</a:t>
            </a:r>
            <a:r>
              <a:rPr lang="es-ES" sz="600" dirty="0"/>
              <a:t>["o1"])</a:t>
            </a:r>
          </a:p>
          <a:p>
            <a:r>
              <a:rPr lang="es-ES" sz="600" dirty="0"/>
              <a:t>    </a:t>
            </a:r>
            <a:r>
              <a:rPr lang="es-ES" sz="600" dirty="0" err="1"/>
              <a:t>box.add_port</a:t>
            </a:r>
            <a:r>
              <a:rPr lang="es-ES" sz="600" dirty="0"/>
              <a:t>("</a:t>
            </a:r>
            <a:r>
              <a:rPr lang="es-ES" sz="600" dirty="0" err="1"/>
              <a:t>out_top</a:t>
            </a:r>
            <a:r>
              <a:rPr lang="es-ES" sz="600" dirty="0"/>
              <a:t>", </a:t>
            </a:r>
            <a:r>
              <a:rPr lang="es-ES" sz="600" dirty="0" err="1"/>
              <a:t>port</a:t>
            </a:r>
            <a:r>
              <a:rPr lang="es-ES" sz="600" dirty="0"/>
              <a:t>=</a:t>
            </a:r>
            <a:r>
              <a:rPr lang="es-ES" sz="600" dirty="0" err="1"/>
              <a:t>ext_out_top.ports</a:t>
            </a:r>
            <a:r>
              <a:rPr lang="es-ES" sz="600" dirty="0"/>
              <a:t>["o2"])</a:t>
            </a:r>
          </a:p>
          <a:p>
            <a:r>
              <a:rPr lang="es-ES" sz="600" dirty="0"/>
              <a:t>    </a:t>
            </a:r>
            <a:r>
              <a:rPr lang="es-ES" sz="600" dirty="0" err="1"/>
              <a:t>box.add_port</a:t>
            </a:r>
            <a:r>
              <a:rPr lang="es-ES" sz="600" dirty="0"/>
              <a:t>("</a:t>
            </a:r>
            <a:r>
              <a:rPr lang="es-ES" sz="600" dirty="0" err="1"/>
              <a:t>out_bot</a:t>
            </a:r>
            <a:r>
              <a:rPr lang="es-ES" sz="600" dirty="0"/>
              <a:t>", </a:t>
            </a:r>
            <a:r>
              <a:rPr lang="es-ES" sz="600" dirty="0" err="1"/>
              <a:t>port</a:t>
            </a:r>
            <a:r>
              <a:rPr lang="es-ES" sz="600" dirty="0"/>
              <a:t>=</a:t>
            </a:r>
            <a:r>
              <a:rPr lang="es-ES" sz="600" dirty="0" err="1"/>
              <a:t>ext_out_bot.ports</a:t>
            </a:r>
            <a:r>
              <a:rPr lang="es-ES" sz="600" dirty="0"/>
              <a:t>["o2"])</a:t>
            </a:r>
          </a:p>
          <a:p>
            <a:r>
              <a:rPr lang="es-ES" sz="600" dirty="0"/>
              <a:t>    </a:t>
            </a:r>
          </a:p>
          <a:p>
            <a:r>
              <a:rPr lang="es-ES" sz="600" dirty="0"/>
              <a:t>    </a:t>
            </a:r>
            <a:r>
              <a:rPr lang="es-ES" sz="600" dirty="0" err="1"/>
              <a:t>return</a:t>
            </a:r>
            <a:r>
              <a:rPr lang="es-ES" sz="600" dirty="0"/>
              <a:t> box</a:t>
            </a:r>
          </a:p>
          <a:p>
            <a:br>
              <a:rPr lang="es-ES" sz="600" dirty="0"/>
            </a:br>
            <a:br>
              <a:rPr lang="es-ES" sz="600" dirty="0"/>
            </a:br>
            <a:endParaRPr lang="es-ES" sz="600" dirty="0"/>
          </a:p>
          <a:p>
            <a:r>
              <a:rPr lang="es-ES" sz="600" dirty="0"/>
              <a:t># =======================================================================</a:t>
            </a:r>
          </a:p>
          <a:p>
            <a:r>
              <a:rPr lang="es-ES" sz="600" dirty="0"/>
              <a:t># 3. COMPONENTE SUPERIOR (Lienzo final / Wafer de la práctica)</a:t>
            </a:r>
          </a:p>
          <a:p>
            <a:r>
              <a:rPr lang="es-ES" sz="600" dirty="0"/>
              <a:t># =======================================================================</a:t>
            </a:r>
          </a:p>
          <a:p>
            <a:r>
              <a:rPr lang="es-ES" sz="600" dirty="0" err="1"/>
              <a:t>wafer_layout</a:t>
            </a:r>
            <a:r>
              <a:rPr lang="es-ES" sz="600" dirty="0"/>
              <a:t> = </a:t>
            </a:r>
            <a:r>
              <a:rPr lang="es-ES" sz="600" dirty="0" err="1"/>
              <a:t>gf.Component</a:t>
            </a:r>
            <a:r>
              <a:rPr lang="es-ES" sz="600" dirty="0"/>
              <a:t>("</a:t>
            </a:r>
            <a:r>
              <a:rPr lang="es-ES" sz="600" dirty="0" err="1"/>
              <a:t>Layout_Final_MMI</a:t>
            </a:r>
            <a:r>
              <a:rPr lang="es-ES" sz="600" dirty="0"/>
              <a:t>")</a:t>
            </a:r>
          </a:p>
          <a:p>
            <a:br>
              <a:rPr lang="es-ES" sz="600" dirty="0"/>
            </a:br>
            <a:endParaRPr lang="es-ES" sz="600" dirty="0"/>
          </a:p>
          <a:p>
            <a:r>
              <a:rPr lang="es-ES" sz="600" dirty="0"/>
              <a:t># Instanciamos la celda intermedia dentro del componente superior</a:t>
            </a:r>
          </a:p>
          <a:p>
            <a:r>
              <a:rPr lang="es-ES" sz="600" dirty="0" err="1"/>
              <a:t>wafer_layout.add_ref</a:t>
            </a:r>
            <a:r>
              <a:rPr lang="es-ES" sz="600" dirty="0"/>
              <a:t>(</a:t>
            </a:r>
            <a:r>
              <a:rPr lang="es-ES" sz="600" dirty="0" err="1"/>
              <a:t>die_mmi</a:t>
            </a:r>
            <a:r>
              <a:rPr lang="es-ES" sz="600" dirty="0"/>
              <a:t>())</a:t>
            </a:r>
          </a:p>
          <a:p>
            <a:br>
              <a:rPr lang="es-ES" sz="600" dirty="0"/>
            </a:br>
            <a:endParaRPr lang="es-ES" sz="600" dirty="0"/>
          </a:p>
          <a:p>
            <a:r>
              <a:rPr lang="es-ES" sz="600" dirty="0"/>
              <a:t># Visualización del chip completo</a:t>
            </a:r>
          </a:p>
          <a:p>
            <a:r>
              <a:rPr lang="es-ES" sz="600" dirty="0" err="1"/>
              <a:t>wafer_layout.show</a:t>
            </a:r>
            <a:r>
              <a:rPr lang="es-ES" sz="600" dirty="0"/>
              <a:t>()</a:t>
            </a:r>
          </a:p>
          <a:p>
            <a:r>
              <a:rPr lang="es-ES" sz="600" dirty="0" err="1"/>
              <a:t>wafer_layout.plot</a:t>
            </a:r>
            <a:r>
              <a:rPr lang="es-ES" sz="600" dirty="0"/>
              <a:t>()</a:t>
            </a:r>
          </a:p>
          <a:p>
            <a:pPr algn="ctr"/>
            <a:endParaRPr lang="en-US" sz="600" dirty="0"/>
          </a:p>
        </p:txBody>
      </p:sp>
      <p:sp>
        <p:nvSpPr>
          <p:cNvPr id="8" name="Rectángulo 7">
            <a:extLst>
              <a:ext uri="{FF2B5EF4-FFF2-40B4-BE49-F238E27FC236}">
                <a16:creationId xmlns:a16="http://schemas.microsoft.com/office/drawing/2014/main" id="{904FF425-0342-DFF9-6776-32BEF1D34BB2}"/>
              </a:ext>
            </a:extLst>
          </p:cNvPr>
          <p:cNvSpPr/>
          <p:nvPr/>
        </p:nvSpPr>
        <p:spPr>
          <a:xfrm>
            <a:off x="6476841" y="1420406"/>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64741369-FFB2-0089-EB66-6792CB5FD812}"/>
              </a:ext>
            </a:extLst>
          </p:cNvPr>
          <p:cNvSpPr txBox="1"/>
          <p:nvPr/>
        </p:nvSpPr>
        <p:spPr>
          <a:xfrm>
            <a:off x="7644330" y="2496339"/>
            <a:ext cx="2997616" cy="369332"/>
          </a:xfrm>
          <a:prstGeom prst="rect">
            <a:avLst/>
          </a:prstGeom>
          <a:noFill/>
        </p:spPr>
        <p:txBody>
          <a:bodyPr wrap="none" rtlCol="0">
            <a:spAutoFit/>
          </a:bodyPr>
          <a:lstStyle/>
          <a:p>
            <a:pPr algn="ctr"/>
            <a:r>
              <a:rPr lang="es-ES" dirty="0" err="1"/>
              <a:t>Component</a:t>
            </a:r>
            <a:r>
              <a:rPr lang="es-ES" dirty="0"/>
              <a:t> as </a:t>
            </a:r>
            <a:r>
              <a:rPr lang="es-ES" dirty="0" err="1"/>
              <a:t>cell</a:t>
            </a:r>
            <a:r>
              <a:rPr lang="es-ES" dirty="0"/>
              <a:t> </a:t>
            </a:r>
            <a:r>
              <a:rPr lang="es-ES" dirty="0" err="1"/>
              <a:t>screenshot</a:t>
            </a:r>
            <a:endParaRPr lang="en-US" dirty="0"/>
          </a:p>
        </p:txBody>
      </p:sp>
      <p:pic>
        <p:nvPicPr>
          <p:cNvPr id="5" name="Picture 4">
            <a:extLst>
              <a:ext uri="{FF2B5EF4-FFF2-40B4-BE49-F238E27FC236}">
                <a16:creationId xmlns:a16="http://schemas.microsoft.com/office/drawing/2014/main" id="{3CE3618B-5D96-F255-E0E1-4D98A9263D44}"/>
              </a:ext>
            </a:extLst>
          </p:cNvPr>
          <p:cNvPicPr>
            <a:picLocks noChangeAspect="1"/>
          </p:cNvPicPr>
          <p:nvPr/>
        </p:nvPicPr>
        <p:blipFill>
          <a:blip r:embed="rId4"/>
          <a:stretch>
            <a:fillRect/>
          </a:stretch>
        </p:blipFill>
        <p:spPr>
          <a:xfrm>
            <a:off x="6623335" y="1693866"/>
            <a:ext cx="4959224" cy="3743728"/>
          </a:xfrm>
          <a:prstGeom prst="rect">
            <a:avLst/>
          </a:prstGeom>
        </p:spPr>
      </p:pic>
    </p:spTree>
    <p:extLst>
      <p:ext uri="{BB962C8B-B14F-4D97-AF65-F5344CB8AC3E}">
        <p14:creationId xmlns:p14="http://schemas.microsoft.com/office/powerpoint/2010/main" val="29350922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AEED5-663C-8338-87A9-7CBCBEDCFD8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8C5B671-B18E-6861-E355-EC6D6FEA88D5}"/>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gn="ctr">
              <a:lnSpc>
                <a:spcPct val="100000"/>
              </a:lnSpc>
              <a:spcBef>
                <a:spcPts val="100"/>
              </a:spcBef>
            </a:pPr>
            <a:r>
              <a:rPr lang="en-US" dirty="0"/>
              <a:t>Learning outcome #2a – Notebook section 2. Layout Fundamentals – </a:t>
            </a:r>
            <a:r>
              <a:rPr lang="en-US" dirty="0">
                <a:solidFill>
                  <a:srgbClr val="FF0000"/>
                </a:solidFill>
              </a:rPr>
              <a:t>1 slide per component</a:t>
            </a:r>
            <a:br>
              <a:rPr lang="en-US" sz="2500" dirty="0"/>
            </a:br>
            <a:r>
              <a:rPr lang="en-US" sz="2500" dirty="0"/>
              <a:t>MZI </a:t>
            </a:r>
            <a:r>
              <a:rPr lang="en-US" sz="2500" dirty="0" err="1"/>
              <a:t>desequilibrado</a:t>
            </a:r>
            <a:r>
              <a:rPr lang="en-US" sz="2500" dirty="0"/>
              <a:t> con </a:t>
            </a:r>
            <a:r>
              <a:rPr lang="en-US" sz="2500" dirty="0" err="1"/>
              <a:t>bandas</a:t>
            </a:r>
            <a:r>
              <a:rPr lang="en-US" sz="2500" dirty="0"/>
              <a:t> </a:t>
            </a:r>
            <a:r>
              <a:rPr lang="en-US" sz="2500" dirty="0" err="1"/>
              <a:t>térmicas</a:t>
            </a:r>
            <a:r>
              <a:rPr lang="en-US" sz="2500" dirty="0"/>
              <a:t> </a:t>
            </a:r>
            <a:endParaRPr sz="2500" b="0" i="1" dirty="0">
              <a:solidFill>
                <a:srgbClr val="FF0000"/>
              </a:solidFill>
              <a:latin typeface="+mj-lt"/>
              <a:cs typeface="Lucida Sans"/>
            </a:endParaRPr>
          </a:p>
        </p:txBody>
      </p:sp>
      <p:pic>
        <p:nvPicPr>
          <p:cNvPr id="83" name="Gráfico 82">
            <a:extLst>
              <a:ext uri="{FF2B5EF4-FFF2-40B4-BE49-F238E27FC236}">
                <a16:creationId xmlns:a16="http://schemas.microsoft.com/office/drawing/2014/main" id="{FF935431-35DC-D217-B51D-B9025BC7B4B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E05C5DE2-2AE3-937B-B1E7-89FEE8C0EC05}"/>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FC94BB6D-4BFC-0AA6-0661-ADBF3E8CD98F}"/>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6" name="Rectángulo 5">
            <a:extLst>
              <a:ext uri="{FF2B5EF4-FFF2-40B4-BE49-F238E27FC236}">
                <a16:creationId xmlns:a16="http://schemas.microsoft.com/office/drawing/2014/main" id="{1E892221-2CBB-C984-8475-77C97E65E5FB}"/>
              </a:ext>
            </a:extLst>
          </p:cNvPr>
          <p:cNvSpPr/>
          <p:nvPr/>
        </p:nvSpPr>
        <p:spPr>
          <a:xfrm>
            <a:off x="609441" y="1418373"/>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86F86DE6-6208-2ADF-FABC-515EF4CE2978}"/>
              </a:ext>
            </a:extLst>
          </p:cNvPr>
          <p:cNvSpPr txBox="1"/>
          <p:nvPr/>
        </p:nvSpPr>
        <p:spPr>
          <a:xfrm>
            <a:off x="609441" y="1447800"/>
            <a:ext cx="6854825" cy="21328916"/>
          </a:xfrm>
          <a:prstGeom prst="rect">
            <a:avLst/>
          </a:prstGeom>
          <a:noFill/>
        </p:spPr>
        <p:txBody>
          <a:bodyPr wrap="none" rtlCol="0">
            <a:spAutoFit/>
          </a:bodyPr>
          <a:lstStyle/>
          <a:p>
            <a:r>
              <a:rPr lang="es-ES" sz="600" dirty="0" err="1"/>
              <a:t>gf.clear_cache</a:t>
            </a:r>
            <a:r>
              <a:rPr lang="es-ES" sz="600" dirty="0"/>
              <a:t>()</a:t>
            </a:r>
          </a:p>
          <a:p>
            <a:br>
              <a:rPr lang="es-ES" sz="600" dirty="0"/>
            </a:br>
            <a:endParaRPr lang="es-ES" sz="600" dirty="0"/>
          </a:p>
          <a:p>
            <a:r>
              <a:rPr lang="es-ES" sz="600" dirty="0"/>
              <a:t># =======================================================================</a:t>
            </a:r>
          </a:p>
          <a:p>
            <a:r>
              <a:rPr lang="es-ES" sz="600" dirty="0"/>
              <a:t># 1. COMPONENTES ESPECÍFICOS (Nivel inferior de la jerarquía)</a:t>
            </a:r>
          </a:p>
          <a:p>
            <a:r>
              <a:rPr lang="es-ES" sz="600" dirty="0"/>
              <a:t># =======================================================================</a:t>
            </a:r>
          </a:p>
          <a:p>
            <a:r>
              <a:rPr lang="es-ES" sz="600" dirty="0"/>
              <a:t>@gf.cell</a:t>
            </a:r>
          </a:p>
          <a:p>
            <a:r>
              <a:rPr lang="es-ES" sz="600" dirty="0" err="1"/>
              <a:t>def</a:t>
            </a:r>
            <a:r>
              <a:rPr lang="es-ES" sz="600" dirty="0"/>
              <a:t> mmi_2x2_base() -&gt; </a:t>
            </a:r>
            <a:r>
              <a:rPr lang="es-ES" sz="600" dirty="0" err="1"/>
              <a:t>gf.Component</a:t>
            </a:r>
            <a:r>
              <a:rPr lang="es-ES" sz="600" dirty="0"/>
              <a:t>:</a:t>
            </a:r>
          </a:p>
          <a:p>
            <a:r>
              <a:rPr lang="es-ES" sz="600" dirty="0"/>
              <a:t>    """</a:t>
            </a:r>
            <a:r>
              <a:rPr lang="es-ES" sz="600" dirty="0" err="1"/>
              <a:t>Sub-bloque</a:t>
            </a:r>
            <a:r>
              <a:rPr lang="es-ES" sz="600" dirty="0"/>
              <a:t> específico: MMI 2x2 limpio utilizado como </a:t>
            </a:r>
            <a:r>
              <a:rPr lang="es-ES" sz="600" dirty="0" err="1"/>
              <a:t>splitter</a:t>
            </a:r>
            <a:r>
              <a:rPr lang="es-ES" sz="600" dirty="0"/>
              <a:t>/</a:t>
            </a:r>
            <a:r>
              <a:rPr lang="es-ES" sz="600" dirty="0" err="1"/>
              <a:t>combiner</a:t>
            </a:r>
            <a:r>
              <a:rPr lang="es-ES" sz="600" dirty="0"/>
              <a:t>."""</a:t>
            </a:r>
          </a:p>
          <a:p>
            <a:r>
              <a:rPr lang="es-ES" sz="600" dirty="0"/>
              <a:t>    </a:t>
            </a:r>
            <a:r>
              <a:rPr lang="es-ES" sz="600" dirty="0" err="1"/>
              <a:t>mmi</a:t>
            </a:r>
            <a:r>
              <a:rPr lang="es-ES" sz="600" dirty="0"/>
              <a:t> = </a:t>
            </a:r>
            <a:r>
              <a:rPr lang="es-ES" sz="600" dirty="0" err="1"/>
              <a:t>gf.Component</a:t>
            </a:r>
            <a:r>
              <a:rPr lang="es-ES" sz="600" dirty="0"/>
              <a:t>("MMI_2x2_Base")</a:t>
            </a:r>
          </a:p>
          <a:p>
            <a:r>
              <a:rPr lang="es-ES" sz="600" dirty="0"/>
              <a:t>    capa = </a:t>
            </a:r>
            <a:r>
              <a:rPr lang="es-ES" sz="600" dirty="0" err="1"/>
              <a:t>gf.components.straight</a:t>
            </a:r>
            <a:r>
              <a:rPr lang="es-ES" sz="600" dirty="0"/>
              <a:t>().</a:t>
            </a:r>
            <a:r>
              <a:rPr lang="es-ES" sz="600" dirty="0" err="1"/>
              <a:t>ports</a:t>
            </a:r>
            <a:r>
              <a:rPr lang="es-ES" sz="600" dirty="0"/>
              <a:t>["o1"].</a:t>
            </a:r>
            <a:r>
              <a:rPr lang="es-ES" sz="600" dirty="0" err="1"/>
              <a:t>layer</a:t>
            </a:r>
            <a:endParaRPr lang="es-ES" sz="600" dirty="0"/>
          </a:p>
          <a:p>
            <a:r>
              <a:rPr lang="es-ES" sz="600" dirty="0"/>
              <a:t>    </a:t>
            </a:r>
            <a:r>
              <a:rPr lang="es-ES" sz="600" dirty="0" err="1"/>
              <a:t>sec_acceso</a:t>
            </a:r>
            <a:r>
              <a:rPr lang="es-ES" sz="600" dirty="0"/>
              <a:t> = </a:t>
            </a:r>
            <a:r>
              <a:rPr lang="es-ES" sz="600" dirty="0" err="1"/>
              <a:t>gf.cross_section.cross_section</a:t>
            </a:r>
            <a:r>
              <a:rPr lang="es-ES" sz="600" dirty="0"/>
              <a:t>(</a:t>
            </a:r>
            <a:r>
              <a:rPr lang="es-ES" sz="600" dirty="0" err="1"/>
              <a:t>width</a:t>
            </a:r>
            <a:r>
              <a:rPr lang="es-ES" sz="600" dirty="0"/>
              <a:t>=1.2, </a:t>
            </a:r>
            <a:r>
              <a:rPr lang="es-ES" sz="600" dirty="0" err="1"/>
              <a:t>layer</a:t>
            </a:r>
            <a:r>
              <a:rPr lang="es-ES" sz="600" dirty="0"/>
              <a:t>=capa)</a:t>
            </a:r>
          </a:p>
          <a:p>
            <a:r>
              <a:rPr lang="es-ES" sz="600" dirty="0"/>
              <a:t>    </a:t>
            </a:r>
            <a:r>
              <a:rPr lang="es-ES" sz="600" dirty="0" err="1"/>
              <a:t>sec_body</a:t>
            </a:r>
            <a:r>
              <a:rPr lang="es-ES" sz="600" dirty="0"/>
              <a:t> = </a:t>
            </a:r>
            <a:r>
              <a:rPr lang="es-ES" sz="600" dirty="0" err="1"/>
              <a:t>gf.cross_section.cross_section</a:t>
            </a:r>
            <a:r>
              <a:rPr lang="es-ES" sz="600" dirty="0"/>
              <a:t>(</a:t>
            </a:r>
            <a:r>
              <a:rPr lang="es-ES" sz="600" dirty="0" err="1"/>
              <a:t>width</a:t>
            </a:r>
            <a:r>
              <a:rPr lang="es-ES" sz="600" dirty="0"/>
              <a:t>=6.6, </a:t>
            </a:r>
            <a:r>
              <a:rPr lang="es-ES" sz="600" dirty="0" err="1"/>
              <a:t>layer</a:t>
            </a:r>
            <a:r>
              <a:rPr lang="es-ES" sz="600" dirty="0"/>
              <a:t>=capa)</a:t>
            </a:r>
          </a:p>
          <a:p>
            <a:r>
              <a:rPr lang="es-ES" sz="600" dirty="0"/>
              <a:t>    </a:t>
            </a:r>
          </a:p>
          <a:p>
            <a:r>
              <a:rPr lang="es-ES" sz="600" dirty="0"/>
              <a:t>    </a:t>
            </a:r>
            <a:r>
              <a:rPr lang="es-ES" sz="600" dirty="0" err="1"/>
              <a:t>longitud_mmi</a:t>
            </a:r>
            <a:r>
              <a:rPr lang="es-ES" sz="600" dirty="0"/>
              <a:t> = 69.03598607255596 / 2 </a:t>
            </a:r>
          </a:p>
          <a:p>
            <a:r>
              <a:rPr lang="es-ES" sz="600" dirty="0"/>
              <a:t>    </a:t>
            </a:r>
            <a:r>
              <a:rPr lang="es-ES" sz="600" dirty="0" err="1"/>
              <a:t>body</a:t>
            </a:r>
            <a:r>
              <a:rPr lang="es-ES" sz="600" dirty="0"/>
              <a:t> = </a:t>
            </a:r>
            <a:r>
              <a:rPr lang="es-ES" sz="600" dirty="0" err="1"/>
              <a:t>mmi.add_ref</a:t>
            </a:r>
            <a:r>
              <a:rPr lang="es-ES" sz="600" dirty="0"/>
              <a:t>(</a:t>
            </a:r>
            <a:r>
              <a:rPr lang="es-ES" sz="600" dirty="0" err="1"/>
              <a:t>gf.components.straight</a:t>
            </a:r>
            <a:r>
              <a:rPr lang="es-ES" sz="600" dirty="0"/>
              <a:t>(</a:t>
            </a:r>
            <a:r>
              <a:rPr lang="es-ES" sz="600" dirty="0" err="1"/>
              <a:t>length</a:t>
            </a:r>
            <a:r>
              <a:rPr lang="es-ES" sz="600" dirty="0"/>
              <a:t>=</a:t>
            </a:r>
            <a:r>
              <a:rPr lang="es-ES" sz="600" dirty="0" err="1"/>
              <a:t>longitud_mmi</a:t>
            </a:r>
            <a:r>
              <a:rPr lang="es-ES" sz="600" dirty="0"/>
              <a:t>, </a:t>
            </a:r>
            <a:r>
              <a:rPr lang="es-ES" sz="600" dirty="0" err="1"/>
              <a:t>cross_section</a:t>
            </a:r>
            <a:r>
              <a:rPr lang="es-ES" sz="600" dirty="0"/>
              <a:t>=</a:t>
            </a:r>
            <a:r>
              <a:rPr lang="es-ES" sz="600" dirty="0" err="1"/>
              <a:t>sec_body</a:t>
            </a:r>
            <a:r>
              <a:rPr lang="es-ES" sz="600" dirty="0"/>
              <a:t>))</a:t>
            </a:r>
          </a:p>
          <a:p>
            <a:r>
              <a:rPr lang="es-ES" sz="600" dirty="0"/>
              <a:t>    </a:t>
            </a:r>
          </a:p>
          <a:p>
            <a:r>
              <a:rPr lang="es-ES" sz="600" dirty="0"/>
              <a:t>    </a:t>
            </a:r>
            <a:r>
              <a:rPr lang="es-ES" sz="600" dirty="0" err="1"/>
              <a:t>pos_y</a:t>
            </a:r>
            <a:r>
              <a:rPr lang="es-ES" sz="600" dirty="0"/>
              <a:t> = 6.6 / 6.0  </a:t>
            </a:r>
          </a:p>
          <a:p>
            <a:r>
              <a:rPr lang="es-ES" sz="600" dirty="0"/>
              <a:t>    </a:t>
            </a:r>
            <a:r>
              <a:rPr lang="es-ES" sz="600" dirty="0" err="1"/>
              <a:t>l_acc</a:t>
            </a:r>
            <a:r>
              <a:rPr lang="es-ES" sz="600" dirty="0"/>
              <a:t> = 5.0</a:t>
            </a:r>
          </a:p>
          <a:p>
            <a:r>
              <a:rPr lang="es-ES" sz="600" dirty="0"/>
              <a:t>    </a:t>
            </a:r>
            <a:r>
              <a:rPr lang="es-ES" sz="600" dirty="0" err="1"/>
              <a:t>guia_r</a:t>
            </a:r>
            <a:r>
              <a:rPr lang="es-ES" sz="600" dirty="0"/>
              <a:t> = </a:t>
            </a:r>
            <a:r>
              <a:rPr lang="es-ES" sz="600" dirty="0" err="1"/>
              <a:t>gf.components.straight</a:t>
            </a:r>
            <a:r>
              <a:rPr lang="es-ES" sz="600" dirty="0"/>
              <a:t>(</a:t>
            </a:r>
            <a:r>
              <a:rPr lang="es-ES" sz="600" dirty="0" err="1"/>
              <a:t>length</a:t>
            </a:r>
            <a:r>
              <a:rPr lang="es-ES" sz="600" dirty="0"/>
              <a:t>=</a:t>
            </a:r>
            <a:r>
              <a:rPr lang="es-ES" sz="600" dirty="0" err="1"/>
              <a:t>l_acc</a:t>
            </a:r>
            <a:r>
              <a:rPr lang="es-ES" sz="600" dirty="0"/>
              <a:t>, </a:t>
            </a:r>
            <a:r>
              <a:rPr lang="es-ES" sz="600" dirty="0" err="1"/>
              <a:t>cross_section</a:t>
            </a:r>
            <a:r>
              <a:rPr lang="es-ES" sz="600" dirty="0"/>
              <a:t>=</a:t>
            </a:r>
            <a:r>
              <a:rPr lang="es-ES" sz="600" dirty="0" err="1"/>
              <a:t>sec_acceso</a:t>
            </a:r>
            <a:r>
              <a:rPr lang="es-ES" sz="600" dirty="0"/>
              <a:t>)</a:t>
            </a:r>
          </a:p>
          <a:p>
            <a:r>
              <a:rPr lang="es-ES" sz="600" dirty="0"/>
              <a:t>    </a:t>
            </a:r>
          </a:p>
          <a:p>
            <a:r>
              <a:rPr lang="es-ES" sz="600" dirty="0"/>
              <a:t>    </a:t>
            </a:r>
            <a:r>
              <a:rPr lang="es-ES" sz="600" dirty="0" err="1"/>
              <a:t>it</a:t>
            </a:r>
            <a:r>
              <a:rPr lang="es-ES" sz="600" dirty="0"/>
              <a:t> = </a:t>
            </a:r>
            <a:r>
              <a:rPr lang="es-ES" sz="600" dirty="0" err="1"/>
              <a:t>mmi.add_ref</a:t>
            </a:r>
            <a:r>
              <a:rPr lang="es-ES" sz="600" dirty="0"/>
              <a:t>(</a:t>
            </a:r>
            <a:r>
              <a:rPr lang="es-ES" sz="600" dirty="0" err="1"/>
              <a:t>guia_r</a:t>
            </a:r>
            <a:r>
              <a:rPr lang="es-ES" sz="600" dirty="0"/>
              <a:t>).</a:t>
            </a:r>
            <a:r>
              <a:rPr lang="es-ES" sz="600" dirty="0" err="1"/>
              <a:t>movex</a:t>
            </a:r>
            <a:r>
              <a:rPr lang="es-ES" sz="600" dirty="0"/>
              <a:t>(-</a:t>
            </a:r>
            <a:r>
              <a:rPr lang="es-ES" sz="600" dirty="0" err="1"/>
              <a:t>l_acc</a:t>
            </a:r>
            <a:r>
              <a:rPr lang="es-ES" sz="600" dirty="0"/>
              <a:t>).</a:t>
            </a:r>
            <a:r>
              <a:rPr lang="es-ES" sz="600" dirty="0" err="1"/>
              <a:t>movey</a:t>
            </a:r>
            <a:r>
              <a:rPr lang="es-ES" sz="600" dirty="0"/>
              <a:t>(</a:t>
            </a:r>
            <a:r>
              <a:rPr lang="es-ES" sz="600" dirty="0" err="1"/>
              <a:t>pos_y</a:t>
            </a:r>
            <a:r>
              <a:rPr lang="es-ES" sz="600" dirty="0"/>
              <a:t>)</a:t>
            </a:r>
          </a:p>
          <a:p>
            <a:r>
              <a:rPr lang="es-ES" sz="600" dirty="0"/>
              <a:t>    </a:t>
            </a:r>
            <a:r>
              <a:rPr lang="es-ES" sz="600" dirty="0" err="1"/>
              <a:t>ib</a:t>
            </a:r>
            <a:r>
              <a:rPr lang="es-ES" sz="600" dirty="0"/>
              <a:t> = </a:t>
            </a:r>
            <a:r>
              <a:rPr lang="es-ES" sz="600" dirty="0" err="1"/>
              <a:t>mmi.add_ref</a:t>
            </a:r>
            <a:r>
              <a:rPr lang="es-ES" sz="600" dirty="0"/>
              <a:t>(</a:t>
            </a:r>
            <a:r>
              <a:rPr lang="es-ES" sz="600" dirty="0" err="1"/>
              <a:t>guia_r</a:t>
            </a:r>
            <a:r>
              <a:rPr lang="es-ES" sz="600" dirty="0"/>
              <a:t>).</a:t>
            </a:r>
            <a:r>
              <a:rPr lang="es-ES" sz="600" dirty="0" err="1"/>
              <a:t>movex</a:t>
            </a:r>
            <a:r>
              <a:rPr lang="es-ES" sz="600" dirty="0"/>
              <a:t>(-</a:t>
            </a:r>
            <a:r>
              <a:rPr lang="es-ES" sz="600" dirty="0" err="1"/>
              <a:t>l_acc</a:t>
            </a:r>
            <a:r>
              <a:rPr lang="es-ES" sz="600" dirty="0"/>
              <a:t>).</a:t>
            </a:r>
            <a:r>
              <a:rPr lang="es-ES" sz="600" dirty="0" err="1"/>
              <a:t>movey</a:t>
            </a:r>
            <a:r>
              <a:rPr lang="es-ES" sz="600" dirty="0"/>
              <a:t>(-</a:t>
            </a:r>
            <a:r>
              <a:rPr lang="es-ES" sz="600" dirty="0" err="1"/>
              <a:t>pos_y</a:t>
            </a:r>
            <a:r>
              <a:rPr lang="es-ES" sz="600" dirty="0"/>
              <a:t>)</a:t>
            </a:r>
          </a:p>
          <a:p>
            <a:r>
              <a:rPr lang="es-ES" sz="600" dirty="0"/>
              <a:t>    </a:t>
            </a:r>
            <a:r>
              <a:rPr lang="es-ES" sz="600" dirty="0" err="1"/>
              <a:t>ot</a:t>
            </a:r>
            <a:r>
              <a:rPr lang="es-ES" sz="600" dirty="0"/>
              <a:t> = </a:t>
            </a:r>
            <a:r>
              <a:rPr lang="es-ES" sz="600" dirty="0" err="1"/>
              <a:t>mmi.add_ref</a:t>
            </a:r>
            <a:r>
              <a:rPr lang="es-ES" sz="600" dirty="0"/>
              <a:t>(</a:t>
            </a:r>
            <a:r>
              <a:rPr lang="es-ES" sz="600" dirty="0" err="1"/>
              <a:t>guia_r</a:t>
            </a:r>
            <a:r>
              <a:rPr lang="es-ES" sz="600" dirty="0"/>
              <a:t>).</a:t>
            </a:r>
            <a:r>
              <a:rPr lang="es-ES" sz="600" dirty="0" err="1"/>
              <a:t>movex</a:t>
            </a:r>
            <a:r>
              <a:rPr lang="es-ES" sz="600" dirty="0"/>
              <a:t>(</a:t>
            </a:r>
            <a:r>
              <a:rPr lang="es-ES" sz="600" dirty="0" err="1"/>
              <a:t>longitud_mmi</a:t>
            </a:r>
            <a:r>
              <a:rPr lang="es-ES" sz="600" dirty="0"/>
              <a:t>).</a:t>
            </a:r>
            <a:r>
              <a:rPr lang="es-ES" sz="600" dirty="0" err="1"/>
              <a:t>movey</a:t>
            </a:r>
            <a:r>
              <a:rPr lang="es-ES" sz="600" dirty="0"/>
              <a:t>(</a:t>
            </a:r>
            <a:r>
              <a:rPr lang="es-ES" sz="600" dirty="0" err="1"/>
              <a:t>pos_y</a:t>
            </a:r>
            <a:r>
              <a:rPr lang="es-ES" sz="600" dirty="0"/>
              <a:t>)</a:t>
            </a:r>
          </a:p>
          <a:p>
            <a:r>
              <a:rPr lang="es-ES" sz="600" dirty="0"/>
              <a:t>    </a:t>
            </a:r>
            <a:r>
              <a:rPr lang="es-ES" sz="600" dirty="0" err="1"/>
              <a:t>ob</a:t>
            </a:r>
            <a:r>
              <a:rPr lang="es-ES" sz="600" dirty="0"/>
              <a:t> = </a:t>
            </a:r>
            <a:r>
              <a:rPr lang="es-ES" sz="600" dirty="0" err="1"/>
              <a:t>mmi.add_ref</a:t>
            </a:r>
            <a:r>
              <a:rPr lang="es-ES" sz="600" dirty="0"/>
              <a:t>(</a:t>
            </a:r>
            <a:r>
              <a:rPr lang="es-ES" sz="600" dirty="0" err="1"/>
              <a:t>guia_r</a:t>
            </a:r>
            <a:r>
              <a:rPr lang="es-ES" sz="600" dirty="0"/>
              <a:t>).</a:t>
            </a:r>
            <a:r>
              <a:rPr lang="es-ES" sz="600" dirty="0" err="1"/>
              <a:t>movex</a:t>
            </a:r>
            <a:r>
              <a:rPr lang="es-ES" sz="600" dirty="0"/>
              <a:t>(</a:t>
            </a:r>
            <a:r>
              <a:rPr lang="es-ES" sz="600" dirty="0" err="1"/>
              <a:t>longitud_mmi</a:t>
            </a:r>
            <a:r>
              <a:rPr lang="es-ES" sz="600" dirty="0"/>
              <a:t>).</a:t>
            </a:r>
            <a:r>
              <a:rPr lang="es-ES" sz="600" dirty="0" err="1"/>
              <a:t>movey</a:t>
            </a:r>
            <a:r>
              <a:rPr lang="es-ES" sz="600" dirty="0"/>
              <a:t>(-</a:t>
            </a:r>
            <a:r>
              <a:rPr lang="es-ES" sz="600" dirty="0" err="1"/>
              <a:t>pos_y</a:t>
            </a:r>
            <a:r>
              <a:rPr lang="es-ES" sz="600" dirty="0"/>
              <a:t>)</a:t>
            </a:r>
          </a:p>
          <a:p>
            <a:r>
              <a:rPr lang="es-ES" sz="600" dirty="0"/>
              <a:t>    </a:t>
            </a:r>
          </a:p>
          <a:p>
            <a:r>
              <a:rPr lang="es-ES" sz="600" dirty="0"/>
              <a:t>    </a:t>
            </a:r>
            <a:r>
              <a:rPr lang="es-ES" sz="600" dirty="0" err="1"/>
              <a:t>mmi.add_port</a:t>
            </a:r>
            <a:r>
              <a:rPr lang="es-ES" sz="600" dirty="0"/>
              <a:t>("</a:t>
            </a:r>
            <a:r>
              <a:rPr lang="es-ES" sz="600" dirty="0" err="1"/>
              <a:t>in_top</a:t>
            </a:r>
            <a:r>
              <a:rPr lang="es-ES" sz="600" dirty="0"/>
              <a:t>", </a:t>
            </a:r>
            <a:r>
              <a:rPr lang="es-ES" sz="600" dirty="0" err="1"/>
              <a:t>port</a:t>
            </a:r>
            <a:r>
              <a:rPr lang="es-ES" sz="600" dirty="0"/>
              <a:t>=</a:t>
            </a:r>
            <a:r>
              <a:rPr lang="es-ES" sz="600" dirty="0" err="1"/>
              <a:t>it.ports</a:t>
            </a:r>
            <a:r>
              <a:rPr lang="es-ES" sz="600" dirty="0"/>
              <a:t>["o1"])</a:t>
            </a:r>
          </a:p>
          <a:p>
            <a:r>
              <a:rPr lang="es-ES" sz="600" dirty="0"/>
              <a:t>    </a:t>
            </a:r>
            <a:r>
              <a:rPr lang="es-ES" sz="600" dirty="0" err="1"/>
              <a:t>mmi.add_port</a:t>
            </a:r>
            <a:r>
              <a:rPr lang="es-ES" sz="600" dirty="0"/>
              <a:t>("</a:t>
            </a:r>
            <a:r>
              <a:rPr lang="es-ES" sz="600" dirty="0" err="1"/>
              <a:t>in_bot</a:t>
            </a:r>
            <a:r>
              <a:rPr lang="es-ES" sz="600" dirty="0"/>
              <a:t>", </a:t>
            </a:r>
            <a:r>
              <a:rPr lang="es-ES" sz="600" dirty="0" err="1"/>
              <a:t>port</a:t>
            </a:r>
            <a:r>
              <a:rPr lang="es-ES" sz="600" dirty="0"/>
              <a:t>=</a:t>
            </a:r>
            <a:r>
              <a:rPr lang="es-ES" sz="600" dirty="0" err="1"/>
              <a:t>ib.ports</a:t>
            </a:r>
            <a:r>
              <a:rPr lang="es-ES" sz="600" dirty="0"/>
              <a:t>["o1"])</a:t>
            </a:r>
          </a:p>
          <a:p>
            <a:r>
              <a:rPr lang="es-ES" sz="600" dirty="0"/>
              <a:t>    </a:t>
            </a:r>
            <a:r>
              <a:rPr lang="es-ES" sz="600" dirty="0" err="1"/>
              <a:t>mmi.add_port</a:t>
            </a:r>
            <a:r>
              <a:rPr lang="es-ES" sz="600" dirty="0"/>
              <a:t>("</a:t>
            </a:r>
            <a:r>
              <a:rPr lang="es-ES" sz="600" dirty="0" err="1"/>
              <a:t>out_top</a:t>
            </a:r>
            <a:r>
              <a:rPr lang="es-ES" sz="600" dirty="0"/>
              <a:t>", </a:t>
            </a:r>
            <a:r>
              <a:rPr lang="es-ES" sz="600" dirty="0" err="1"/>
              <a:t>port</a:t>
            </a:r>
            <a:r>
              <a:rPr lang="es-ES" sz="600" dirty="0"/>
              <a:t>=</a:t>
            </a:r>
            <a:r>
              <a:rPr lang="es-ES" sz="600" dirty="0" err="1"/>
              <a:t>ot.ports</a:t>
            </a:r>
            <a:r>
              <a:rPr lang="es-ES" sz="600" dirty="0"/>
              <a:t>["o2"])</a:t>
            </a:r>
          </a:p>
          <a:p>
            <a:r>
              <a:rPr lang="es-ES" sz="600" dirty="0"/>
              <a:t>    </a:t>
            </a:r>
            <a:r>
              <a:rPr lang="es-ES" sz="600" dirty="0" err="1"/>
              <a:t>mmi.add_port</a:t>
            </a:r>
            <a:r>
              <a:rPr lang="es-ES" sz="600" dirty="0"/>
              <a:t>("</a:t>
            </a:r>
            <a:r>
              <a:rPr lang="es-ES" sz="600" dirty="0" err="1"/>
              <a:t>out_bot</a:t>
            </a:r>
            <a:r>
              <a:rPr lang="es-ES" sz="600" dirty="0"/>
              <a:t>", </a:t>
            </a:r>
            <a:r>
              <a:rPr lang="es-ES" sz="600" dirty="0" err="1"/>
              <a:t>port</a:t>
            </a:r>
            <a:r>
              <a:rPr lang="es-ES" sz="600" dirty="0"/>
              <a:t>=</a:t>
            </a:r>
            <a:r>
              <a:rPr lang="es-ES" sz="600" dirty="0" err="1"/>
              <a:t>ob.ports</a:t>
            </a:r>
            <a:r>
              <a:rPr lang="es-ES" sz="600" dirty="0"/>
              <a:t>["o2"])</a:t>
            </a:r>
          </a:p>
          <a:p>
            <a:r>
              <a:rPr lang="es-ES" sz="600" dirty="0"/>
              <a:t>    </a:t>
            </a:r>
            <a:r>
              <a:rPr lang="es-ES" sz="600" dirty="0" err="1"/>
              <a:t>return</a:t>
            </a:r>
            <a:r>
              <a:rPr lang="es-ES" sz="600" dirty="0"/>
              <a:t> </a:t>
            </a:r>
            <a:r>
              <a:rPr lang="es-ES" sz="600" dirty="0" err="1"/>
              <a:t>mmi</a:t>
            </a:r>
            <a:endParaRPr lang="es-ES" sz="600" dirty="0"/>
          </a:p>
          <a:p>
            <a:br>
              <a:rPr lang="es-ES" sz="600" dirty="0"/>
            </a:br>
            <a:br>
              <a:rPr lang="es-ES" sz="600" dirty="0"/>
            </a:br>
            <a:endParaRPr lang="es-ES" sz="600" dirty="0"/>
          </a:p>
          <a:p>
            <a:r>
              <a:rPr lang="es-ES" sz="600" dirty="0"/>
              <a:t>@gf.cell</a:t>
            </a:r>
          </a:p>
          <a:p>
            <a:r>
              <a:rPr lang="es-ES" sz="600" dirty="0" err="1"/>
              <a:t>def</a:t>
            </a:r>
            <a:r>
              <a:rPr lang="es-ES" sz="600" dirty="0"/>
              <a:t> </a:t>
            </a:r>
            <a:r>
              <a:rPr lang="es-ES" sz="600" dirty="0" err="1"/>
              <a:t>mzi_base</a:t>
            </a:r>
            <a:r>
              <a:rPr lang="es-ES" sz="600" dirty="0"/>
              <a:t>(</a:t>
            </a:r>
          </a:p>
          <a:p>
            <a:r>
              <a:rPr lang="es-ES" sz="600" dirty="0"/>
              <a:t>    </a:t>
            </a:r>
            <a:r>
              <a:rPr lang="es-ES" sz="600" dirty="0" err="1"/>
              <a:t>radius</a:t>
            </a:r>
            <a:r>
              <a:rPr lang="es-ES" sz="600" dirty="0"/>
              <a:t>: </a:t>
            </a:r>
            <a:r>
              <a:rPr lang="es-ES" sz="600" dirty="0" err="1"/>
              <a:t>float</a:t>
            </a:r>
            <a:r>
              <a:rPr lang="es-ES" sz="600" dirty="0"/>
              <a:t> = 10.0, </a:t>
            </a:r>
          </a:p>
          <a:p>
            <a:r>
              <a:rPr lang="es-ES" sz="600" dirty="0"/>
              <a:t>    </a:t>
            </a:r>
            <a:r>
              <a:rPr lang="es-ES" sz="600" dirty="0" err="1"/>
              <a:t>delta_l</a:t>
            </a:r>
            <a:r>
              <a:rPr lang="es-ES" sz="600" dirty="0"/>
              <a:t>: </a:t>
            </a:r>
            <a:r>
              <a:rPr lang="es-ES" sz="600" dirty="0" err="1"/>
              <a:t>float</a:t>
            </a:r>
            <a:r>
              <a:rPr lang="es-ES" sz="600" dirty="0"/>
              <a:t> = 100.0, </a:t>
            </a:r>
          </a:p>
          <a:p>
            <a:r>
              <a:rPr lang="es-ES" sz="600" dirty="0"/>
              <a:t>    </a:t>
            </a:r>
            <a:r>
              <a:rPr lang="es-ES" sz="600" dirty="0" err="1"/>
              <a:t>L_h</a:t>
            </a:r>
            <a:r>
              <a:rPr lang="es-ES" sz="600" dirty="0"/>
              <a:t>: </a:t>
            </a:r>
            <a:r>
              <a:rPr lang="es-ES" sz="600" dirty="0" err="1"/>
              <a:t>float</a:t>
            </a:r>
            <a:r>
              <a:rPr lang="es-ES" sz="600" dirty="0"/>
              <a:t> = 40.0, </a:t>
            </a:r>
          </a:p>
          <a:p>
            <a:r>
              <a:rPr lang="es-ES" sz="600" dirty="0"/>
              <a:t>    </a:t>
            </a:r>
            <a:r>
              <a:rPr lang="es-ES" sz="600" dirty="0" err="1"/>
              <a:t>ancho_tuner</a:t>
            </a:r>
            <a:r>
              <a:rPr lang="es-ES" sz="600" dirty="0"/>
              <a:t>: </a:t>
            </a:r>
            <a:r>
              <a:rPr lang="es-ES" sz="600" dirty="0" err="1"/>
              <a:t>float</a:t>
            </a:r>
            <a:r>
              <a:rPr lang="es-ES" sz="600" dirty="0"/>
              <a:t> = 2.0, </a:t>
            </a:r>
          </a:p>
          <a:p>
            <a:r>
              <a:rPr lang="es-ES" sz="600" dirty="0"/>
              <a:t>    </a:t>
            </a:r>
            <a:r>
              <a:rPr lang="es-ES" sz="600" dirty="0" err="1"/>
              <a:t>gap_tuner</a:t>
            </a:r>
            <a:r>
              <a:rPr lang="es-ES" sz="600" dirty="0"/>
              <a:t>: </a:t>
            </a:r>
            <a:r>
              <a:rPr lang="es-ES" sz="600" dirty="0" err="1"/>
              <a:t>float</a:t>
            </a:r>
            <a:r>
              <a:rPr lang="es-ES" sz="600" dirty="0"/>
              <a:t> = 1.5</a:t>
            </a:r>
          </a:p>
          <a:p>
            <a:r>
              <a:rPr lang="es-ES" sz="600" dirty="0"/>
              <a:t>) -&gt; </a:t>
            </a:r>
            <a:r>
              <a:rPr lang="es-ES" sz="600" dirty="0" err="1"/>
              <a:t>gf.Component</a:t>
            </a:r>
            <a:r>
              <a:rPr lang="es-ES" sz="600" dirty="0"/>
              <a:t>:</a:t>
            </a:r>
          </a:p>
          <a:p>
            <a:r>
              <a:rPr lang="es-ES" sz="600" dirty="0"/>
              <a:t>    """</a:t>
            </a:r>
          </a:p>
          <a:p>
            <a:r>
              <a:rPr lang="es-ES" sz="600" dirty="0"/>
              <a:t>    Componente específico: Estructura óptica del MZI con calentadores </a:t>
            </a:r>
          </a:p>
          <a:p>
            <a:r>
              <a:rPr lang="es-ES" sz="600" dirty="0"/>
              <a:t>    horizontales paralelos flanqueando las guías según el esquema físico.</a:t>
            </a:r>
          </a:p>
          <a:p>
            <a:r>
              <a:rPr lang="es-ES" sz="600" dirty="0"/>
              <a:t>    """</a:t>
            </a:r>
          </a:p>
          <a:p>
            <a:r>
              <a:rPr lang="es-ES" sz="600" dirty="0"/>
              <a:t>    c = </a:t>
            </a:r>
            <a:r>
              <a:rPr lang="es-ES" sz="600" dirty="0" err="1"/>
              <a:t>gf.Component</a:t>
            </a:r>
            <a:r>
              <a:rPr lang="es-ES" sz="600" dirty="0"/>
              <a:t>("</a:t>
            </a:r>
            <a:r>
              <a:rPr lang="es-ES" sz="600" dirty="0" err="1"/>
              <a:t>MZI_Base</a:t>
            </a:r>
            <a:r>
              <a:rPr lang="es-ES" sz="600" dirty="0"/>
              <a:t>")</a:t>
            </a:r>
          </a:p>
          <a:p>
            <a:r>
              <a:rPr lang="es-ES" sz="600" dirty="0"/>
              <a:t>    </a:t>
            </a:r>
          </a:p>
          <a:p>
            <a:r>
              <a:rPr lang="es-ES" sz="600" dirty="0"/>
              <a:t>    </a:t>
            </a:r>
            <a:r>
              <a:rPr lang="es-ES" sz="600" dirty="0" err="1"/>
              <a:t>width_wg</a:t>
            </a:r>
            <a:r>
              <a:rPr lang="es-ES" sz="600" dirty="0"/>
              <a:t> = 1.2</a:t>
            </a:r>
          </a:p>
          <a:p>
            <a:r>
              <a:rPr lang="es-ES" sz="600" dirty="0"/>
              <a:t>    </a:t>
            </a:r>
            <a:r>
              <a:rPr lang="es-ES" sz="600" dirty="0" err="1"/>
              <a:t>layer_wg</a:t>
            </a:r>
            <a:r>
              <a:rPr lang="es-ES" sz="600" dirty="0"/>
              <a:t> = </a:t>
            </a:r>
            <a:r>
              <a:rPr lang="es-ES" sz="600" dirty="0" err="1"/>
              <a:t>gf.components.straight</a:t>
            </a:r>
            <a:r>
              <a:rPr lang="es-ES" sz="600" dirty="0"/>
              <a:t>().</a:t>
            </a:r>
            <a:r>
              <a:rPr lang="es-ES" sz="600" dirty="0" err="1"/>
              <a:t>ports</a:t>
            </a:r>
            <a:r>
              <a:rPr lang="es-ES" sz="600" dirty="0"/>
              <a:t>["o1"].</a:t>
            </a:r>
            <a:r>
              <a:rPr lang="es-ES" sz="600" dirty="0" err="1"/>
              <a:t>layer</a:t>
            </a:r>
            <a:endParaRPr lang="es-ES" sz="600" dirty="0"/>
          </a:p>
          <a:p>
            <a:r>
              <a:rPr lang="es-ES" sz="600" dirty="0"/>
              <a:t>    </a:t>
            </a:r>
            <a:r>
              <a:rPr lang="es-ES" sz="600" dirty="0" err="1"/>
              <a:t>seccion_acceso</a:t>
            </a:r>
            <a:r>
              <a:rPr lang="es-ES" sz="600" dirty="0"/>
              <a:t> = </a:t>
            </a:r>
            <a:r>
              <a:rPr lang="es-ES" sz="600" dirty="0" err="1"/>
              <a:t>gf.cross_section.cross_section</a:t>
            </a:r>
            <a:r>
              <a:rPr lang="es-ES" sz="600" dirty="0"/>
              <a:t>(</a:t>
            </a:r>
            <a:r>
              <a:rPr lang="es-ES" sz="600" dirty="0" err="1"/>
              <a:t>width</a:t>
            </a:r>
            <a:r>
              <a:rPr lang="es-ES" sz="600" dirty="0"/>
              <a:t>=</a:t>
            </a:r>
            <a:r>
              <a:rPr lang="es-ES" sz="600" dirty="0" err="1"/>
              <a:t>width_wg</a:t>
            </a:r>
            <a:r>
              <a:rPr lang="es-ES" sz="600" dirty="0"/>
              <a:t>, </a:t>
            </a:r>
            <a:r>
              <a:rPr lang="es-ES" sz="600" dirty="0" err="1"/>
              <a:t>layer</a:t>
            </a:r>
            <a:r>
              <a:rPr lang="es-ES" sz="600" dirty="0"/>
              <a:t>=</a:t>
            </a:r>
            <a:r>
              <a:rPr lang="es-ES" sz="600" dirty="0" err="1"/>
              <a:t>layer_wg</a:t>
            </a:r>
            <a:r>
              <a:rPr lang="es-ES" sz="600" dirty="0"/>
              <a:t>)</a:t>
            </a:r>
          </a:p>
          <a:p>
            <a:r>
              <a:rPr lang="es-ES" sz="600" dirty="0"/>
              <a:t>    </a:t>
            </a:r>
            <a:r>
              <a:rPr lang="es-ES" sz="600" dirty="0" err="1"/>
              <a:t>layer_heater</a:t>
            </a:r>
            <a:r>
              <a:rPr lang="es-ES" sz="600" dirty="0"/>
              <a:t> = "HEATER" </a:t>
            </a:r>
          </a:p>
          <a:p>
            <a:br>
              <a:rPr lang="es-ES" sz="600" dirty="0"/>
            </a:br>
            <a:endParaRPr lang="es-ES" sz="600" dirty="0"/>
          </a:p>
          <a:p>
            <a:r>
              <a:rPr lang="es-ES" sz="600" dirty="0"/>
              <a:t>    # Instanciamos los bloques MMI internos</a:t>
            </a:r>
          </a:p>
          <a:p>
            <a:r>
              <a:rPr lang="es-ES" sz="600" dirty="0"/>
              <a:t>    </a:t>
            </a:r>
            <a:r>
              <a:rPr lang="es-ES" sz="600" dirty="0" err="1"/>
              <a:t>splitter</a:t>
            </a:r>
            <a:r>
              <a:rPr lang="es-ES" sz="600" dirty="0"/>
              <a:t> = </a:t>
            </a:r>
            <a:r>
              <a:rPr lang="es-ES" sz="600" dirty="0" err="1"/>
              <a:t>c.add_ref</a:t>
            </a:r>
            <a:r>
              <a:rPr lang="es-ES" sz="600" dirty="0"/>
              <a:t>(mmi_2x2_base())</a:t>
            </a:r>
          </a:p>
          <a:p>
            <a:r>
              <a:rPr lang="es-ES" sz="600" dirty="0"/>
              <a:t>    </a:t>
            </a:r>
            <a:r>
              <a:rPr lang="es-ES" sz="600" dirty="0" err="1"/>
              <a:t>combiner</a:t>
            </a:r>
            <a:r>
              <a:rPr lang="es-ES" sz="600" dirty="0"/>
              <a:t> = </a:t>
            </a:r>
            <a:r>
              <a:rPr lang="es-ES" sz="600" dirty="0" err="1"/>
              <a:t>c.add_ref</a:t>
            </a:r>
            <a:r>
              <a:rPr lang="es-ES" sz="600" dirty="0"/>
              <a:t>(mmi_2x2_base())</a:t>
            </a:r>
          </a:p>
          <a:p>
            <a:br>
              <a:rPr lang="es-ES" sz="600" dirty="0"/>
            </a:br>
            <a:endParaRPr lang="es-ES" sz="600" dirty="0"/>
          </a:p>
          <a:p>
            <a:r>
              <a:rPr lang="es-ES" sz="600" dirty="0"/>
              <a:t>    # Codo de 90° común</a:t>
            </a:r>
          </a:p>
          <a:p>
            <a:r>
              <a:rPr lang="es-ES" sz="600" dirty="0"/>
              <a:t>    b90 = </a:t>
            </a:r>
            <a:r>
              <a:rPr lang="es-ES" sz="600" dirty="0" err="1"/>
              <a:t>gf.components.bend_circular</a:t>
            </a:r>
            <a:r>
              <a:rPr lang="es-ES" sz="600" dirty="0"/>
              <a:t>(</a:t>
            </a:r>
            <a:r>
              <a:rPr lang="es-ES" sz="600" dirty="0" err="1"/>
              <a:t>radius</a:t>
            </a:r>
            <a:r>
              <a:rPr lang="es-ES" sz="600" dirty="0"/>
              <a:t>=</a:t>
            </a:r>
            <a:r>
              <a:rPr lang="es-ES" sz="600" dirty="0" err="1"/>
              <a:t>radius</a:t>
            </a:r>
            <a:r>
              <a:rPr lang="es-ES" sz="600" dirty="0"/>
              <a:t>, </a:t>
            </a:r>
            <a:r>
              <a:rPr lang="es-ES" sz="600" dirty="0" err="1"/>
              <a:t>cross_section</a:t>
            </a:r>
            <a:r>
              <a:rPr lang="es-ES" sz="600" dirty="0"/>
              <a:t>=</a:t>
            </a:r>
            <a:r>
              <a:rPr lang="es-ES" sz="600" dirty="0" err="1"/>
              <a:t>seccion_acceso</a:t>
            </a:r>
            <a:r>
              <a:rPr lang="es-ES" sz="600" dirty="0"/>
              <a:t>)</a:t>
            </a:r>
          </a:p>
          <a:p>
            <a:br>
              <a:rPr lang="es-ES" sz="600" dirty="0"/>
            </a:br>
            <a:endParaRPr lang="es-ES" sz="600" dirty="0"/>
          </a:p>
          <a:p>
            <a:r>
              <a:rPr lang="es-ES" sz="600" dirty="0"/>
              <a:t>    # Moldes de guías rectas horizontales y verticales</a:t>
            </a:r>
          </a:p>
          <a:p>
            <a:r>
              <a:rPr lang="es-ES" sz="600" dirty="0"/>
              <a:t>    </a:t>
            </a:r>
            <a:r>
              <a:rPr lang="es-ES" sz="600" dirty="0" err="1"/>
              <a:t>guia_horizontal</a:t>
            </a:r>
            <a:r>
              <a:rPr lang="es-ES" sz="600" dirty="0"/>
              <a:t> = </a:t>
            </a:r>
            <a:r>
              <a:rPr lang="es-ES" sz="600" dirty="0" err="1"/>
              <a:t>gf.components.straight</a:t>
            </a:r>
            <a:r>
              <a:rPr lang="es-ES" sz="600" dirty="0"/>
              <a:t>(</a:t>
            </a:r>
            <a:r>
              <a:rPr lang="es-ES" sz="600" dirty="0" err="1"/>
              <a:t>length</a:t>
            </a:r>
            <a:r>
              <a:rPr lang="es-ES" sz="600" dirty="0"/>
              <a:t>=</a:t>
            </a:r>
            <a:r>
              <a:rPr lang="es-ES" sz="600" dirty="0" err="1"/>
              <a:t>L_h</a:t>
            </a:r>
            <a:r>
              <a:rPr lang="es-ES" sz="600" dirty="0"/>
              <a:t>, </a:t>
            </a:r>
            <a:r>
              <a:rPr lang="es-ES" sz="600" dirty="0" err="1"/>
              <a:t>cross_section</a:t>
            </a:r>
            <a:r>
              <a:rPr lang="es-ES" sz="600" dirty="0"/>
              <a:t>=</a:t>
            </a:r>
            <a:r>
              <a:rPr lang="es-ES" sz="600" dirty="0" err="1"/>
              <a:t>seccion_acceso</a:t>
            </a:r>
            <a:r>
              <a:rPr lang="es-ES" sz="600" dirty="0"/>
              <a:t>)</a:t>
            </a:r>
          </a:p>
          <a:p>
            <a:r>
              <a:rPr lang="es-ES" sz="600" dirty="0"/>
              <a:t>    </a:t>
            </a:r>
            <a:r>
              <a:rPr lang="es-ES" sz="600" dirty="0" err="1"/>
              <a:t>guia_vertical_dL</a:t>
            </a:r>
            <a:r>
              <a:rPr lang="es-ES" sz="600" dirty="0"/>
              <a:t> = </a:t>
            </a:r>
            <a:r>
              <a:rPr lang="es-ES" sz="600" dirty="0" err="1"/>
              <a:t>gf.components.straight</a:t>
            </a:r>
            <a:r>
              <a:rPr lang="es-ES" sz="600" dirty="0"/>
              <a:t>(</a:t>
            </a:r>
            <a:r>
              <a:rPr lang="es-ES" sz="600" dirty="0" err="1"/>
              <a:t>length</a:t>
            </a:r>
            <a:r>
              <a:rPr lang="es-ES" sz="600" dirty="0"/>
              <a:t>=</a:t>
            </a:r>
            <a:r>
              <a:rPr lang="es-ES" sz="600" dirty="0" err="1"/>
              <a:t>delta_l</a:t>
            </a:r>
            <a:r>
              <a:rPr lang="es-ES" sz="600" dirty="0"/>
              <a:t> / 2.0, </a:t>
            </a:r>
            <a:r>
              <a:rPr lang="es-ES" sz="600" dirty="0" err="1"/>
              <a:t>cross_section</a:t>
            </a:r>
            <a:r>
              <a:rPr lang="es-ES" sz="600" dirty="0"/>
              <a:t>=</a:t>
            </a:r>
            <a:r>
              <a:rPr lang="es-ES" sz="600" dirty="0" err="1"/>
              <a:t>seccion_acceso</a:t>
            </a:r>
            <a:r>
              <a:rPr lang="es-ES" sz="600" dirty="0"/>
              <a:t>)</a:t>
            </a:r>
          </a:p>
          <a:p>
            <a:br>
              <a:rPr lang="es-ES" sz="600" dirty="0"/>
            </a:br>
            <a:endParaRPr lang="es-ES" sz="600" dirty="0"/>
          </a:p>
          <a:p>
            <a:r>
              <a:rPr lang="es-ES" sz="600" dirty="0"/>
              <a:t>    # --- BRAZO INFERIOR (Camino corto de referencia) ---</a:t>
            </a:r>
          </a:p>
          <a:p>
            <a:r>
              <a:rPr lang="es-ES" sz="600" dirty="0"/>
              <a:t>    b1_bot = </a:t>
            </a:r>
            <a:r>
              <a:rPr lang="es-ES" sz="600" dirty="0" err="1"/>
              <a:t>c.add_ref</a:t>
            </a:r>
            <a:r>
              <a:rPr lang="es-ES" sz="600" dirty="0"/>
              <a:t>(b90)</a:t>
            </a:r>
          </a:p>
          <a:p>
            <a:r>
              <a:rPr lang="es-ES" sz="600" dirty="0"/>
              <a:t>    b1_bot.mirror_y()</a:t>
            </a:r>
          </a:p>
          <a:p>
            <a:r>
              <a:rPr lang="es-ES" sz="600" dirty="0"/>
              <a:t>    b1_bot.connect("o1", </a:t>
            </a:r>
            <a:r>
              <a:rPr lang="es-ES" sz="600" dirty="0" err="1"/>
              <a:t>splitter.ports</a:t>
            </a:r>
            <a:r>
              <a:rPr lang="es-ES" sz="600" dirty="0"/>
              <a:t>["</a:t>
            </a:r>
            <a:r>
              <a:rPr lang="es-ES" sz="600" dirty="0" err="1"/>
              <a:t>out_bot</a:t>
            </a:r>
            <a:r>
              <a:rPr lang="es-ES" sz="600" dirty="0"/>
              <a:t>"])</a:t>
            </a:r>
          </a:p>
          <a:p>
            <a:br>
              <a:rPr lang="es-ES" sz="600" dirty="0"/>
            </a:br>
            <a:endParaRPr lang="es-ES" sz="600" dirty="0"/>
          </a:p>
          <a:p>
            <a:r>
              <a:rPr lang="es-ES" sz="600" dirty="0"/>
              <a:t>    b2_bot = </a:t>
            </a:r>
            <a:r>
              <a:rPr lang="es-ES" sz="600" dirty="0" err="1"/>
              <a:t>c.add_ref</a:t>
            </a:r>
            <a:r>
              <a:rPr lang="es-ES" sz="600" dirty="0"/>
              <a:t>(b90)</a:t>
            </a:r>
          </a:p>
          <a:p>
            <a:r>
              <a:rPr lang="es-ES" sz="600" dirty="0"/>
              <a:t>    b2_bot.connect("o1", b1_bot.ports["o2"])</a:t>
            </a:r>
          </a:p>
          <a:p>
            <a:br>
              <a:rPr lang="es-ES" sz="600" dirty="0"/>
            </a:br>
            <a:endParaRPr lang="es-ES" sz="600" dirty="0"/>
          </a:p>
          <a:p>
            <a:r>
              <a:rPr lang="es-ES" sz="600" dirty="0"/>
              <a:t>    </a:t>
            </a:r>
            <a:r>
              <a:rPr lang="es-ES" sz="600" dirty="0" err="1"/>
              <a:t>h_bot</a:t>
            </a:r>
            <a:r>
              <a:rPr lang="es-ES" sz="600" dirty="0"/>
              <a:t> = </a:t>
            </a:r>
            <a:r>
              <a:rPr lang="es-ES" sz="600" dirty="0" err="1"/>
              <a:t>c.add_ref</a:t>
            </a:r>
            <a:r>
              <a:rPr lang="es-ES" sz="600" dirty="0"/>
              <a:t>(</a:t>
            </a:r>
            <a:r>
              <a:rPr lang="es-ES" sz="600" dirty="0" err="1"/>
              <a:t>guia_horizontal</a:t>
            </a:r>
            <a:r>
              <a:rPr lang="es-ES" sz="600" dirty="0"/>
              <a:t>)</a:t>
            </a:r>
          </a:p>
          <a:p>
            <a:r>
              <a:rPr lang="es-ES" sz="600" dirty="0"/>
              <a:t>    </a:t>
            </a:r>
            <a:r>
              <a:rPr lang="es-ES" sz="600" dirty="0" err="1"/>
              <a:t>h_bot.connect</a:t>
            </a:r>
            <a:r>
              <a:rPr lang="es-ES" sz="600" dirty="0"/>
              <a:t>("o1", b2_bot.ports["o2"])</a:t>
            </a:r>
          </a:p>
          <a:p>
            <a:br>
              <a:rPr lang="es-ES" sz="600" dirty="0"/>
            </a:br>
            <a:endParaRPr lang="es-ES" sz="600" dirty="0"/>
          </a:p>
          <a:p>
            <a:r>
              <a:rPr lang="es-ES" sz="600" dirty="0"/>
              <a:t>    b3_bot = </a:t>
            </a:r>
            <a:r>
              <a:rPr lang="es-ES" sz="600" dirty="0" err="1"/>
              <a:t>c.add_ref</a:t>
            </a:r>
            <a:r>
              <a:rPr lang="es-ES" sz="600" dirty="0"/>
              <a:t>(b90)</a:t>
            </a:r>
          </a:p>
          <a:p>
            <a:r>
              <a:rPr lang="es-ES" sz="600" dirty="0"/>
              <a:t>    b3_bot.connect("o1", </a:t>
            </a:r>
            <a:r>
              <a:rPr lang="es-ES" sz="600" dirty="0" err="1"/>
              <a:t>h_bot.ports</a:t>
            </a:r>
            <a:r>
              <a:rPr lang="es-ES" sz="600" dirty="0"/>
              <a:t>["o2"])</a:t>
            </a:r>
          </a:p>
          <a:p>
            <a:br>
              <a:rPr lang="es-ES" sz="600" dirty="0"/>
            </a:br>
            <a:endParaRPr lang="es-ES" sz="600" dirty="0"/>
          </a:p>
          <a:p>
            <a:r>
              <a:rPr lang="es-ES" sz="600" dirty="0"/>
              <a:t>    b4_bot = </a:t>
            </a:r>
            <a:r>
              <a:rPr lang="es-ES" sz="600" dirty="0" err="1"/>
              <a:t>c.add_ref</a:t>
            </a:r>
            <a:r>
              <a:rPr lang="es-ES" sz="600" dirty="0"/>
              <a:t>(b90)</a:t>
            </a:r>
          </a:p>
          <a:p>
            <a:r>
              <a:rPr lang="es-ES" sz="600" dirty="0"/>
              <a:t>    b4_bot.mirror_y()</a:t>
            </a:r>
          </a:p>
          <a:p>
            <a:r>
              <a:rPr lang="es-ES" sz="600" dirty="0"/>
              <a:t>    b4_bot.connect("o1", b3_bot.ports["o2"])</a:t>
            </a:r>
          </a:p>
          <a:p>
            <a:br>
              <a:rPr lang="es-ES" sz="600" dirty="0"/>
            </a:br>
            <a:endParaRPr lang="es-ES" sz="600" dirty="0"/>
          </a:p>
          <a:p>
            <a:r>
              <a:rPr lang="es-ES" sz="600" dirty="0"/>
              <a:t>    # Conectamos geométricamente el </a:t>
            </a:r>
            <a:r>
              <a:rPr lang="es-ES" sz="600" dirty="0" err="1"/>
              <a:t>combiner</a:t>
            </a:r>
            <a:r>
              <a:rPr lang="es-ES" sz="600" dirty="0"/>
              <a:t> al brazo inferior fijo</a:t>
            </a:r>
          </a:p>
          <a:p>
            <a:r>
              <a:rPr lang="es-ES" sz="600" dirty="0"/>
              <a:t>    </a:t>
            </a:r>
            <a:r>
              <a:rPr lang="es-ES" sz="600" dirty="0" err="1"/>
              <a:t>combiner.connect</a:t>
            </a:r>
            <a:r>
              <a:rPr lang="es-ES" sz="600" dirty="0"/>
              <a:t>("</a:t>
            </a:r>
            <a:r>
              <a:rPr lang="es-ES" sz="600" dirty="0" err="1"/>
              <a:t>in_bot</a:t>
            </a:r>
            <a:r>
              <a:rPr lang="es-ES" sz="600" dirty="0"/>
              <a:t>", b4_bot.ports["o2"])</a:t>
            </a:r>
          </a:p>
          <a:p>
            <a:br>
              <a:rPr lang="es-ES" sz="600" dirty="0"/>
            </a:br>
            <a:endParaRPr lang="es-ES" sz="600" dirty="0"/>
          </a:p>
          <a:p>
            <a:r>
              <a:rPr lang="es-ES" sz="600" dirty="0"/>
              <a:t>    # --- BRAZO SUPERIOR (Camino largo con tramos </a:t>
            </a:r>
            <a:r>
              <a:rPr lang="es-ES" sz="600" dirty="0" err="1"/>
              <a:t>DeltaL</a:t>
            </a:r>
            <a:r>
              <a:rPr lang="es-ES" sz="600" dirty="0"/>
              <a:t>/2) ---</a:t>
            </a:r>
          </a:p>
          <a:p>
            <a:r>
              <a:rPr lang="es-ES" sz="600" dirty="0"/>
              <a:t>    b1_top = </a:t>
            </a:r>
            <a:r>
              <a:rPr lang="es-ES" sz="600" dirty="0" err="1"/>
              <a:t>c.add_ref</a:t>
            </a:r>
            <a:r>
              <a:rPr lang="es-ES" sz="600" dirty="0"/>
              <a:t>(b90)</a:t>
            </a:r>
          </a:p>
          <a:p>
            <a:r>
              <a:rPr lang="es-ES" sz="600" dirty="0"/>
              <a:t>    b1_top.connect("o1", </a:t>
            </a:r>
            <a:r>
              <a:rPr lang="es-ES" sz="600" dirty="0" err="1"/>
              <a:t>splitter.ports</a:t>
            </a:r>
            <a:r>
              <a:rPr lang="es-ES" sz="600" dirty="0"/>
              <a:t>["</a:t>
            </a:r>
            <a:r>
              <a:rPr lang="es-ES" sz="600" dirty="0" err="1"/>
              <a:t>out_top</a:t>
            </a:r>
            <a:r>
              <a:rPr lang="es-ES" sz="600" dirty="0"/>
              <a:t>"])</a:t>
            </a:r>
          </a:p>
          <a:p>
            <a:br>
              <a:rPr lang="es-ES" sz="600" dirty="0"/>
            </a:br>
            <a:endParaRPr lang="es-ES" sz="600" dirty="0"/>
          </a:p>
          <a:p>
            <a:r>
              <a:rPr lang="es-ES" sz="600" dirty="0"/>
              <a:t>    v1_top = </a:t>
            </a:r>
            <a:r>
              <a:rPr lang="es-ES" sz="600" dirty="0" err="1"/>
              <a:t>c.add_ref</a:t>
            </a:r>
            <a:r>
              <a:rPr lang="es-ES" sz="600" dirty="0"/>
              <a:t>(</a:t>
            </a:r>
            <a:r>
              <a:rPr lang="es-ES" sz="600" dirty="0" err="1"/>
              <a:t>guia_vertical_dL</a:t>
            </a:r>
            <a:r>
              <a:rPr lang="es-ES" sz="600" dirty="0"/>
              <a:t>)</a:t>
            </a:r>
          </a:p>
          <a:p>
            <a:r>
              <a:rPr lang="es-ES" sz="600" dirty="0"/>
              <a:t>    v1_top.connect("o1", b1_top.ports["o2"])</a:t>
            </a:r>
          </a:p>
          <a:p>
            <a:br>
              <a:rPr lang="es-ES" sz="600" dirty="0"/>
            </a:br>
            <a:endParaRPr lang="es-ES" sz="600" dirty="0"/>
          </a:p>
          <a:p>
            <a:r>
              <a:rPr lang="es-ES" sz="600" dirty="0"/>
              <a:t>    b2_top = </a:t>
            </a:r>
            <a:r>
              <a:rPr lang="es-ES" sz="600" dirty="0" err="1"/>
              <a:t>c.add_ref</a:t>
            </a:r>
            <a:r>
              <a:rPr lang="es-ES" sz="600" dirty="0"/>
              <a:t>(b90)</a:t>
            </a:r>
          </a:p>
          <a:p>
            <a:r>
              <a:rPr lang="es-ES" sz="600" dirty="0"/>
              <a:t>    b2_top.mirror_y()</a:t>
            </a:r>
          </a:p>
          <a:p>
            <a:r>
              <a:rPr lang="es-ES" sz="600" dirty="0"/>
              <a:t>    b2_top.connect("o1", v1_top.ports["o2"])</a:t>
            </a:r>
          </a:p>
          <a:p>
            <a:br>
              <a:rPr lang="es-ES" sz="600" dirty="0"/>
            </a:br>
            <a:endParaRPr lang="es-ES" sz="600" dirty="0"/>
          </a:p>
          <a:p>
            <a:r>
              <a:rPr lang="es-ES" sz="600" dirty="0"/>
              <a:t>    </a:t>
            </a:r>
            <a:r>
              <a:rPr lang="es-ES" sz="600" dirty="0" err="1"/>
              <a:t>h_top</a:t>
            </a:r>
            <a:r>
              <a:rPr lang="es-ES" sz="600" dirty="0"/>
              <a:t> = </a:t>
            </a:r>
            <a:r>
              <a:rPr lang="es-ES" sz="600" dirty="0" err="1"/>
              <a:t>c.add_ref</a:t>
            </a:r>
            <a:r>
              <a:rPr lang="es-ES" sz="600" dirty="0"/>
              <a:t>(</a:t>
            </a:r>
            <a:r>
              <a:rPr lang="es-ES" sz="600" dirty="0" err="1"/>
              <a:t>guia_horizontal</a:t>
            </a:r>
            <a:r>
              <a:rPr lang="es-ES" sz="600" dirty="0"/>
              <a:t>)</a:t>
            </a:r>
          </a:p>
          <a:p>
            <a:r>
              <a:rPr lang="es-ES" sz="600" dirty="0"/>
              <a:t>    </a:t>
            </a:r>
            <a:r>
              <a:rPr lang="es-ES" sz="600" dirty="0" err="1"/>
              <a:t>h_top.connect</a:t>
            </a:r>
            <a:r>
              <a:rPr lang="es-ES" sz="600" dirty="0"/>
              <a:t>("o1", b2_top.ports["o2"])</a:t>
            </a:r>
          </a:p>
          <a:p>
            <a:br>
              <a:rPr lang="es-ES" sz="600" dirty="0"/>
            </a:br>
            <a:endParaRPr lang="es-ES" sz="600" dirty="0"/>
          </a:p>
          <a:p>
            <a:r>
              <a:rPr lang="es-ES" sz="600" dirty="0"/>
              <a:t>    b3_top = </a:t>
            </a:r>
            <a:r>
              <a:rPr lang="es-ES" sz="600" dirty="0" err="1"/>
              <a:t>c.add_ref</a:t>
            </a:r>
            <a:r>
              <a:rPr lang="es-ES" sz="600" dirty="0"/>
              <a:t>(b90)</a:t>
            </a:r>
          </a:p>
          <a:p>
            <a:r>
              <a:rPr lang="es-ES" sz="600" dirty="0"/>
              <a:t>    b3_top.mirror_y()</a:t>
            </a:r>
          </a:p>
          <a:p>
            <a:r>
              <a:rPr lang="es-ES" sz="600" dirty="0"/>
              <a:t>    b3_top.connect("o1", </a:t>
            </a:r>
            <a:r>
              <a:rPr lang="es-ES" sz="600" dirty="0" err="1"/>
              <a:t>h_top.ports</a:t>
            </a:r>
            <a:r>
              <a:rPr lang="es-ES" sz="600" dirty="0"/>
              <a:t>["o2"])</a:t>
            </a:r>
          </a:p>
          <a:p>
            <a:br>
              <a:rPr lang="es-ES" sz="600" dirty="0"/>
            </a:br>
            <a:endParaRPr lang="es-ES" sz="600" dirty="0"/>
          </a:p>
          <a:p>
            <a:r>
              <a:rPr lang="es-ES" sz="600" dirty="0"/>
              <a:t>    v2_top = </a:t>
            </a:r>
            <a:r>
              <a:rPr lang="es-ES" sz="600" dirty="0" err="1"/>
              <a:t>c.add_ref</a:t>
            </a:r>
            <a:r>
              <a:rPr lang="es-ES" sz="600" dirty="0"/>
              <a:t>(</a:t>
            </a:r>
            <a:r>
              <a:rPr lang="es-ES" sz="600" dirty="0" err="1"/>
              <a:t>guia_vertical_dL</a:t>
            </a:r>
            <a:r>
              <a:rPr lang="es-ES" sz="600" dirty="0"/>
              <a:t>)</a:t>
            </a:r>
          </a:p>
          <a:p>
            <a:r>
              <a:rPr lang="es-ES" sz="600" dirty="0"/>
              <a:t>    v2_top.connect("o1", b3_top.ports["o2"])</a:t>
            </a:r>
          </a:p>
          <a:p>
            <a:br>
              <a:rPr lang="es-ES" sz="600" dirty="0"/>
            </a:br>
            <a:endParaRPr lang="es-ES" sz="600" dirty="0"/>
          </a:p>
          <a:p>
            <a:r>
              <a:rPr lang="es-ES" sz="600" dirty="0"/>
              <a:t>    b4_top = </a:t>
            </a:r>
            <a:r>
              <a:rPr lang="es-ES" sz="600" dirty="0" err="1"/>
              <a:t>c.add_ref</a:t>
            </a:r>
            <a:r>
              <a:rPr lang="es-ES" sz="600" dirty="0"/>
              <a:t>(b90)</a:t>
            </a:r>
          </a:p>
          <a:p>
            <a:r>
              <a:rPr lang="es-ES" sz="600" dirty="0"/>
              <a:t>    b4_top.connect("o1", v2_top.ports["o2"])</a:t>
            </a:r>
          </a:p>
          <a:p>
            <a:br>
              <a:rPr lang="es-ES" sz="600" dirty="0"/>
            </a:br>
            <a:endParaRPr lang="es-ES" sz="600" dirty="0"/>
          </a:p>
          <a:p>
            <a:r>
              <a:rPr lang="es-ES" sz="600" dirty="0"/>
              <a:t>    # --- THERMAL TUNERS HORIZONTALES (Rodeando la guía sin tocarla) ---</a:t>
            </a:r>
          </a:p>
          <a:p>
            <a:r>
              <a:rPr lang="es-ES" sz="600" dirty="0"/>
              <a:t>    offset = (</a:t>
            </a:r>
            <a:r>
              <a:rPr lang="es-ES" sz="600" dirty="0" err="1"/>
              <a:t>width_wg</a:t>
            </a:r>
            <a:r>
              <a:rPr lang="es-ES" sz="600" dirty="0"/>
              <a:t> / 2.0) + </a:t>
            </a:r>
            <a:r>
              <a:rPr lang="es-ES" sz="600" dirty="0" err="1"/>
              <a:t>gap_tuner</a:t>
            </a:r>
            <a:r>
              <a:rPr lang="es-ES" sz="600" dirty="0"/>
              <a:t> + (</a:t>
            </a:r>
            <a:r>
              <a:rPr lang="es-ES" sz="600" dirty="0" err="1"/>
              <a:t>ancho_tuner</a:t>
            </a:r>
            <a:r>
              <a:rPr lang="es-ES" sz="600" dirty="0"/>
              <a:t> / 2.0)</a:t>
            </a:r>
          </a:p>
          <a:p>
            <a:r>
              <a:rPr lang="es-ES" sz="600" dirty="0"/>
              <a:t>    </a:t>
            </a:r>
            <a:r>
              <a:rPr lang="es-ES" sz="600" dirty="0" err="1"/>
              <a:t>tuner_rect</a:t>
            </a:r>
            <a:r>
              <a:rPr lang="es-ES" sz="600" dirty="0"/>
              <a:t> = </a:t>
            </a:r>
            <a:r>
              <a:rPr lang="es-ES" sz="600" dirty="0" err="1"/>
              <a:t>gf.components.rectangle</a:t>
            </a:r>
            <a:r>
              <a:rPr lang="es-ES" sz="600" dirty="0"/>
              <a:t>(</a:t>
            </a:r>
            <a:r>
              <a:rPr lang="es-ES" sz="600" dirty="0" err="1"/>
              <a:t>size</a:t>
            </a:r>
            <a:r>
              <a:rPr lang="es-ES" sz="600" dirty="0"/>
              <a:t>=(</a:t>
            </a:r>
            <a:r>
              <a:rPr lang="es-ES" sz="600" dirty="0" err="1"/>
              <a:t>L_h</a:t>
            </a:r>
            <a:r>
              <a:rPr lang="es-ES" sz="600" dirty="0"/>
              <a:t>, </a:t>
            </a:r>
            <a:r>
              <a:rPr lang="es-ES" sz="600" dirty="0" err="1"/>
              <a:t>ancho_tuner</a:t>
            </a:r>
            <a:r>
              <a:rPr lang="es-ES" sz="600" dirty="0"/>
              <a:t>), </a:t>
            </a:r>
            <a:r>
              <a:rPr lang="es-ES" sz="600" dirty="0" err="1"/>
              <a:t>layer</a:t>
            </a:r>
            <a:r>
              <a:rPr lang="es-ES" sz="600" dirty="0"/>
              <a:t>=</a:t>
            </a:r>
            <a:r>
              <a:rPr lang="es-ES" sz="600" dirty="0" err="1"/>
              <a:t>layer_heater</a:t>
            </a:r>
            <a:r>
              <a:rPr lang="es-ES" sz="600" dirty="0"/>
              <a:t>)</a:t>
            </a:r>
          </a:p>
          <a:p>
            <a:br>
              <a:rPr lang="es-ES" sz="600" dirty="0"/>
            </a:br>
            <a:endParaRPr lang="es-ES" sz="600" dirty="0"/>
          </a:p>
          <a:p>
            <a:r>
              <a:rPr lang="es-ES" sz="600" dirty="0"/>
              <a:t>    # Calentadores del Brazo Superior (Flanquean horizontalmente a </a:t>
            </a:r>
            <a:r>
              <a:rPr lang="es-ES" sz="600" dirty="0" err="1"/>
              <a:t>h_top</a:t>
            </a:r>
            <a:r>
              <a:rPr lang="es-ES" sz="600" dirty="0"/>
              <a:t>)</a:t>
            </a:r>
          </a:p>
          <a:p>
            <a:r>
              <a:rPr lang="es-ES" sz="600" dirty="0"/>
              <a:t>    </a:t>
            </a:r>
            <a:r>
              <a:rPr lang="es-ES" sz="600" dirty="0" err="1"/>
              <a:t>t_top_above</a:t>
            </a:r>
            <a:r>
              <a:rPr lang="es-ES" sz="600" dirty="0"/>
              <a:t> = </a:t>
            </a:r>
            <a:r>
              <a:rPr lang="es-ES" sz="600" dirty="0" err="1"/>
              <a:t>c.add_ref</a:t>
            </a:r>
            <a:r>
              <a:rPr lang="es-ES" sz="600" dirty="0"/>
              <a:t>(</a:t>
            </a:r>
            <a:r>
              <a:rPr lang="es-ES" sz="600" dirty="0" err="1"/>
              <a:t>tuner_rect</a:t>
            </a:r>
            <a:r>
              <a:rPr lang="es-ES" sz="600" dirty="0"/>
              <a:t>); </a:t>
            </a:r>
            <a:r>
              <a:rPr lang="es-ES" sz="600" dirty="0" err="1"/>
              <a:t>t_top_above.center</a:t>
            </a:r>
            <a:r>
              <a:rPr lang="es-ES" sz="600" dirty="0"/>
              <a:t> = </a:t>
            </a:r>
            <a:r>
              <a:rPr lang="es-ES" sz="600" dirty="0" err="1"/>
              <a:t>h_top.center</a:t>
            </a:r>
            <a:r>
              <a:rPr lang="es-ES" sz="600" dirty="0"/>
              <a:t>; </a:t>
            </a:r>
            <a:r>
              <a:rPr lang="es-ES" sz="600" dirty="0" err="1"/>
              <a:t>t_top_above.movey</a:t>
            </a:r>
            <a:r>
              <a:rPr lang="es-ES" sz="600" dirty="0"/>
              <a:t>(offset)</a:t>
            </a:r>
          </a:p>
          <a:p>
            <a:r>
              <a:rPr lang="es-ES" sz="600" dirty="0"/>
              <a:t>    </a:t>
            </a:r>
            <a:r>
              <a:rPr lang="es-ES" sz="600" dirty="0" err="1"/>
              <a:t>t_top_below</a:t>
            </a:r>
            <a:r>
              <a:rPr lang="es-ES" sz="600" dirty="0"/>
              <a:t> = </a:t>
            </a:r>
            <a:r>
              <a:rPr lang="es-ES" sz="600" dirty="0" err="1"/>
              <a:t>c.add_ref</a:t>
            </a:r>
            <a:r>
              <a:rPr lang="es-ES" sz="600" dirty="0"/>
              <a:t>(</a:t>
            </a:r>
            <a:r>
              <a:rPr lang="es-ES" sz="600" dirty="0" err="1"/>
              <a:t>tuner_rect</a:t>
            </a:r>
            <a:r>
              <a:rPr lang="es-ES" sz="600" dirty="0"/>
              <a:t>); </a:t>
            </a:r>
            <a:r>
              <a:rPr lang="es-ES" sz="600" dirty="0" err="1"/>
              <a:t>t_top_below.center</a:t>
            </a:r>
            <a:r>
              <a:rPr lang="es-ES" sz="600" dirty="0"/>
              <a:t> = </a:t>
            </a:r>
            <a:r>
              <a:rPr lang="es-ES" sz="600" dirty="0" err="1"/>
              <a:t>h_top.center</a:t>
            </a:r>
            <a:r>
              <a:rPr lang="es-ES" sz="600" dirty="0"/>
              <a:t>; </a:t>
            </a:r>
            <a:r>
              <a:rPr lang="es-ES" sz="600" dirty="0" err="1"/>
              <a:t>t_top_below.movey</a:t>
            </a:r>
            <a:r>
              <a:rPr lang="es-ES" sz="600" dirty="0"/>
              <a:t>(-offset)</a:t>
            </a:r>
          </a:p>
          <a:p>
            <a:br>
              <a:rPr lang="es-ES" sz="600" dirty="0"/>
            </a:br>
            <a:endParaRPr lang="es-ES" sz="600" dirty="0"/>
          </a:p>
          <a:p>
            <a:r>
              <a:rPr lang="es-ES" sz="600" dirty="0"/>
              <a:t>    # Calentadores del Brazo Inferior (Flanquean horizontalmente a </a:t>
            </a:r>
            <a:r>
              <a:rPr lang="es-ES" sz="600" dirty="0" err="1"/>
              <a:t>h_bot</a:t>
            </a:r>
            <a:r>
              <a:rPr lang="es-ES" sz="600" dirty="0"/>
              <a:t>)</a:t>
            </a:r>
          </a:p>
          <a:p>
            <a:r>
              <a:rPr lang="es-ES" sz="600" dirty="0"/>
              <a:t>    </a:t>
            </a:r>
            <a:r>
              <a:rPr lang="es-ES" sz="600" dirty="0" err="1"/>
              <a:t>t_bot_above</a:t>
            </a:r>
            <a:r>
              <a:rPr lang="es-ES" sz="600" dirty="0"/>
              <a:t> = </a:t>
            </a:r>
            <a:r>
              <a:rPr lang="es-ES" sz="600" dirty="0" err="1"/>
              <a:t>c.add_ref</a:t>
            </a:r>
            <a:r>
              <a:rPr lang="es-ES" sz="600" dirty="0"/>
              <a:t>(</a:t>
            </a:r>
            <a:r>
              <a:rPr lang="es-ES" sz="600" dirty="0" err="1"/>
              <a:t>tuner_rect</a:t>
            </a:r>
            <a:r>
              <a:rPr lang="es-ES" sz="600" dirty="0"/>
              <a:t>); </a:t>
            </a:r>
            <a:r>
              <a:rPr lang="es-ES" sz="600" dirty="0" err="1"/>
              <a:t>t_bot_above.center</a:t>
            </a:r>
            <a:r>
              <a:rPr lang="es-ES" sz="600" dirty="0"/>
              <a:t> = </a:t>
            </a:r>
            <a:r>
              <a:rPr lang="es-ES" sz="600" dirty="0" err="1"/>
              <a:t>h_bot.center</a:t>
            </a:r>
            <a:r>
              <a:rPr lang="es-ES" sz="600" dirty="0"/>
              <a:t>; </a:t>
            </a:r>
            <a:r>
              <a:rPr lang="es-ES" sz="600" dirty="0" err="1"/>
              <a:t>t_bot_above.movey</a:t>
            </a:r>
            <a:r>
              <a:rPr lang="es-ES" sz="600" dirty="0"/>
              <a:t>(offset)</a:t>
            </a:r>
          </a:p>
          <a:p>
            <a:r>
              <a:rPr lang="es-ES" sz="600" dirty="0"/>
              <a:t>    </a:t>
            </a:r>
            <a:r>
              <a:rPr lang="es-ES" sz="600" dirty="0" err="1"/>
              <a:t>t_bot_below</a:t>
            </a:r>
            <a:r>
              <a:rPr lang="es-ES" sz="600" dirty="0"/>
              <a:t> = </a:t>
            </a:r>
            <a:r>
              <a:rPr lang="es-ES" sz="600" dirty="0" err="1"/>
              <a:t>c.add_ref</a:t>
            </a:r>
            <a:r>
              <a:rPr lang="es-ES" sz="600" dirty="0"/>
              <a:t>(</a:t>
            </a:r>
            <a:r>
              <a:rPr lang="es-ES" sz="600" dirty="0" err="1"/>
              <a:t>tuner_rect</a:t>
            </a:r>
            <a:r>
              <a:rPr lang="es-ES" sz="600" dirty="0"/>
              <a:t>); </a:t>
            </a:r>
            <a:r>
              <a:rPr lang="es-ES" sz="600" dirty="0" err="1"/>
              <a:t>t_bot_below.center</a:t>
            </a:r>
            <a:r>
              <a:rPr lang="es-ES" sz="600" dirty="0"/>
              <a:t> = </a:t>
            </a:r>
            <a:r>
              <a:rPr lang="es-ES" sz="600" dirty="0" err="1"/>
              <a:t>h_bot.center</a:t>
            </a:r>
            <a:r>
              <a:rPr lang="es-ES" sz="600" dirty="0"/>
              <a:t>; </a:t>
            </a:r>
            <a:r>
              <a:rPr lang="es-ES" sz="600" dirty="0" err="1"/>
              <a:t>t_bot_below.movey</a:t>
            </a:r>
            <a:r>
              <a:rPr lang="es-ES" sz="600" dirty="0"/>
              <a:t>(-offset)</a:t>
            </a:r>
          </a:p>
          <a:p>
            <a:br>
              <a:rPr lang="es-ES" sz="600" dirty="0"/>
            </a:br>
            <a:endParaRPr lang="es-ES" sz="600" dirty="0"/>
          </a:p>
          <a:p>
            <a:r>
              <a:rPr lang="es-ES" sz="600" dirty="0"/>
              <a:t>    # Puertos locales del MZI</a:t>
            </a:r>
          </a:p>
          <a:p>
            <a:r>
              <a:rPr lang="es-ES" sz="600" dirty="0"/>
              <a:t>    </a:t>
            </a:r>
            <a:r>
              <a:rPr lang="es-ES" sz="600" dirty="0" err="1"/>
              <a:t>c.add_port</a:t>
            </a:r>
            <a:r>
              <a:rPr lang="es-ES" sz="600" dirty="0"/>
              <a:t>("</a:t>
            </a:r>
            <a:r>
              <a:rPr lang="es-ES" sz="600" dirty="0" err="1"/>
              <a:t>in_top</a:t>
            </a:r>
            <a:r>
              <a:rPr lang="es-ES" sz="600" dirty="0"/>
              <a:t>", </a:t>
            </a:r>
            <a:r>
              <a:rPr lang="es-ES" sz="600" dirty="0" err="1"/>
              <a:t>port</a:t>
            </a:r>
            <a:r>
              <a:rPr lang="es-ES" sz="600" dirty="0"/>
              <a:t>=</a:t>
            </a:r>
            <a:r>
              <a:rPr lang="es-ES" sz="600" dirty="0" err="1"/>
              <a:t>splitter.ports</a:t>
            </a:r>
            <a:r>
              <a:rPr lang="es-ES" sz="600" dirty="0"/>
              <a:t>["</a:t>
            </a:r>
            <a:r>
              <a:rPr lang="es-ES" sz="600" dirty="0" err="1"/>
              <a:t>in_top</a:t>
            </a:r>
            <a:r>
              <a:rPr lang="es-ES" sz="600" dirty="0"/>
              <a:t>"])</a:t>
            </a:r>
          </a:p>
          <a:p>
            <a:r>
              <a:rPr lang="es-ES" sz="600" dirty="0"/>
              <a:t>    </a:t>
            </a:r>
            <a:r>
              <a:rPr lang="es-ES" sz="600" dirty="0" err="1"/>
              <a:t>c.add_port</a:t>
            </a:r>
            <a:r>
              <a:rPr lang="es-ES" sz="600" dirty="0"/>
              <a:t>("</a:t>
            </a:r>
            <a:r>
              <a:rPr lang="es-ES" sz="600" dirty="0" err="1"/>
              <a:t>in_bot</a:t>
            </a:r>
            <a:r>
              <a:rPr lang="es-ES" sz="600" dirty="0"/>
              <a:t>", </a:t>
            </a:r>
            <a:r>
              <a:rPr lang="es-ES" sz="600" dirty="0" err="1"/>
              <a:t>port</a:t>
            </a:r>
            <a:r>
              <a:rPr lang="es-ES" sz="600" dirty="0"/>
              <a:t>=</a:t>
            </a:r>
            <a:r>
              <a:rPr lang="es-ES" sz="600" dirty="0" err="1"/>
              <a:t>splitter.ports</a:t>
            </a:r>
            <a:r>
              <a:rPr lang="es-ES" sz="600" dirty="0"/>
              <a:t>["</a:t>
            </a:r>
            <a:r>
              <a:rPr lang="es-ES" sz="600" dirty="0" err="1"/>
              <a:t>in_bot</a:t>
            </a:r>
            <a:r>
              <a:rPr lang="es-ES" sz="600" dirty="0"/>
              <a:t>"])</a:t>
            </a:r>
          </a:p>
          <a:p>
            <a:r>
              <a:rPr lang="es-ES" sz="600" dirty="0"/>
              <a:t>    </a:t>
            </a:r>
            <a:r>
              <a:rPr lang="es-ES" sz="600" dirty="0" err="1"/>
              <a:t>c.add_port</a:t>
            </a:r>
            <a:r>
              <a:rPr lang="es-ES" sz="600" dirty="0"/>
              <a:t>("</a:t>
            </a:r>
            <a:r>
              <a:rPr lang="es-ES" sz="600" dirty="0" err="1"/>
              <a:t>out_top</a:t>
            </a:r>
            <a:r>
              <a:rPr lang="es-ES" sz="600" dirty="0"/>
              <a:t>", </a:t>
            </a:r>
            <a:r>
              <a:rPr lang="es-ES" sz="600" dirty="0" err="1"/>
              <a:t>port</a:t>
            </a:r>
            <a:r>
              <a:rPr lang="es-ES" sz="600" dirty="0"/>
              <a:t>=</a:t>
            </a:r>
            <a:r>
              <a:rPr lang="es-ES" sz="600" dirty="0" err="1"/>
              <a:t>combiner.ports</a:t>
            </a:r>
            <a:r>
              <a:rPr lang="es-ES" sz="600" dirty="0"/>
              <a:t>["</a:t>
            </a:r>
            <a:r>
              <a:rPr lang="es-ES" sz="600" dirty="0" err="1"/>
              <a:t>out_top</a:t>
            </a:r>
            <a:r>
              <a:rPr lang="es-ES" sz="600" dirty="0"/>
              <a:t>"])</a:t>
            </a:r>
          </a:p>
          <a:p>
            <a:r>
              <a:rPr lang="es-ES" sz="600" dirty="0"/>
              <a:t>    </a:t>
            </a:r>
            <a:r>
              <a:rPr lang="es-ES" sz="600" dirty="0" err="1"/>
              <a:t>c.add_port</a:t>
            </a:r>
            <a:r>
              <a:rPr lang="es-ES" sz="600" dirty="0"/>
              <a:t>("</a:t>
            </a:r>
            <a:r>
              <a:rPr lang="es-ES" sz="600" dirty="0" err="1"/>
              <a:t>out_bot</a:t>
            </a:r>
            <a:r>
              <a:rPr lang="es-ES" sz="600" dirty="0"/>
              <a:t>", </a:t>
            </a:r>
            <a:r>
              <a:rPr lang="es-ES" sz="600" dirty="0" err="1"/>
              <a:t>port</a:t>
            </a:r>
            <a:r>
              <a:rPr lang="es-ES" sz="600" dirty="0"/>
              <a:t>=</a:t>
            </a:r>
            <a:r>
              <a:rPr lang="es-ES" sz="600" dirty="0" err="1"/>
              <a:t>combiner.ports</a:t>
            </a:r>
            <a:r>
              <a:rPr lang="es-ES" sz="600" dirty="0"/>
              <a:t>["</a:t>
            </a:r>
            <a:r>
              <a:rPr lang="es-ES" sz="600" dirty="0" err="1"/>
              <a:t>out_bot</a:t>
            </a:r>
            <a:r>
              <a:rPr lang="es-ES" sz="600" dirty="0"/>
              <a:t>"])</a:t>
            </a:r>
          </a:p>
          <a:p>
            <a:r>
              <a:rPr lang="es-ES" sz="600" dirty="0"/>
              <a:t>    </a:t>
            </a:r>
          </a:p>
          <a:p>
            <a:r>
              <a:rPr lang="es-ES" sz="600" dirty="0"/>
              <a:t>    </a:t>
            </a:r>
            <a:r>
              <a:rPr lang="es-ES" sz="600" dirty="0" err="1"/>
              <a:t>return</a:t>
            </a:r>
            <a:r>
              <a:rPr lang="es-ES" sz="600" dirty="0"/>
              <a:t> c</a:t>
            </a:r>
          </a:p>
          <a:p>
            <a:br>
              <a:rPr lang="es-ES" sz="600" dirty="0"/>
            </a:br>
            <a:br>
              <a:rPr lang="es-ES" sz="600" dirty="0"/>
            </a:br>
            <a:endParaRPr lang="es-ES" sz="600" dirty="0"/>
          </a:p>
          <a:p>
            <a:r>
              <a:rPr lang="es-ES" sz="600" dirty="0"/>
              <a:t># =======================================================================</a:t>
            </a:r>
          </a:p>
          <a:p>
            <a:r>
              <a:rPr lang="es-ES" sz="600" dirty="0"/>
              <a:t># 2. CELDA INTERMEDIA (Nivel medio: Estructura del Die + Extensiones)</a:t>
            </a:r>
          </a:p>
          <a:p>
            <a:r>
              <a:rPr lang="es-ES" sz="600" dirty="0"/>
              <a:t># =======================================================================</a:t>
            </a:r>
          </a:p>
          <a:p>
            <a:r>
              <a:rPr lang="es-ES" sz="600" dirty="0"/>
              <a:t>@gf.cell</a:t>
            </a:r>
          </a:p>
          <a:p>
            <a:r>
              <a:rPr lang="es-ES" sz="600" dirty="0" err="1"/>
              <a:t>def</a:t>
            </a:r>
            <a:r>
              <a:rPr lang="es-ES" sz="600" dirty="0"/>
              <a:t> </a:t>
            </a:r>
            <a:r>
              <a:rPr lang="es-ES" sz="600" dirty="0" err="1"/>
              <a:t>die_mzi</a:t>
            </a:r>
            <a:r>
              <a:rPr lang="es-ES" sz="600" dirty="0"/>
              <a:t>(</a:t>
            </a:r>
            <a:r>
              <a:rPr lang="es-ES" sz="600" dirty="0" err="1"/>
              <a:t>dieL</a:t>
            </a:r>
            <a:r>
              <a:rPr lang="es-ES" sz="600" dirty="0"/>
              <a:t>=200, </a:t>
            </a:r>
            <a:r>
              <a:rPr lang="es-ES" sz="600" dirty="0" err="1"/>
              <a:t>dieW</a:t>
            </a:r>
            <a:r>
              <a:rPr lang="es-ES" sz="600" dirty="0"/>
              <a:t>=200, </a:t>
            </a:r>
            <a:r>
              <a:rPr lang="es-ES" sz="600" dirty="0" err="1"/>
              <a:t>border</a:t>
            </a:r>
            <a:r>
              <a:rPr lang="es-ES" sz="600" dirty="0"/>
              <a:t>=10, </a:t>
            </a:r>
            <a:r>
              <a:rPr lang="es-ES" sz="600" dirty="0" err="1"/>
              <a:t>layer_box</a:t>
            </a:r>
            <a:r>
              <a:rPr lang="es-ES" sz="600" dirty="0"/>
              <a:t>="FLOORPLAN") -&gt; </a:t>
            </a:r>
            <a:r>
              <a:rPr lang="es-ES" sz="600" dirty="0" err="1"/>
              <a:t>gf.Component</a:t>
            </a:r>
            <a:r>
              <a:rPr lang="es-ES" sz="600" dirty="0"/>
              <a:t>:</a:t>
            </a:r>
          </a:p>
          <a:p>
            <a:r>
              <a:rPr lang="es-ES" sz="600" dirty="0"/>
              <a:t>    """Celda que fabrica el marco booleano del chip e integra el MZI centrado."""</a:t>
            </a:r>
          </a:p>
          <a:p>
            <a:r>
              <a:rPr lang="es-ES" sz="600" dirty="0"/>
              <a:t>    box = </a:t>
            </a:r>
            <a:r>
              <a:rPr lang="es-ES" sz="600" dirty="0" err="1"/>
              <a:t>gf.Component</a:t>
            </a:r>
            <a:r>
              <a:rPr lang="es-ES" sz="600" dirty="0"/>
              <a:t>("</a:t>
            </a:r>
            <a:r>
              <a:rPr lang="es-ES" sz="600" dirty="0" err="1"/>
              <a:t>Die_MZI_Cell</a:t>
            </a:r>
            <a:r>
              <a:rPr lang="es-ES" sz="600" dirty="0"/>
              <a:t>")</a:t>
            </a:r>
          </a:p>
          <a:p>
            <a:r>
              <a:rPr lang="es-ES" sz="600" dirty="0"/>
              <a:t>    </a:t>
            </a:r>
          </a:p>
          <a:p>
            <a:r>
              <a:rPr lang="es-ES" sz="600" dirty="0"/>
              <a:t>    # --- Marco del Die (Tu estructura booleana exacta) ---</a:t>
            </a:r>
          </a:p>
          <a:p>
            <a:r>
              <a:rPr lang="es-ES" sz="600" dirty="0"/>
              <a:t>    </a:t>
            </a:r>
            <a:r>
              <a:rPr lang="es-ES" sz="600" dirty="0" err="1"/>
              <a:t>obox</a:t>
            </a:r>
            <a:r>
              <a:rPr lang="es-ES" sz="600" dirty="0"/>
              <a:t> = </a:t>
            </a:r>
            <a:r>
              <a:rPr lang="es-ES" sz="600" dirty="0" err="1"/>
              <a:t>box.add_ref</a:t>
            </a:r>
            <a:r>
              <a:rPr lang="es-ES" sz="600" dirty="0"/>
              <a:t>(</a:t>
            </a:r>
            <a:r>
              <a:rPr lang="es-ES" sz="600" dirty="0" err="1"/>
              <a:t>gf.components.rectangle</a:t>
            </a:r>
            <a:r>
              <a:rPr lang="es-ES" sz="600" dirty="0"/>
              <a:t>(</a:t>
            </a:r>
            <a:r>
              <a:rPr lang="es-ES" sz="600" dirty="0" err="1"/>
              <a:t>size</a:t>
            </a:r>
            <a:r>
              <a:rPr lang="es-ES" sz="600" dirty="0"/>
              <a:t>=(</a:t>
            </a:r>
            <a:r>
              <a:rPr lang="es-ES" sz="600" dirty="0" err="1"/>
              <a:t>dieW</a:t>
            </a:r>
            <a:r>
              <a:rPr lang="es-ES" sz="600" dirty="0"/>
              <a:t>, </a:t>
            </a:r>
            <a:r>
              <a:rPr lang="es-ES" sz="600" dirty="0" err="1"/>
              <a:t>dieL</a:t>
            </a:r>
            <a:r>
              <a:rPr lang="es-ES" sz="600" dirty="0"/>
              <a:t>), </a:t>
            </a:r>
            <a:r>
              <a:rPr lang="es-ES" sz="600" dirty="0" err="1"/>
              <a:t>layer</a:t>
            </a:r>
            <a:r>
              <a:rPr lang="es-ES" sz="600" dirty="0"/>
              <a:t>=</a:t>
            </a:r>
            <a:r>
              <a:rPr lang="es-ES" sz="600" dirty="0" err="1"/>
              <a:t>layer_box</a:t>
            </a:r>
            <a:r>
              <a:rPr lang="es-ES" sz="600" dirty="0"/>
              <a:t>))</a:t>
            </a:r>
          </a:p>
          <a:p>
            <a:r>
              <a:rPr lang="es-ES" sz="600" dirty="0"/>
              <a:t>    </a:t>
            </a:r>
            <a:r>
              <a:rPr lang="es-ES" sz="600" dirty="0" err="1"/>
              <a:t>ibox</a:t>
            </a:r>
            <a:r>
              <a:rPr lang="es-ES" sz="600" dirty="0"/>
              <a:t> = </a:t>
            </a:r>
            <a:r>
              <a:rPr lang="es-ES" sz="600" dirty="0" err="1"/>
              <a:t>box.add_ref</a:t>
            </a:r>
            <a:r>
              <a:rPr lang="es-ES" sz="600" dirty="0"/>
              <a:t>(</a:t>
            </a:r>
            <a:r>
              <a:rPr lang="es-ES" sz="600" dirty="0" err="1"/>
              <a:t>gf.components.rectangle</a:t>
            </a:r>
            <a:r>
              <a:rPr lang="es-ES" sz="600" dirty="0"/>
              <a:t>(</a:t>
            </a:r>
            <a:r>
              <a:rPr lang="es-ES" sz="600" dirty="0" err="1"/>
              <a:t>size</a:t>
            </a:r>
            <a:r>
              <a:rPr lang="es-ES" sz="600" dirty="0"/>
              <a:t>=(</a:t>
            </a:r>
            <a:r>
              <a:rPr lang="es-ES" sz="600" dirty="0" err="1"/>
              <a:t>dieW</a:t>
            </a:r>
            <a:r>
              <a:rPr lang="es-ES" sz="600" dirty="0"/>
              <a:t> - </a:t>
            </a:r>
            <a:r>
              <a:rPr lang="es-ES" sz="600" dirty="0" err="1"/>
              <a:t>border</a:t>
            </a:r>
            <a:r>
              <a:rPr lang="es-ES" sz="600" dirty="0"/>
              <a:t> * 2, </a:t>
            </a:r>
            <a:r>
              <a:rPr lang="es-ES" sz="600" dirty="0" err="1"/>
              <a:t>dieL</a:t>
            </a:r>
            <a:r>
              <a:rPr lang="es-ES" sz="600" dirty="0"/>
              <a:t> - </a:t>
            </a:r>
            <a:r>
              <a:rPr lang="es-ES" sz="600" dirty="0" err="1"/>
              <a:t>border</a:t>
            </a:r>
            <a:r>
              <a:rPr lang="es-ES" sz="600" dirty="0"/>
              <a:t> * 2), </a:t>
            </a:r>
            <a:r>
              <a:rPr lang="es-ES" sz="600" dirty="0" err="1"/>
              <a:t>layer</a:t>
            </a:r>
            <a:r>
              <a:rPr lang="es-ES" sz="600" dirty="0"/>
              <a:t>=</a:t>
            </a:r>
            <a:r>
              <a:rPr lang="es-ES" sz="600" dirty="0" err="1"/>
              <a:t>layer_box</a:t>
            </a:r>
            <a:r>
              <a:rPr lang="es-ES" sz="600" dirty="0"/>
              <a:t>)).</a:t>
            </a:r>
            <a:r>
              <a:rPr lang="es-ES" sz="600" dirty="0" err="1"/>
              <a:t>dmovex</a:t>
            </a:r>
            <a:r>
              <a:rPr lang="es-ES" sz="600" dirty="0"/>
              <a:t>(</a:t>
            </a:r>
            <a:r>
              <a:rPr lang="es-ES" sz="600" dirty="0" err="1"/>
              <a:t>border</a:t>
            </a:r>
            <a:r>
              <a:rPr lang="es-ES" sz="600" dirty="0"/>
              <a:t>).</a:t>
            </a:r>
            <a:r>
              <a:rPr lang="es-ES" sz="600" dirty="0" err="1"/>
              <a:t>dmovey</a:t>
            </a:r>
            <a:r>
              <a:rPr lang="es-ES" sz="600" dirty="0"/>
              <a:t>(</a:t>
            </a:r>
            <a:r>
              <a:rPr lang="es-ES" sz="600" dirty="0" err="1"/>
              <a:t>border</a:t>
            </a:r>
            <a:r>
              <a:rPr lang="es-ES" sz="600" dirty="0"/>
              <a:t>)</a:t>
            </a:r>
          </a:p>
          <a:p>
            <a:r>
              <a:rPr lang="es-ES" sz="600" dirty="0"/>
              <a:t>    </a:t>
            </a:r>
            <a:r>
              <a:rPr lang="es-ES" sz="600" dirty="0" err="1"/>
              <a:t>box_frame</a:t>
            </a:r>
            <a:r>
              <a:rPr lang="es-ES" sz="600" dirty="0"/>
              <a:t> = </a:t>
            </a:r>
            <a:r>
              <a:rPr lang="es-ES" sz="600" dirty="0" err="1"/>
              <a:t>gf.boolean</a:t>
            </a:r>
            <a:r>
              <a:rPr lang="es-ES" sz="600" dirty="0"/>
              <a:t>(A=</a:t>
            </a:r>
            <a:r>
              <a:rPr lang="es-ES" sz="600" dirty="0" err="1"/>
              <a:t>obox</a:t>
            </a:r>
            <a:r>
              <a:rPr lang="es-ES" sz="600" dirty="0"/>
              <a:t>, B=</a:t>
            </a:r>
            <a:r>
              <a:rPr lang="es-ES" sz="600" dirty="0" err="1"/>
              <a:t>ibox</a:t>
            </a:r>
            <a:r>
              <a:rPr lang="es-ES" sz="600" dirty="0"/>
              <a:t>, </a:t>
            </a:r>
            <a:r>
              <a:rPr lang="es-ES" sz="600" dirty="0" err="1"/>
              <a:t>operation</a:t>
            </a:r>
            <a:r>
              <a:rPr lang="es-ES" sz="600" dirty="0"/>
              <a:t>="A-B", </a:t>
            </a:r>
            <a:r>
              <a:rPr lang="es-ES" sz="600" dirty="0" err="1"/>
              <a:t>layer</a:t>
            </a:r>
            <a:r>
              <a:rPr lang="es-ES" sz="600" dirty="0"/>
              <a:t>=</a:t>
            </a:r>
            <a:r>
              <a:rPr lang="es-ES" sz="600" dirty="0" err="1"/>
              <a:t>layer_box</a:t>
            </a:r>
            <a:r>
              <a:rPr lang="es-ES" sz="600" dirty="0"/>
              <a:t>)</a:t>
            </a:r>
          </a:p>
          <a:p>
            <a:r>
              <a:rPr lang="es-ES" sz="600" dirty="0"/>
              <a:t>    </a:t>
            </a:r>
            <a:r>
              <a:rPr lang="es-ES" sz="600" dirty="0" err="1"/>
              <a:t>box.add_ref</a:t>
            </a:r>
            <a:r>
              <a:rPr lang="es-ES" sz="600" dirty="0"/>
              <a:t>(</a:t>
            </a:r>
            <a:r>
              <a:rPr lang="es-ES" sz="600" dirty="0" err="1"/>
              <a:t>box_frame</a:t>
            </a:r>
            <a:r>
              <a:rPr lang="es-ES" sz="600" dirty="0"/>
              <a:t>)</a:t>
            </a:r>
          </a:p>
          <a:p>
            <a:br>
              <a:rPr lang="es-ES" sz="600" dirty="0"/>
            </a:br>
            <a:endParaRPr lang="es-ES" sz="600" dirty="0"/>
          </a:p>
          <a:p>
            <a:r>
              <a:rPr lang="es-ES" sz="600" dirty="0"/>
              <a:t>    # Puerto de anclaje de la esquina solicitado</a:t>
            </a:r>
          </a:p>
          <a:p>
            <a:r>
              <a:rPr lang="es-ES" sz="600" dirty="0"/>
              <a:t>    </a:t>
            </a:r>
            <a:r>
              <a:rPr lang="es-ES" sz="600" dirty="0" err="1"/>
              <a:t>box.add_port</a:t>
            </a:r>
            <a:r>
              <a:rPr lang="es-ES" sz="600" dirty="0"/>
              <a:t>(</a:t>
            </a:r>
            <a:r>
              <a:rPr lang="es-ES" sz="600" dirty="0" err="1"/>
              <a:t>name</a:t>
            </a:r>
            <a:r>
              <a:rPr lang="es-ES" sz="600" dirty="0"/>
              <a:t>="</a:t>
            </a:r>
            <a:r>
              <a:rPr lang="es-ES" sz="600" dirty="0" err="1"/>
              <a:t>block@org</a:t>
            </a:r>
            <a:r>
              <a:rPr lang="es-ES" sz="600" dirty="0"/>
              <a:t>", center=[</a:t>
            </a:r>
            <a:r>
              <a:rPr lang="es-ES" sz="600" dirty="0" err="1"/>
              <a:t>border</a:t>
            </a:r>
            <a:r>
              <a:rPr lang="es-ES" sz="600" dirty="0"/>
              <a:t>, </a:t>
            </a:r>
            <a:r>
              <a:rPr lang="es-ES" sz="600" dirty="0" err="1"/>
              <a:t>border</a:t>
            </a:r>
            <a:r>
              <a:rPr lang="es-ES" sz="600" dirty="0"/>
              <a:t>], </a:t>
            </a:r>
            <a:r>
              <a:rPr lang="es-ES" sz="600" dirty="0" err="1"/>
              <a:t>width</a:t>
            </a:r>
            <a:r>
              <a:rPr lang="es-ES" sz="600" dirty="0"/>
              <a:t>=1, </a:t>
            </a:r>
            <a:r>
              <a:rPr lang="es-ES" sz="600" dirty="0" err="1"/>
              <a:t>orientation</a:t>
            </a:r>
            <a:r>
              <a:rPr lang="es-ES" sz="600" dirty="0"/>
              <a:t>=0, </a:t>
            </a:r>
            <a:r>
              <a:rPr lang="es-ES" sz="600" dirty="0" err="1"/>
              <a:t>layer</a:t>
            </a:r>
            <a:r>
              <a:rPr lang="es-ES" sz="600" dirty="0"/>
              <a:t>=</a:t>
            </a:r>
            <a:r>
              <a:rPr lang="es-ES" sz="600" dirty="0" err="1"/>
              <a:t>layer_box</a:t>
            </a:r>
            <a:r>
              <a:rPr lang="es-ES" sz="600" dirty="0"/>
              <a:t>)</a:t>
            </a:r>
          </a:p>
          <a:p>
            <a:br>
              <a:rPr lang="es-ES" sz="600" dirty="0"/>
            </a:br>
            <a:endParaRPr lang="es-ES" sz="600" dirty="0"/>
          </a:p>
          <a:p>
            <a:r>
              <a:rPr lang="es-ES" sz="600" dirty="0"/>
              <a:t>    # --- Instanciamos el MZI con </a:t>
            </a:r>
            <a:r>
              <a:rPr lang="es-ES" sz="600" dirty="0" err="1"/>
              <a:t>tuners</a:t>
            </a:r>
            <a:r>
              <a:rPr lang="es-ES" sz="600" dirty="0"/>
              <a:t> en el centro del Die ---</a:t>
            </a:r>
          </a:p>
          <a:p>
            <a:r>
              <a:rPr lang="es-ES" sz="600" dirty="0"/>
              <a:t>    </a:t>
            </a:r>
            <a:r>
              <a:rPr lang="es-ES" sz="600" dirty="0" err="1"/>
              <a:t>mzi_ref</a:t>
            </a:r>
            <a:r>
              <a:rPr lang="es-ES" sz="600" dirty="0"/>
              <a:t> = </a:t>
            </a:r>
            <a:r>
              <a:rPr lang="es-ES" sz="600" dirty="0" err="1"/>
              <a:t>box.add_ref</a:t>
            </a:r>
            <a:r>
              <a:rPr lang="es-ES" sz="600" dirty="0"/>
              <a:t>(</a:t>
            </a:r>
            <a:r>
              <a:rPr lang="es-ES" sz="600" dirty="0" err="1"/>
              <a:t>mzi_base</a:t>
            </a:r>
            <a:r>
              <a:rPr lang="es-ES" sz="600" dirty="0"/>
              <a:t>())</a:t>
            </a:r>
          </a:p>
          <a:p>
            <a:r>
              <a:rPr lang="es-ES" sz="600" dirty="0"/>
              <a:t>    </a:t>
            </a:r>
            <a:r>
              <a:rPr lang="es-ES" sz="600" dirty="0" err="1"/>
              <a:t>mzi_ref.center</a:t>
            </a:r>
            <a:r>
              <a:rPr lang="es-ES" sz="600" dirty="0"/>
              <a:t> = (</a:t>
            </a:r>
            <a:r>
              <a:rPr lang="es-ES" sz="600" dirty="0" err="1"/>
              <a:t>dieW</a:t>
            </a:r>
            <a:r>
              <a:rPr lang="es-ES" sz="600" dirty="0"/>
              <a:t> / 2, </a:t>
            </a:r>
            <a:r>
              <a:rPr lang="es-ES" sz="600" dirty="0" err="1"/>
              <a:t>dieL</a:t>
            </a:r>
            <a:r>
              <a:rPr lang="es-ES" sz="600" dirty="0"/>
              <a:t> / 2)</a:t>
            </a:r>
          </a:p>
          <a:p>
            <a:br>
              <a:rPr lang="es-ES" sz="600" dirty="0"/>
            </a:br>
            <a:endParaRPr lang="es-ES" sz="600" dirty="0"/>
          </a:p>
          <a:p>
            <a:r>
              <a:rPr lang="es-ES" sz="600" dirty="0"/>
              <a:t>    # --- Extensiones de las guías de onda largas hasta los bordes del chip ---</a:t>
            </a:r>
          </a:p>
          <a:p>
            <a:r>
              <a:rPr lang="es-ES" sz="600" dirty="0"/>
              <a:t>    </a:t>
            </a:r>
            <a:r>
              <a:rPr lang="es-ES" sz="600" dirty="0" err="1"/>
              <a:t>capa_base</a:t>
            </a:r>
            <a:r>
              <a:rPr lang="es-ES" sz="600" dirty="0"/>
              <a:t> = </a:t>
            </a:r>
            <a:r>
              <a:rPr lang="es-ES" sz="600" dirty="0" err="1"/>
              <a:t>gf.components.straight</a:t>
            </a:r>
            <a:r>
              <a:rPr lang="es-ES" sz="600" dirty="0"/>
              <a:t>().</a:t>
            </a:r>
            <a:r>
              <a:rPr lang="es-ES" sz="600" dirty="0" err="1"/>
              <a:t>ports</a:t>
            </a:r>
            <a:r>
              <a:rPr lang="es-ES" sz="600" dirty="0"/>
              <a:t>["o1"].</a:t>
            </a:r>
            <a:r>
              <a:rPr lang="es-ES" sz="600" dirty="0" err="1"/>
              <a:t>layer</a:t>
            </a:r>
            <a:endParaRPr lang="es-ES" sz="600" dirty="0"/>
          </a:p>
          <a:p>
            <a:r>
              <a:rPr lang="es-ES" sz="600" dirty="0"/>
              <a:t>    seccion_300nm = </a:t>
            </a:r>
            <a:r>
              <a:rPr lang="es-ES" sz="600" dirty="0" err="1"/>
              <a:t>gf.cross_section.cross_section</a:t>
            </a:r>
            <a:r>
              <a:rPr lang="es-ES" sz="600" dirty="0"/>
              <a:t>(</a:t>
            </a:r>
            <a:r>
              <a:rPr lang="es-ES" sz="600" dirty="0" err="1"/>
              <a:t>width</a:t>
            </a:r>
            <a:r>
              <a:rPr lang="es-ES" sz="600" dirty="0"/>
              <a:t>=1.2, </a:t>
            </a:r>
            <a:r>
              <a:rPr lang="es-ES" sz="600" dirty="0" err="1"/>
              <a:t>layer</a:t>
            </a:r>
            <a:r>
              <a:rPr lang="es-ES" sz="600" dirty="0"/>
              <a:t>=</a:t>
            </a:r>
            <a:r>
              <a:rPr lang="es-ES" sz="600" dirty="0" err="1"/>
              <a:t>capa_base</a:t>
            </a:r>
            <a:r>
              <a:rPr lang="es-ES" sz="600" dirty="0"/>
              <a:t>)</a:t>
            </a:r>
          </a:p>
          <a:p>
            <a:r>
              <a:rPr lang="es-ES" sz="600" dirty="0"/>
              <a:t>    </a:t>
            </a:r>
          </a:p>
          <a:p>
            <a:r>
              <a:rPr lang="es-ES" sz="600" dirty="0"/>
              <a:t>    # Cálculo dinámico de distancias a los extremos (X=0 y X=200)</a:t>
            </a:r>
          </a:p>
          <a:p>
            <a:r>
              <a:rPr lang="es-ES" sz="600" dirty="0"/>
              <a:t>    </a:t>
            </a:r>
            <a:r>
              <a:rPr lang="es-ES" sz="600" dirty="0" err="1"/>
              <a:t>longitud_extension_izq</a:t>
            </a:r>
            <a:r>
              <a:rPr lang="es-ES" sz="600" dirty="0"/>
              <a:t> = </a:t>
            </a:r>
            <a:r>
              <a:rPr lang="es-ES" sz="600" dirty="0" err="1"/>
              <a:t>mzi_ref.ports</a:t>
            </a:r>
            <a:r>
              <a:rPr lang="es-ES" sz="600" dirty="0"/>
              <a:t>["</a:t>
            </a:r>
            <a:r>
              <a:rPr lang="es-ES" sz="600" dirty="0" err="1"/>
              <a:t>in_top</a:t>
            </a:r>
            <a:r>
              <a:rPr lang="es-ES" sz="600" dirty="0"/>
              <a:t>"].x</a:t>
            </a:r>
          </a:p>
          <a:p>
            <a:r>
              <a:rPr lang="es-ES" sz="600" dirty="0"/>
              <a:t>    </a:t>
            </a:r>
            <a:r>
              <a:rPr lang="es-ES" sz="600" dirty="0" err="1"/>
              <a:t>longitud_extension_der</a:t>
            </a:r>
            <a:r>
              <a:rPr lang="es-ES" sz="600" dirty="0"/>
              <a:t> = </a:t>
            </a:r>
            <a:r>
              <a:rPr lang="es-ES" sz="600" dirty="0" err="1"/>
              <a:t>dieW</a:t>
            </a:r>
            <a:r>
              <a:rPr lang="es-ES" sz="600" dirty="0"/>
              <a:t> - </a:t>
            </a:r>
            <a:r>
              <a:rPr lang="es-ES" sz="600" dirty="0" err="1"/>
              <a:t>mzi_ref.ports</a:t>
            </a:r>
            <a:r>
              <a:rPr lang="es-ES" sz="600" dirty="0"/>
              <a:t>["</a:t>
            </a:r>
            <a:r>
              <a:rPr lang="es-ES" sz="600" dirty="0" err="1"/>
              <a:t>out_top</a:t>
            </a:r>
            <a:r>
              <a:rPr lang="es-ES" sz="600" dirty="0"/>
              <a:t>"].x</a:t>
            </a:r>
          </a:p>
          <a:p>
            <a:br>
              <a:rPr lang="es-ES" sz="600" dirty="0"/>
            </a:br>
            <a:endParaRPr lang="es-ES" sz="600" dirty="0"/>
          </a:p>
          <a:p>
            <a:r>
              <a:rPr lang="es-ES" sz="600" dirty="0"/>
              <a:t>    </a:t>
            </a:r>
            <a:r>
              <a:rPr lang="es-ES" sz="600" dirty="0" err="1"/>
              <a:t>guia_ext_izq</a:t>
            </a:r>
            <a:r>
              <a:rPr lang="es-ES" sz="600" dirty="0"/>
              <a:t> = </a:t>
            </a:r>
            <a:r>
              <a:rPr lang="es-ES" sz="600" dirty="0" err="1"/>
              <a:t>gf.components.straight</a:t>
            </a:r>
            <a:r>
              <a:rPr lang="es-ES" sz="600" dirty="0"/>
              <a:t>(</a:t>
            </a:r>
            <a:r>
              <a:rPr lang="es-ES" sz="600" dirty="0" err="1"/>
              <a:t>length</a:t>
            </a:r>
            <a:r>
              <a:rPr lang="es-ES" sz="600" dirty="0"/>
              <a:t>=</a:t>
            </a:r>
            <a:r>
              <a:rPr lang="es-ES" sz="600" dirty="0" err="1"/>
              <a:t>longitud_extension_izq</a:t>
            </a:r>
            <a:r>
              <a:rPr lang="es-ES" sz="600" dirty="0"/>
              <a:t>, </a:t>
            </a:r>
            <a:r>
              <a:rPr lang="es-ES" sz="600" dirty="0" err="1"/>
              <a:t>cross_section</a:t>
            </a:r>
            <a:r>
              <a:rPr lang="es-ES" sz="600" dirty="0"/>
              <a:t>=seccion_300nm)</a:t>
            </a:r>
          </a:p>
          <a:p>
            <a:r>
              <a:rPr lang="es-ES" sz="600" dirty="0"/>
              <a:t>    </a:t>
            </a:r>
            <a:r>
              <a:rPr lang="es-ES" sz="600" dirty="0" err="1"/>
              <a:t>guia_ext_der</a:t>
            </a:r>
            <a:r>
              <a:rPr lang="es-ES" sz="600" dirty="0"/>
              <a:t> = </a:t>
            </a:r>
            <a:r>
              <a:rPr lang="es-ES" sz="600" dirty="0" err="1"/>
              <a:t>gf.components.straight</a:t>
            </a:r>
            <a:r>
              <a:rPr lang="es-ES" sz="600" dirty="0"/>
              <a:t>(</a:t>
            </a:r>
            <a:r>
              <a:rPr lang="es-ES" sz="600" dirty="0" err="1"/>
              <a:t>length</a:t>
            </a:r>
            <a:r>
              <a:rPr lang="es-ES" sz="600" dirty="0"/>
              <a:t>=</a:t>
            </a:r>
            <a:r>
              <a:rPr lang="es-ES" sz="600" dirty="0" err="1"/>
              <a:t>longitud_extension_der</a:t>
            </a:r>
            <a:r>
              <a:rPr lang="es-ES" sz="600" dirty="0"/>
              <a:t>, </a:t>
            </a:r>
            <a:r>
              <a:rPr lang="es-ES" sz="600" dirty="0" err="1"/>
              <a:t>cross_section</a:t>
            </a:r>
            <a:r>
              <a:rPr lang="es-ES" sz="600" dirty="0"/>
              <a:t>=seccion_300nm)</a:t>
            </a:r>
          </a:p>
          <a:p>
            <a:br>
              <a:rPr lang="es-ES" sz="600" dirty="0"/>
            </a:br>
            <a:endParaRPr lang="es-ES" sz="600" dirty="0"/>
          </a:p>
          <a:p>
            <a:r>
              <a:rPr lang="es-ES" sz="600" dirty="0"/>
              <a:t>    # Conectamos las extensiones izquierdas (Entradas hacia el borde X=0)</a:t>
            </a:r>
          </a:p>
          <a:p>
            <a:r>
              <a:rPr lang="es-ES" sz="600" dirty="0"/>
              <a:t>    </a:t>
            </a:r>
            <a:r>
              <a:rPr lang="es-ES" sz="600" dirty="0" err="1"/>
              <a:t>ext_in_top</a:t>
            </a:r>
            <a:r>
              <a:rPr lang="es-ES" sz="600" dirty="0"/>
              <a:t> = </a:t>
            </a:r>
            <a:r>
              <a:rPr lang="es-ES" sz="600" dirty="0" err="1"/>
              <a:t>box.add_ref</a:t>
            </a:r>
            <a:r>
              <a:rPr lang="es-ES" sz="600" dirty="0"/>
              <a:t>(</a:t>
            </a:r>
            <a:r>
              <a:rPr lang="es-ES" sz="600" dirty="0" err="1"/>
              <a:t>guia_ext_izq</a:t>
            </a:r>
            <a:r>
              <a:rPr lang="es-ES" sz="600" dirty="0"/>
              <a:t>)</a:t>
            </a:r>
          </a:p>
          <a:p>
            <a:r>
              <a:rPr lang="es-ES" sz="600" dirty="0"/>
              <a:t>    </a:t>
            </a:r>
            <a:r>
              <a:rPr lang="es-ES" sz="600" dirty="0" err="1"/>
              <a:t>ext_in_top.connect</a:t>
            </a:r>
            <a:r>
              <a:rPr lang="es-ES" sz="600" dirty="0"/>
              <a:t>("o2", </a:t>
            </a:r>
            <a:r>
              <a:rPr lang="es-ES" sz="600" dirty="0" err="1"/>
              <a:t>mzi_ref.ports</a:t>
            </a:r>
            <a:r>
              <a:rPr lang="es-ES" sz="600" dirty="0"/>
              <a:t>["</a:t>
            </a:r>
            <a:r>
              <a:rPr lang="es-ES" sz="600" dirty="0" err="1"/>
              <a:t>in_top</a:t>
            </a:r>
            <a:r>
              <a:rPr lang="es-ES" sz="600" dirty="0"/>
              <a:t>"])</a:t>
            </a:r>
          </a:p>
          <a:p>
            <a:br>
              <a:rPr lang="es-ES" sz="600" dirty="0"/>
            </a:br>
            <a:endParaRPr lang="es-ES" sz="600" dirty="0"/>
          </a:p>
          <a:p>
            <a:r>
              <a:rPr lang="es-ES" sz="600" dirty="0"/>
              <a:t>    </a:t>
            </a:r>
            <a:r>
              <a:rPr lang="es-ES" sz="600" dirty="0" err="1"/>
              <a:t>ext_in_bot</a:t>
            </a:r>
            <a:r>
              <a:rPr lang="es-ES" sz="600" dirty="0"/>
              <a:t> = </a:t>
            </a:r>
            <a:r>
              <a:rPr lang="es-ES" sz="600" dirty="0" err="1"/>
              <a:t>box.add_ref</a:t>
            </a:r>
            <a:r>
              <a:rPr lang="es-ES" sz="600" dirty="0"/>
              <a:t>(</a:t>
            </a:r>
            <a:r>
              <a:rPr lang="es-ES" sz="600" dirty="0" err="1"/>
              <a:t>guia_ext_izq</a:t>
            </a:r>
            <a:r>
              <a:rPr lang="es-ES" sz="600" dirty="0"/>
              <a:t>)</a:t>
            </a:r>
          </a:p>
          <a:p>
            <a:r>
              <a:rPr lang="es-ES" sz="600" dirty="0"/>
              <a:t>    </a:t>
            </a:r>
            <a:r>
              <a:rPr lang="es-ES" sz="600" dirty="0" err="1"/>
              <a:t>ext_in_bot.connect</a:t>
            </a:r>
            <a:r>
              <a:rPr lang="es-ES" sz="600" dirty="0"/>
              <a:t>("o2", </a:t>
            </a:r>
            <a:r>
              <a:rPr lang="es-ES" sz="600" dirty="0" err="1"/>
              <a:t>mzi_ref.ports</a:t>
            </a:r>
            <a:r>
              <a:rPr lang="es-ES" sz="600" dirty="0"/>
              <a:t>["</a:t>
            </a:r>
            <a:r>
              <a:rPr lang="es-ES" sz="600" dirty="0" err="1"/>
              <a:t>in_bot</a:t>
            </a:r>
            <a:r>
              <a:rPr lang="es-ES" sz="600" dirty="0"/>
              <a:t>"])</a:t>
            </a:r>
          </a:p>
          <a:p>
            <a:br>
              <a:rPr lang="es-ES" sz="600" dirty="0"/>
            </a:br>
            <a:endParaRPr lang="es-ES" sz="600" dirty="0"/>
          </a:p>
          <a:p>
            <a:r>
              <a:rPr lang="es-ES" sz="600" dirty="0"/>
              <a:t>    # Conectamos las extensiones derechas (Salidas hacia el borde X=200)</a:t>
            </a:r>
          </a:p>
          <a:p>
            <a:r>
              <a:rPr lang="es-ES" sz="600" dirty="0"/>
              <a:t>    </a:t>
            </a:r>
            <a:r>
              <a:rPr lang="es-ES" sz="600" dirty="0" err="1"/>
              <a:t>ext_out_top</a:t>
            </a:r>
            <a:r>
              <a:rPr lang="es-ES" sz="600" dirty="0"/>
              <a:t> = </a:t>
            </a:r>
            <a:r>
              <a:rPr lang="es-ES" sz="600" dirty="0" err="1"/>
              <a:t>box.add_ref</a:t>
            </a:r>
            <a:r>
              <a:rPr lang="es-ES" sz="600" dirty="0"/>
              <a:t>(</a:t>
            </a:r>
            <a:r>
              <a:rPr lang="es-ES" sz="600" dirty="0" err="1"/>
              <a:t>guia_ext_der</a:t>
            </a:r>
            <a:r>
              <a:rPr lang="es-ES" sz="600" dirty="0"/>
              <a:t>)</a:t>
            </a:r>
          </a:p>
          <a:p>
            <a:r>
              <a:rPr lang="es-ES" sz="600" dirty="0"/>
              <a:t>    </a:t>
            </a:r>
            <a:r>
              <a:rPr lang="es-ES" sz="600" dirty="0" err="1"/>
              <a:t>ext_out_top.connect</a:t>
            </a:r>
            <a:r>
              <a:rPr lang="es-ES" sz="600" dirty="0"/>
              <a:t>("o1", </a:t>
            </a:r>
            <a:r>
              <a:rPr lang="es-ES" sz="600" dirty="0" err="1"/>
              <a:t>mzi_ref.ports</a:t>
            </a:r>
            <a:r>
              <a:rPr lang="es-ES" sz="600" dirty="0"/>
              <a:t>["</a:t>
            </a:r>
            <a:r>
              <a:rPr lang="es-ES" sz="600" dirty="0" err="1"/>
              <a:t>out_top</a:t>
            </a:r>
            <a:r>
              <a:rPr lang="es-ES" sz="600" dirty="0"/>
              <a:t>"])</a:t>
            </a:r>
          </a:p>
          <a:p>
            <a:br>
              <a:rPr lang="es-ES" sz="600" dirty="0"/>
            </a:br>
            <a:endParaRPr lang="es-ES" sz="600" dirty="0"/>
          </a:p>
          <a:p>
            <a:r>
              <a:rPr lang="es-ES" sz="600" dirty="0"/>
              <a:t>    </a:t>
            </a:r>
            <a:r>
              <a:rPr lang="es-ES" sz="600" dirty="0" err="1"/>
              <a:t>ext_out_bot</a:t>
            </a:r>
            <a:r>
              <a:rPr lang="es-ES" sz="600" dirty="0"/>
              <a:t> = </a:t>
            </a:r>
            <a:r>
              <a:rPr lang="es-ES" sz="600" dirty="0" err="1"/>
              <a:t>box.add_ref</a:t>
            </a:r>
            <a:r>
              <a:rPr lang="es-ES" sz="600" dirty="0"/>
              <a:t>(</a:t>
            </a:r>
            <a:r>
              <a:rPr lang="es-ES" sz="600" dirty="0" err="1"/>
              <a:t>guia_ext_der</a:t>
            </a:r>
            <a:r>
              <a:rPr lang="es-ES" sz="600" dirty="0"/>
              <a:t>)</a:t>
            </a:r>
          </a:p>
          <a:p>
            <a:r>
              <a:rPr lang="es-ES" sz="600" dirty="0"/>
              <a:t>    </a:t>
            </a:r>
            <a:r>
              <a:rPr lang="es-ES" sz="600" dirty="0" err="1"/>
              <a:t>ext_out_bot.connect</a:t>
            </a:r>
            <a:r>
              <a:rPr lang="es-ES" sz="600" dirty="0"/>
              <a:t>("o1", </a:t>
            </a:r>
            <a:r>
              <a:rPr lang="es-ES" sz="600" dirty="0" err="1"/>
              <a:t>mzi_ref.ports</a:t>
            </a:r>
            <a:r>
              <a:rPr lang="es-ES" sz="600" dirty="0"/>
              <a:t>["</a:t>
            </a:r>
            <a:r>
              <a:rPr lang="es-ES" sz="600" dirty="0" err="1"/>
              <a:t>out_bot</a:t>
            </a:r>
            <a:r>
              <a:rPr lang="es-ES" sz="600" dirty="0"/>
              <a:t>"])</a:t>
            </a:r>
          </a:p>
          <a:p>
            <a:br>
              <a:rPr lang="es-ES" sz="600" dirty="0"/>
            </a:br>
            <a:endParaRPr lang="es-ES" sz="600" dirty="0"/>
          </a:p>
          <a:p>
            <a:r>
              <a:rPr lang="es-ES" sz="600" dirty="0"/>
              <a:t>    # Puertos expuestos finales de la celda del Die</a:t>
            </a:r>
          </a:p>
          <a:p>
            <a:r>
              <a:rPr lang="es-ES" sz="600" dirty="0"/>
              <a:t>    </a:t>
            </a:r>
            <a:r>
              <a:rPr lang="es-ES" sz="600" dirty="0" err="1"/>
              <a:t>box.add_port</a:t>
            </a:r>
            <a:r>
              <a:rPr lang="es-ES" sz="600" dirty="0"/>
              <a:t>("</a:t>
            </a:r>
            <a:r>
              <a:rPr lang="es-ES" sz="600" dirty="0" err="1"/>
              <a:t>in_top</a:t>
            </a:r>
            <a:r>
              <a:rPr lang="es-ES" sz="600" dirty="0"/>
              <a:t>", </a:t>
            </a:r>
            <a:r>
              <a:rPr lang="es-ES" sz="600" dirty="0" err="1"/>
              <a:t>port</a:t>
            </a:r>
            <a:r>
              <a:rPr lang="es-ES" sz="600" dirty="0"/>
              <a:t>=</a:t>
            </a:r>
            <a:r>
              <a:rPr lang="es-ES" sz="600" dirty="0" err="1"/>
              <a:t>ext_in_top.ports</a:t>
            </a:r>
            <a:r>
              <a:rPr lang="es-ES" sz="600" dirty="0"/>
              <a:t>["o1"])</a:t>
            </a:r>
          </a:p>
          <a:p>
            <a:r>
              <a:rPr lang="es-ES" sz="600" dirty="0"/>
              <a:t>    </a:t>
            </a:r>
            <a:r>
              <a:rPr lang="es-ES" sz="600" dirty="0" err="1"/>
              <a:t>box.add_port</a:t>
            </a:r>
            <a:r>
              <a:rPr lang="es-ES" sz="600" dirty="0"/>
              <a:t>("</a:t>
            </a:r>
            <a:r>
              <a:rPr lang="es-ES" sz="600" dirty="0" err="1"/>
              <a:t>in_bot</a:t>
            </a:r>
            <a:r>
              <a:rPr lang="es-ES" sz="600" dirty="0"/>
              <a:t>", </a:t>
            </a:r>
            <a:r>
              <a:rPr lang="es-ES" sz="600" dirty="0" err="1"/>
              <a:t>port</a:t>
            </a:r>
            <a:r>
              <a:rPr lang="es-ES" sz="600" dirty="0"/>
              <a:t>=</a:t>
            </a:r>
            <a:r>
              <a:rPr lang="es-ES" sz="600" dirty="0" err="1"/>
              <a:t>ext_in_bot.ports</a:t>
            </a:r>
            <a:r>
              <a:rPr lang="es-ES" sz="600" dirty="0"/>
              <a:t>["o1"])</a:t>
            </a:r>
          </a:p>
          <a:p>
            <a:r>
              <a:rPr lang="es-ES" sz="600" dirty="0"/>
              <a:t>    </a:t>
            </a:r>
            <a:r>
              <a:rPr lang="es-ES" sz="600" dirty="0" err="1"/>
              <a:t>box.add_port</a:t>
            </a:r>
            <a:r>
              <a:rPr lang="es-ES" sz="600" dirty="0"/>
              <a:t>("</a:t>
            </a:r>
            <a:r>
              <a:rPr lang="es-ES" sz="600" dirty="0" err="1"/>
              <a:t>out_top</a:t>
            </a:r>
            <a:r>
              <a:rPr lang="es-ES" sz="600" dirty="0"/>
              <a:t>", </a:t>
            </a:r>
            <a:r>
              <a:rPr lang="es-ES" sz="600" dirty="0" err="1"/>
              <a:t>port</a:t>
            </a:r>
            <a:r>
              <a:rPr lang="es-ES" sz="600" dirty="0"/>
              <a:t>=</a:t>
            </a:r>
            <a:r>
              <a:rPr lang="es-ES" sz="600" dirty="0" err="1"/>
              <a:t>ext_out_top.ports</a:t>
            </a:r>
            <a:r>
              <a:rPr lang="es-ES" sz="600" dirty="0"/>
              <a:t>["o2"])</a:t>
            </a:r>
          </a:p>
          <a:p>
            <a:r>
              <a:rPr lang="es-ES" sz="600" dirty="0"/>
              <a:t>    </a:t>
            </a:r>
            <a:r>
              <a:rPr lang="es-ES" sz="600" dirty="0" err="1"/>
              <a:t>box.add_port</a:t>
            </a:r>
            <a:r>
              <a:rPr lang="es-ES" sz="600" dirty="0"/>
              <a:t>("</a:t>
            </a:r>
            <a:r>
              <a:rPr lang="es-ES" sz="600" dirty="0" err="1"/>
              <a:t>out_bot</a:t>
            </a:r>
            <a:r>
              <a:rPr lang="es-ES" sz="600" dirty="0"/>
              <a:t>", </a:t>
            </a:r>
            <a:r>
              <a:rPr lang="es-ES" sz="600" dirty="0" err="1"/>
              <a:t>port</a:t>
            </a:r>
            <a:r>
              <a:rPr lang="es-ES" sz="600" dirty="0"/>
              <a:t>=</a:t>
            </a:r>
            <a:r>
              <a:rPr lang="es-ES" sz="600" dirty="0" err="1"/>
              <a:t>ext_out_bot.ports</a:t>
            </a:r>
            <a:r>
              <a:rPr lang="es-ES" sz="600" dirty="0"/>
              <a:t>["o2"])</a:t>
            </a:r>
          </a:p>
          <a:p>
            <a:r>
              <a:rPr lang="es-ES" sz="600" dirty="0"/>
              <a:t>    </a:t>
            </a:r>
          </a:p>
          <a:p>
            <a:r>
              <a:rPr lang="es-ES" sz="600" dirty="0"/>
              <a:t>    </a:t>
            </a:r>
            <a:r>
              <a:rPr lang="es-ES" sz="600" dirty="0" err="1"/>
              <a:t>return</a:t>
            </a:r>
            <a:r>
              <a:rPr lang="es-ES" sz="600" dirty="0"/>
              <a:t> box</a:t>
            </a:r>
          </a:p>
          <a:p>
            <a:br>
              <a:rPr lang="es-ES" sz="600" dirty="0"/>
            </a:br>
            <a:br>
              <a:rPr lang="es-ES" sz="600" dirty="0"/>
            </a:br>
            <a:endParaRPr lang="es-ES" sz="600" dirty="0"/>
          </a:p>
          <a:p>
            <a:r>
              <a:rPr lang="es-ES" sz="600" dirty="0"/>
              <a:t># =======================================================================</a:t>
            </a:r>
          </a:p>
          <a:p>
            <a:r>
              <a:rPr lang="es-ES" sz="600" dirty="0"/>
              <a:t># 3. COMPONENTE SUPERIOR (Lienzo final / Wafer de la práctica)</a:t>
            </a:r>
          </a:p>
          <a:p>
            <a:r>
              <a:rPr lang="es-ES" sz="600" dirty="0"/>
              <a:t># =======================================================================</a:t>
            </a:r>
          </a:p>
          <a:p>
            <a:r>
              <a:rPr lang="es-ES" sz="600" dirty="0" err="1"/>
              <a:t>wafer_layout</a:t>
            </a:r>
            <a:r>
              <a:rPr lang="es-ES" sz="600" dirty="0"/>
              <a:t> = </a:t>
            </a:r>
            <a:r>
              <a:rPr lang="es-ES" sz="600" dirty="0" err="1"/>
              <a:t>gf.Component</a:t>
            </a:r>
            <a:r>
              <a:rPr lang="es-ES" sz="600" dirty="0"/>
              <a:t>("</a:t>
            </a:r>
            <a:r>
              <a:rPr lang="es-ES" sz="600" dirty="0" err="1"/>
              <a:t>Layout_Final_MZI</a:t>
            </a:r>
            <a:r>
              <a:rPr lang="es-ES" sz="600" dirty="0"/>
              <a:t>")</a:t>
            </a:r>
          </a:p>
          <a:p>
            <a:br>
              <a:rPr lang="es-ES" sz="600" dirty="0"/>
            </a:br>
            <a:endParaRPr lang="es-ES" sz="600" dirty="0"/>
          </a:p>
          <a:p>
            <a:r>
              <a:rPr lang="es-ES" sz="600" dirty="0"/>
              <a:t># Instanciamos la celda intermedia dentro del componente superior</a:t>
            </a:r>
          </a:p>
          <a:p>
            <a:r>
              <a:rPr lang="es-ES" sz="600" dirty="0" err="1"/>
              <a:t>wafer_layout.add_ref</a:t>
            </a:r>
            <a:r>
              <a:rPr lang="es-ES" sz="600" dirty="0"/>
              <a:t>(</a:t>
            </a:r>
            <a:r>
              <a:rPr lang="es-ES" sz="600" dirty="0" err="1"/>
              <a:t>die_mzi</a:t>
            </a:r>
            <a:r>
              <a:rPr lang="es-ES" sz="600" dirty="0"/>
              <a:t>())</a:t>
            </a:r>
          </a:p>
          <a:p>
            <a:br>
              <a:rPr lang="es-ES" sz="600" dirty="0"/>
            </a:br>
            <a:endParaRPr lang="es-ES" sz="600" dirty="0"/>
          </a:p>
          <a:p>
            <a:r>
              <a:rPr lang="es-ES" sz="600" dirty="0"/>
              <a:t># Visualización del chip completo</a:t>
            </a:r>
          </a:p>
          <a:p>
            <a:r>
              <a:rPr lang="es-ES" sz="600" dirty="0" err="1"/>
              <a:t>wafer_layout.show</a:t>
            </a:r>
            <a:r>
              <a:rPr lang="es-ES" sz="600" dirty="0"/>
              <a:t>()</a:t>
            </a:r>
          </a:p>
          <a:p>
            <a:r>
              <a:rPr lang="es-ES" sz="600" dirty="0" err="1"/>
              <a:t>wafer_layout.plot</a:t>
            </a:r>
            <a:r>
              <a:rPr lang="es-ES" sz="600" dirty="0"/>
              <a:t>()</a:t>
            </a:r>
          </a:p>
          <a:p>
            <a:pPr algn="ctr"/>
            <a:endParaRPr lang="en-US" sz="600" dirty="0"/>
          </a:p>
        </p:txBody>
      </p:sp>
      <p:sp>
        <p:nvSpPr>
          <p:cNvPr id="8" name="Rectángulo 7">
            <a:extLst>
              <a:ext uri="{FF2B5EF4-FFF2-40B4-BE49-F238E27FC236}">
                <a16:creationId xmlns:a16="http://schemas.microsoft.com/office/drawing/2014/main" id="{853215F8-A4EB-4D36-2370-AF8C7AA9064D}"/>
              </a:ext>
            </a:extLst>
          </p:cNvPr>
          <p:cNvSpPr/>
          <p:nvPr/>
        </p:nvSpPr>
        <p:spPr>
          <a:xfrm>
            <a:off x="6476841" y="1420406"/>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7B62F8A6-CEF0-C246-E1B7-79E32566C21A}"/>
              </a:ext>
            </a:extLst>
          </p:cNvPr>
          <p:cNvSpPr txBox="1"/>
          <p:nvPr/>
        </p:nvSpPr>
        <p:spPr>
          <a:xfrm>
            <a:off x="7644330" y="2496339"/>
            <a:ext cx="2997616" cy="369332"/>
          </a:xfrm>
          <a:prstGeom prst="rect">
            <a:avLst/>
          </a:prstGeom>
          <a:noFill/>
        </p:spPr>
        <p:txBody>
          <a:bodyPr wrap="none" rtlCol="0">
            <a:spAutoFit/>
          </a:bodyPr>
          <a:lstStyle/>
          <a:p>
            <a:pPr algn="ctr"/>
            <a:r>
              <a:rPr lang="es-ES" dirty="0" err="1"/>
              <a:t>Component</a:t>
            </a:r>
            <a:r>
              <a:rPr lang="es-ES" dirty="0"/>
              <a:t> as </a:t>
            </a:r>
            <a:r>
              <a:rPr lang="es-ES" dirty="0" err="1"/>
              <a:t>cell</a:t>
            </a:r>
            <a:r>
              <a:rPr lang="es-ES" dirty="0"/>
              <a:t> </a:t>
            </a:r>
            <a:r>
              <a:rPr lang="es-ES" dirty="0" err="1"/>
              <a:t>screenshot</a:t>
            </a:r>
            <a:endParaRPr lang="en-US" dirty="0"/>
          </a:p>
        </p:txBody>
      </p:sp>
      <p:pic>
        <p:nvPicPr>
          <p:cNvPr id="5" name="Picture 4">
            <a:extLst>
              <a:ext uri="{FF2B5EF4-FFF2-40B4-BE49-F238E27FC236}">
                <a16:creationId xmlns:a16="http://schemas.microsoft.com/office/drawing/2014/main" id="{2F5F5087-F435-1337-C3AC-72BF591078E3}"/>
              </a:ext>
            </a:extLst>
          </p:cNvPr>
          <p:cNvPicPr>
            <a:picLocks noChangeAspect="1"/>
          </p:cNvPicPr>
          <p:nvPr/>
        </p:nvPicPr>
        <p:blipFill>
          <a:blip r:embed="rId4"/>
          <a:stretch>
            <a:fillRect/>
          </a:stretch>
        </p:blipFill>
        <p:spPr>
          <a:xfrm>
            <a:off x="6476841" y="1781485"/>
            <a:ext cx="5332572" cy="4025569"/>
          </a:xfrm>
          <a:prstGeom prst="rect">
            <a:avLst/>
          </a:prstGeom>
        </p:spPr>
      </p:pic>
    </p:spTree>
    <p:extLst>
      <p:ext uri="{BB962C8B-B14F-4D97-AF65-F5344CB8AC3E}">
        <p14:creationId xmlns:p14="http://schemas.microsoft.com/office/powerpoint/2010/main" val="532354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99CD6-75A5-14C4-42F1-85B7B7CDB37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DC4063F-C968-D88A-8960-1A677759AD45}"/>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gn="ctr">
              <a:lnSpc>
                <a:spcPct val="100000"/>
              </a:lnSpc>
              <a:spcBef>
                <a:spcPts val="100"/>
              </a:spcBef>
            </a:pPr>
            <a:r>
              <a:rPr lang="en-US" dirty="0"/>
              <a:t>Learning outcome #2a – Notebook section 2. Layout Fundamentals – </a:t>
            </a:r>
            <a:r>
              <a:rPr lang="en-US" dirty="0">
                <a:solidFill>
                  <a:srgbClr val="FF0000"/>
                </a:solidFill>
              </a:rPr>
              <a:t>1 slide per component</a:t>
            </a:r>
            <a:br>
              <a:rPr lang="en-US" sz="2500" dirty="0"/>
            </a:br>
            <a:r>
              <a:rPr lang="en-US" sz="2500" dirty="0" err="1"/>
              <a:t>Resonador</a:t>
            </a:r>
            <a:r>
              <a:rPr lang="en-US" sz="2500" dirty="0"/>
              <a:t> de </a:t>
            </a:r>
            <a:r>
              <a:rPr lang="en-US" sz="2500" dirty="0" err="1"/>
              <a:t>anillo</a:t>
            </a:r>
            <a:endParaRPr sz="2500" b="0" i="1" dirty="0">
              <a:solidFill>
                <a:srgbClr val="FF0000"/>
              </a:solidFill>
              <a:latin typeface="+mj-lt"/>
              <a:cs typeface="Lucida Sans"/>
            </a:endParaRPr>
          </a:p>
        </p:txBody>
      </p:sp>
      <p:pic>
        <p:nvPicPr>
          <p:cNvPr id="83" name="Gráfico 82">
            <a:extLst>
              <a:ext uri="{FF2B5EF4-FFF2-40B4-BE49-F238E27FC236}">
                <a16:creationId xmlns:a16="http://schemas.microsoft.com/office/drawing/2014/main" id="{EF7F9B10-D328-5856-0AF0-038B397C99A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E143A4-10A7-0F5C-B4DA-978B8AE11963}"/>
              </a:ext>
            </a:extLst>
          </p:cNvPr>
          <p:cNvSpPr>
            <a:spLocks noGrp="1"/>
          </p:cNvSpPr>
          <p:nvPr>
            <p:ph type="sldNum" sz="quarter" idx="7"/>
          </p:nvPr>
        </p:nvSpPr>
        <p:spPr/>
        <p:txBody>
          <a:bodyPr/>
          <a:lstStyle/>
          <a:p>
            <a:fld id="{B6F15528-21DE-4FAA-801E-634DDDAF4B2B}" type="slidenum">
              <a:rPr lang="es-ES" smtClean="0"/>
              <a:t>13</a:t>
            </a:fld>
            <a:endParaRPr lang="es-ES"/>
          </a:p>
        </p:txBody>
      </p:sp>
      <p:sp>
        <p:nvSpPr>
          <p:cNvPr id="3" name="Marcador de pie de página 2">
            <a:extLst>
              <a:ext uri="{FF2B5EF4-FFF2-40B4-BE49-F238E27FC236}">
                <a16:creationId xmlns:a16="http://schemas.microsoft.com/office/drawing/2014/main" id="{63A0AC43-BA78-8160-CF6E-BB9B81E75B8D}"/>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6" name="Rectángulo 5">
            <a:extLst>
              <a:ext uri="{FF2B5EF4-FFF2-40B4-BE49-F238E27FC236}">
                <a16:creationId xmlns:a16="http://schemas.microsoft.com/office/drawing/2014/main" id="{47B62C1C-E5A9-1F7A-D2A4-47DAFE860E14}"/>
              </a:ext>
            </a:extLst>
          </p:cNvPr>
          <p:cNvSpPr/>
          <p:nvPr/>
        </p:nvSpPr>
        <p:spPr>
          <a:xfrm>
            <a:off x="609441" y="1418373"/>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DD8A4EA1-4A8C-0D25-53A0-86CCF9E20AFC}"/>
              </a:ext>
            </a:extLst>
          </p:cNvPr>
          <p:cNvSpPr txBox="1"/>
          <p:nvPr/>
        </p:nvSpPr>
        <p:spPr>
          <a:xfrm>
            <a:off x="3183366" y="2494306"/>
            <a:ext cx="184731" cy="369332"/>
          </a:xfrm>
          <a:prstGeom prst="rect">
            <a:avLst/>
          </a:prstGeom>
          <a:noFill/>
        </p:spPr>
        <p:txBody>
          <a:bodyPr wrap="none" rtlCol="0">
            <a:spAutoFit/>
          </a:bodyPr>
          <a:lstStyle/>
          <a:p>
            <a:pPr algn="ctr"/>
            <a:endParaRPr lang="en-US" dirty="0"/>
          </a:p>
        </p:txBody>
      </p:sp>
      <p:sp>
        <p:nvSpPr>
          <p:cNvPr id="8" name="Rectángulo 7">
            <a:extLst>
              <a:ext uri="{FF2B5EF4-FFF2-40B4-BE49-F238E27FC236}">
                <a16:creationId xmlns:a16="http://schemas.microsoft.com/office/drawing/2014/main" id="{7D6E18B4-7355-C1FB-BFFE-6B8BC1C6B438}"/>
              </a:ext>
            </a:extLst>
          </p:cNvPr>
          <p:cNvSpPr/>
          <p:nvPr/>
        </p:nvSpPr>
        <p:spPr>
          <a:xfrm>
            <a:off x="6476841" y="1420406"/>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AE88DF3F-8805-087E-FF32-458C5B66355E}"/>
              </a:ext>
            </a:extLst>
          </p:cNvPr>
          <p:cNvSpPr txBox="1"/>
          <p:nvPr/>
        </p:nvSpPr>
        <p:spPr>
          <a:xfrm>
            <a:off x="7644330" y="2496339"/>
            <a:ext cx="2997616" cy="369332"/>
          </a:xfrm>
          <a:prstGeom prst="rect">
            <a:avLst/>
          </a:prstGeom>
          <a:noFill/>
        </p:spPr>
        <p:txBody>
          <a:bodyPr wrap="none" rtlCol="0">
            <a:spAutoFit/>
          </a:bodyPr>
          <a:lstStyle/>
          <a:p>
            <a:pPr algn="ctr"/>
            <a:r>
              <a:rPr lang="es-ES" dirty="0" err="1"/>
              <a:t>Component</a:t>
            </a:r>
            <a:r>
              <a:rPr lang="es-ES" dirty="0"/>
              <a:t> as </a:t>
            </a:r>
            <a:r>
              <a:rPr lang="es-ES" dirty="0" err="1"/>
              <a:t>cell</a:t>
            </a:r>
            <a:r>
              <a:rPr lang="es-ES" dirty="0"/>
              <a:t> </a:t>
            </a:r>
            <a:r>
              <a:rPr lang="es-ES" dirty="0" err="1"/>
              <a:t>screenshot</a:t>
            </a:r>
            <a:endParaRPr lang="en-US" dirty="0"/>
          </a:p>
        </p:txBody>
      </p:sp>
      <p:pic>
        <p:nvPicPr>
          <p:cNvPr id="5" name="Picture 4">
            <a:extLst>
              <a:ext uri="{FF2B5EF4-FFF2-40B4-BE49-F238E27FC236}">
                <a16:creationId xmlns:a16="http://schemas.microsoft.com/office/drawing/2014/main" id="{A4AD593C-289B-5FF0-271F-4F29C68D6CCA}"/>
              </a:ext>
            </a:extLst>
          </p:cNvPr>
          <p:cNvPicPr>
            <a:picLocks noChangeAspect="1"/>
          </p:cNvPicPr>
          <p:nvPr/>
        </p:nvPicPr>
        <p:blipFill>
          <a:blip r:embed="rId4"/>
          <a:stretch>
            <a:fillRect/>
          </a:stretch>
        </p:blipFill>
        <p:spPr>
          <a:xfrm>
            <a:off x="6645365" y="1871582"/>
            <a:ext cx="4937194" cy="3727097"/>
          </a:xfrm>
          <a:prstGeom prst="rect">
            <a:avLst/>
          </a:prstGeom>
        </p:spPr>
      </p:pic>
      <p:sp>
        <p:nvSpPr>
          <p:cNvPr id="12" name="TextBox 11">
            <a:extLst>
              <a:ext uri="{FF2B5EF4-FFF2-40B4-BE49-F238E27FC236}">
                <a16:creationId xmlns:a16="http://schemas.microsoft.com/office/drawing/2014/main" id="{3F1F50E9-BEF4-8CEC-8A25-80AF4D262035}"/>
              </a:ext>
            </a:extLst>
          </p:cNvPr>
          <p:cNvSpPr txBox="1"/>
          <p:nvPr/>
        </p:nvSpPr>
        <p:spPr>
          <a:xfrm>
            <a:off x="737419" y="1440785"/>
            <a:ext cx="4616970" cy="15788938"/>
          </a:xfrm>
          <a:prstGeom prst="rect">
            <a:avLst/>
          </a:prstGeom>
          <a:noFill/>
        </p:spPr>
        <p:txBody>
          <a:bodyPr wrap="none" rtlCol="0">
            <a:spAutoFit/>
          </a:bodyPr>
          <a:lstStyle/>
          <a:p>
            <a:r>
              <a:rPr lang="es-ES" sz="600" dirty="0" err="1"/>
              <a:t>gf.clear_cache</a:t>
            </a:r>
            <a:r>
              <a:rPr lang="es-ES" sz="600" dirty="0"/>
              <a:t>()</a:t>
            </a:r>
          </a:p>
          <a:p>
            <a:br>
              <a:rPr lang="es-ES" sz="600" dirty="0"/>
            </a:br>
            <a:endParaRPr lang="es-ES" sz="600" dirty="0"/>
          </a:p>
          <a:p>
            <a:r>
              <a:rPr lang="es-ES" sz="600" dirty="0"/>
              <a:t># =======================================================================</a:t>
            </a:r>
          </a:p>
          <a:p>
            <a:r>
              <a:rPr lang="es-ES" sz="600" dirty="0"/>
              <a:t># 1. COMPONENTES ESPECÍFICOS (Nivel inferior de la jerarquía)</a:t>
            </a:r>
          </a:p>
          <a:p>
            <a:r>
              <a:rPr lang="es-ES" sz="600" dirty="0"/>
              <a:t># =======================================================================</a:t>
            </a:r>
          </a:p>
          <a:p>
            <a:r>
              <a:rPr lang="es-ES" sz="600" dirty="0"/>
              <a:t>@gf.cell</a:t>
            </a:r>
          </a:p>
          <a:p>
            <a:r>
              <a:rPr lang="es-ES" sz="600" dirty="0" err="1"/>
              <a:t>def</a:t>
            </a:r>
            <a:r>
              <a:rPr lang="es-ES" sz="600" dirty="0"/>
              <a:t> mmi_2x2_base() -&gt; </a:t>
            </a:r>
            <a:r>
              <a:rPr lang="es-ES" sz="600" dirty="0" err="1"/>
              <a:t>gf.Component</a:t>
            </a:r>
            <a:r>
              <a:rPr lang="es-ES" sz="600" dirty="0"/>
              <a:t>:</a:t>
            </a:r>
          </a:p>
          <a:p>
            <a:r>
              <a:rPr lang="es-ES" sz="600" dirty="0"/>
              <a:t>    """</a:t>
            </a:r>
            <a:r>
              <a:rPr lang="es-ES" sz="600" dirty="0" err="1"/>
              <a:t>Sub-bloque</a:t>
            </a:r>
            <a:r>
              <a:rPr lang="es-ES" sz="600" dirty="0"/>
              <a:t> específico: MMI 2x2 limpio utilizado como acoplador del anillo."""</a:t>
            </a:r>
          </a:p>
          <a:p>
            <a:r>
              <a:rPr lang="es-ES" sz="600" dirty="0"/>
              <a:t>    </a:t>
            </a:r>
            <a:r>
              <a:rPr lang="es-ES" sz="600" dirty="0" err="1"/>
              <a:t>mmi</a:t>
            </a:r>
            <a:r>
              <a:rPr lang="es-ES" sz="600" dirty="0"/>
              <a:t> = </a:t>
            </a:r>
            <a:r>
              <a:rPr lang="es-ES" sz="600" dirty="0" err="1"/>
              <a:t>gf.Component</a:t>
            </a:r>
            <a:r>
              <a:rPr lang="es-ES" sz="600" dirty="0"/>
              <a:t>("MMI_2x2_Base")</a:t>
            </a:r>
          </a:p>
          <a:p>
            <a:r>
              <a:rPr lang="es-ES" sz="600" dirty="0"/>
              <a:t>    capa = </a:t>
            </a:r>
            <a:r>
              <a:rPr lang="es-ES" sz="600" dirty="0" err="1"/>
              <a:t>gf.components.straight</a:t>
            </a:r>
            <a:r>
              <a:rPr lang="es-ES" sz="600" dirty="0"/>
              <a:t>().</a:t>
            </a:r>
            <a:r>
              <a:rPr lang="es-ES" sz="600" dirty="0" err="1"/>
              <a:t>ports</a:t>
            </a:r>
            <a:r>
              <a:rPr lang="es-ES" sz="600" dirty="0"/>
              <a:t>["o1"].</a:t>
            </a:r>
            <a:r>
              <a:rPr lang="es-ES" sz="600" dirty="0" err="1"/>
              <a:t>layer</a:t>
            </a:r>
            <a:endParaRPr lang="es-ES" sz="600" dirty="0"/>
          </a:p>
          <a:p>
            <a:r>
              <a:rPr lang="es-ES" sz="600" dirty="0"/>
              <a:t>    </a:t>
            </a:r>
            <a:r>
              <a:rPr lang="es-ES" sz="600" dirty="0" err="1"/>
              <a:t>sec_acceso</a:t>
            </a:r>
            <a:r>
              <a:rPr lang="es-ES" sz="600" dirty="0"/>
              <a:t> = </a:t>
            </a:r>
            <a:r>
              <a:rPr lang="es-ES" sz="600" dirty="0" err="1"/>
              <a:t>gf.cross_section.cross_section</a:t>
            </a:r>
            <a:r>
              <a:rPr lang="es-ES" sz="600" dirty="0"/>
              <a:t>(</a:t>
            </a:r>
            <a:r>
              <a:rPr lang="es-ES" sz="600" dirty="0" err="1"/>
              <a:t>width</a:t>
            </a:r>
            <a:r>
              <a:rPr lang="es-ES" sz="600" dirty="0"/>
              <a:t>=1.2, </a:t>
            </a:r>
            <a:r>
              <a:rPr lang="es-ES" sz="600" dirty="0" err="1"/>
              <a:t>layer</a:t>
            </a:r>
            <a:r>
              <a:rPr lang="es-ES" sz="600" dirty="0"/>
              <a:t>=capa)</a:t>
            </a:r>
          </a:p>
          <a:p>
            <a:r>
              <a:rPr lang="es-ES" sz="600" dirty="0"/>
              <a:t>    </a:t>
            </a:r>
            <a:r>
              <a:rPr lang="es-ES" sz="600" dirty="0" err="1"/>
              <a:t>sec_body</a:t>
            </a:r>
            <a:r>
              <a:rPr lang="es-ES" sz="600" dirty="0"/>
              <a:t> = </a:t>
            </a:r>
            <a:r>
              <a:rPr lang="es-ES" sz="600" dirty="0" err="1"/>
              <a:t>gf.cross_section.cross_section</a:t>
            </a:r>
            <a:r>
              <a:rPr lang="es-ES" sz="600" dirty="0"/>
              <a:t>(</a:t>
            </a:r>
            <a:r>
              <a:rPr lang="es-ES" sz="600" dirty="0" err="1"/>
              <a:t>width</a:t>
            </a:r>
            <a:r>
              <a:rPr lang="es-ES" sz="600" dirty="0"/>
              <a:t>=6.6, </a:t>
            </a:r>
            <a:r>
              <a:rPr lang="es-ES" sz="600" dirty="0" err="1"/>
              <a:t>layer</a:t>
            </a:r>
            <a:r>
              <a:rPr lang="es-ES" sz="600" dirty="0"/>
              <a:t>=capa)</a:t>
            </a:r>
          </a:p>
          <a:p>
            <a:r>
              <a:rPr lang="es-ES" sz="600" dirty="0"/>
              <a:t>    </a:t>
            </a:r>
          </a:p>
          <a:p>
            <a:r>
              <a:rPr lang="es-ES" sz="600" dirty="0"/>
              <a:t>    </a:t>
            </a:r>
            <a:r>
              <a:rPr lang="es-ES" sz="600" dirty="0" err="1"/>
              <a:t>longitud_mmi</a:t>
            </a:r>
            <a:r>
              <a:rPr lang="es-ES" sz="600" dirty="0"/>
              <a:t> = 69.03598607255596 / 2 </a:t>
            </a:r>
          </a:p>
          <a:p>
            <a:r>
              <a:rPr lang="es-ES" sz="600" dirty="0"/>
              <a:t>    </a:t>
            </a:r>
            <a:r>
              <a:rPr lang="es-ES" sz="600" dirty="0" err="1"/>
              <a:t>body</a:t>
            </a:r>
            <a:r>
              <a:rPr lang="es-ES" sz="600" dirty="0"/>
              <a:t> = </a:t>
            </a:r>
            <a:r>
              <a:rPr lang="es-ES" sz="600" dirty="0" err="1"/>
              <a:t>mmi.add_ref</a:t>
            </a:r>
            <a:r>
              <a:rPr lang="es-ES" sz="600" dirty="0"/>
              <a:t>(</a:t>
            </a:r>
            <a:r>
              <a:rPr lang="es-ES" sz="600" dirty="0" err="1"/>
              <a:t>gf.components.straight</a:t>
            </a:r>
            <a:r>
              <a:rPr lang="es-ES" sz="600" dirty="0"/>
              <a:t>(</a:t>
            </a:r>
            <a:r>
              <a:rPr lang="es-ES" sz="600" dirty="0" err="1"/>
              <a:t>length</a:t>
            </a:r>
            <a:r>
              <a:rPr lang="es-ES" sz="600" dirty="0"/>
              <a:t>=</a:t>
            </a:r>
            <a:r>
              <a:rPr lang="es-ES" sz="600" dirty="0" err="1"/>
              <a:t>longitud_mmi</a:t>
            </a:r>
            <a:r>
              <a:rPr lang="es-ES" sz="600" dirty="0"/>
              <a:t>, </a:t>
            </a:r>
            <a:r>
              <a:rPr lang="es-ES" sz="600" dirty="0" err="1"/>
              <a:t>cross_section</a:t>
            </a:r>
            <a:r>
              <a:rPr lang="es-ES" sz="600" dirty="0"/>
              <a:t>=</a:t>
            </a:r>
            <a:r>
              <a:rPr lang="es-ES" sz="600" dirty="0" err="1"/>
              <a:t>sec_body</a:t>
            </a:r>
            <a:r>
              <a:rPr lang="es-ES" sz="600" dirty="0"/>
              <a:t>))</a:t>
            </a:r>
          </a:p>
          <a:p>
            <a:r>
              <a:rPr lang="es-ES" sz="600" dirty="0"/>
              <a:t>    </a:t>
            </a:r>
          </a:p>
          <a:p>
            <a:r>
              <a:rPr lang="es-ES" sz="600" dirty="0"/>
              <a:t>    </a:t>
            </a:r>
            <a:r>
              <a:rPr lang="es-ES" sz="600" dirty="0" err="1"/>
              <a:t>pos_y</a:t>
            </a:r>
            <a:r>
              <a:rPr lang="es-ES" sz="600" dirty="0"/>
              <a:t> = 6.6 / 6.0  </a:t>
            </a:r>
          </a:p>
          <a:p>
            <a:r>
              <a:rPr lang="es-ES" sz="600" dirty="0"/>
              <a:t>    </a:t>
            </a:r>
            <a:r>
              <a:rPr lang="es-ES" sz="600" dirty="0" err="1"/>
              <a:t>l_acc</a:t>
            </a:r>
            <a:r>
              <a:rPr lang="es-ES" sz="600" dirty="0"/>
              <a:t> = 5.0</a:t>
            </a:r>
          </a:p>
          <a:p>
            <a:r>
              <a:rPr lang="es-ES" sz="600" dirty="0"/>
              <a:t>    </a:t>
            </a:r>
            <a:r>
              <a:rPr lang="es-ES" sz="600" dirty="0" err="1"/>
              <a:t>guia_r</a:t>
            </a:r>
            <a:r>
              <a:rPr lang="es-ES" sz="600" dirty="0"/>
              <a:t> = </a:t>
            </a:r>
            <a:r>
              <a:rPr lang="es-ES" sz="600" dirty="0" err="1"/>
              <a:t>gf.components.straight</a:t>
            </a:r>
            <a:r>
              <a:rPr lang="es-ES" sz="600" dirty="0"/>
              <a:t>(</a:t>
            </a:r>
            <a:r>
              <a:rPr lang="es-ES" sz="600" dirty="0" err="1"/>
              <a:t>length</a:t>
            </a:r>
            <a:r>
              <a:rPr lang="es-ES" sz="600" dirty="0"/>
              <a:t>=</a:t>
            </a:r>
            <a:r>
              <a:rPr lang="es-ES" sz="600" dirty="0" err="1"/>
              <a:t>l_acc</a:t>
            </a:r>
            <a:r>
              <a:rPr lang="es-ES" sz="600" dirty="0"/>
              <a:t>, </a:t>
            </a:r>
            <a:r>
              <a:rPr lang="es-ES" sz="600" dirty="0" err="1"/>
              <a:t>cross_section</a:t>
            </a:r>
            <a:r>
              <a:rPr lang="es-ES" sz="600" dirty="0"/>
              <a:t>=</a:t>
            </a:r>
            <a:r>
              <a:rPr lang="es-ES" sz="600" dirty="0" err="1"/>
              <a:t>sec_acceso</a:t>
            </a:r>
            <a:r>
              <a:rPr lang="es-ES" sz="600" dirty="0"/>
              <a:t>)</a:t>
            </a:r>
          </a:p>
          <a:p>
            <a:r>
              <a:rPr lang="es-ES" sz="600" dirty="0"/>
              <a:t>    </a:t>
            </a:r>
          </a:p>
          <a:p>
            <a:r>
              <a:rPr lang="es-ES" sz="600" dirty="0"/>
              <a:t>    </a:t>
            </a:r>
            <a:r>
              <a:rPr lang="es-ES" sz="600" dirty="0" err="1"/>
              <a:t>it</a:t>
            </a:r>
            <a:r>
              <a:rPr lang="es-ES" sz="600" dirty="0"/>
              <a:t> = </a:t>
            </a:r>
            <a:r>
              <a:rPr lang="es-ES" sz="600" dirty="0" err="1"/>
              <a:t>mmi.add_ref</a:t>
            </a:r>
            <a:r>
              <a:rPr lang="es-ES" sz="600" dirty="0"/>
              <a:t>(</a:t>
            </a:r>
            <a:r>
              <a:rPr lang="es-ES" sz="600" dirty="0" err="1"/>
              <a:t>guia_r</a:t>
            </a:r>
            <a:r>
              <a:rPr lang="es-ES" sz="600" dirty="0"/>
              <a:t>).</a:t>
            </a:r>
            <a:r>
              <a:rPr lang="es-ES" sz="600" dirty="0" err="1"/>
              <a:t>movex</a:t>
            </a:r>
            <a:r>
              <a:rPr lang="es-ES" sz="600" dirty="0"/>
              <a:t>(-</a:t>
            </a:r>
            <a:r>
              <a:rPr lang="es-ES" sz="600" dirty="0" err="1"/>
              <a:t>l_acc</a:t>
            </a:r>
            <a:r>
              <a:rPr lang="es-ES" sz="600" dirty="0"/>
              <a:t>).</a:t>
            </a:r>
            <a:r>
              <a:rPr lang="es-ES" sz="600" dirty="0" err="1"/>
              <a:t>movey</a:t>
            </a:r>
            <a:r>
              <a:rPr lang="es-ES" sz="600" dirty="0"/>
              <a:t>(</a:t>
            </a:r>
            <a:r>
              <a:rPr lang="es-ES" sz="600" dirty="0" err="1"/>
              <a:t>pos_y</a:t>
            </a:r>
            <a:r>
              <a:rPr lang="es-ES" sz="600" dirty="0"/>
              <a:t>)</a:t>
            </a:r>
          </a:p>
          <a:p>
            <a:r>
              <a:rPr lang="es-ES" sz="600" dirty="0"/>
              <a:t>    </a:t>
            </a:r>
            <a:r>
              <a:rPr lang="es-ES" sz="600" dirty="0" err="1"/>
              <a:t>ib</a:t>
            </a:r>
            <a:r>
              <a:rPr lang="es-ES" sz="600" dirty="0"/>
              <a:t> = </a:t>
            </a:r>
            <a:r>
              <a:rPr lang="es-ES" sz="600" dirty="0" err="1"/>
              <a:t>mmi.add_ref</a:t>
            </a:r>
            <a:r>
              <a:rPr lang="es-ES" sz="600" dirty="0"/>
              <a:t>(</a:t>
            </a:r>
            <a:r>
              <a:rPr lang="es-ES" sz="600" dirty="0" err="1"/>
              <a:t>guia_r</a:t>
            </a:r>
            <a:r>
              <a:rPr lang="es-ES" sz="600" dirty="0"/>
              <a:t>).</a:t>
            </a:r>
            <a:r>
              <a:rPr lang="es-ES" sz="600" dirty="0" err="1"/>
              <a:t>movex</a:t>
            </a:r>
            <a:r>
              <a:rPr lang="es-ES" sz="600" dirty="0"/>
              <a:t>(-</a:t>
            </a:r>
            <a:r>
              <a:rPr lang="es-ES" sz="600" dirty="0" err="1"/>
              <a:t>l_acc</a:t>
            </a:r>
            <a:r>
              <a:rPr lang="es-ES" sz="600" dirty="0"/>
              <a:t>).</a:t>
            </a:r>
            <a:r>
              <a:rPr lang="es-ES" sz="600" dirty="0" err="1"/>
              <a:t>movey</a:t>
            </a:r>
            <a:r>
              <a:rPr lang="es-ES" sz="600" dirty="0"/>
              <a:t>(-</a:t>
            </a:r>
            <a:r>
              <a:rPr lang="es-ES" sz="600" dirty="0" err="1"/>
              <a:t>pos_y</a:t>
            </a:r>
            <a:r>
              <a:rPr lang="es-ES" sz="600" dirty="0"/>
              <a:t>)</a:t>
            </a:r>
          </a:p>
          <a:p>
            <a:r>
              <a:rPr lang="es-ES" sz="600" dirty="0"/>
              <a:t>    </a:t>
            </a:r>
            <a:r>
              <a:rPr lang="es-ES" sz="600" dirty="0" err="1"/>
              <a:t>ot</a:t>
            </a:r>
            <a:r>
              <a:rPr lang="es-ES" sz="600" dirty="0"/>
              <a:t> = </a:t>
            </a:r>
            <a:r>
              <a:rPr lang="es-ES" sz="600" dirty="0" err="1"/>
              <a:t>mmi.add_ref</a:t>
            </a:r>
            <a:r>
              <a:rPr lang="es-ES" sz="600" dirty="0"/>
              <a:t>(</a:t>
            </a:r>
            <a:r>
              <a:rPr lang="es-ES" sz="600" dirty="0" err="1"/>
              <a:t>guia_r</a:t>
            </a:r>
            <a:r>
              <a:rPr lang="es-ES" sz="600" dirty="0"/>
              <a:t>).</a:t>
            </a:r>
            <a:r>
              <a:rPr lang="es-ES" sz="600" dirty="0" err="1"/>
              <a:t>movex</a:t>
            </a:r>
            <a:r>
              <a:rPr lang="es-ES" sz="600" dirty="0"/>
              <a:t>(</a:t>
            </a:r>
            <a:r>
              <a:rPr lang="es-ES" sz="600" dirty="0" err="1"/>
              <a:t>longitud_mmi</a:t>
            </a:r>
            <a:r>
              <a:rPr lang="es-ES" sz="600" dirty="0"/>
              <a:t>).</a:t>
            </a:r>
            <a:r>
              <a:rPr lang="es-ES" sz="600" dirty="0" err="1"/>
              <a:t>movey</a:t>
            </a:r>
            <a:r>
              <a:rPr lang="es-ES" sz="600" dirty="0"/>
              <a:t>(</a:t>
            </a:r>
            <a:r>
              <a:rPr lang="es-ES" sz="600" dirty="0" err="1"/>
              <a:t>pos_y</a:t>
            </a:r>
            <a:r>
              <a:rPr lang="es-ES" sz="600" dirty="0"/>
              <a:t>)</a:t>
            </a:r>
          </a:p>
          <a:p>
            <a:r>
              <a:rPr lang="es-ES" sz="600" dirty="0"/>
              <a:t>    </a:t>
            </a:r>
            <a:r>
              <a:rPr lang="es-ES" sz="600" dirty="0" err="1"/>
              <a:t>ob</a:t>
            </a:r>
            <a:r>
              <a:rPr lang="es-ES" sz="600" dirty="0"/>
              <a:t> = </a:t>
            </a:r>
            <a:r>
              <a:rPr lang="es-ES" sz="600" dirty="0" err="1"/>
              <a:t>mmi.add_ref</a:t>
            </a:r>
            <a:r>
              <a:rPr lang="es-ES" sz="600" dirty="0"/>
              <a:t>(</a:t>
            </a:r>
            <a:r>
              <a:rPr lang="es-ES" sz="600" dirty="0" err="1"/>
              <a:t>guia_r</a:t>
            </a:r>
            <a:r>
              <a:rPr lang="es-ES" sz="600" dirty="0"/>
              <a:t>).</a:t>
            </a:r>
            <a:r>
              <a:rPr lang="es-ES" sz="600" dirty="0" err="1"/>
              <a:t>movex</a:t>
            </a:r>
            <a:r>
              <a:rPr lang="es-ES" sz="600" dirty="0"/>
              <a:t>(</a:t>
            </a:r>
            <a:r>
              <a:rPr lang="es-ES" sz="600" dirty="0" err="1"/>
              <a:t>longitud_mmi</a:t>
            </a:r>
            <a:r>
              <a:rPr lang="es-ES" sz="600" dirty="0"/>
              <a:t>).</a:t>
            </a:r>
            <a:r>
              <a:rPr lang="es-ES" sz="600" dirty="0" err="1"/>
              <a:t>movey</a:t>
            </a:r>
            <a:r>
              <a:rPr lang="es-ES" sz="600" dirty="0"/>
              <a:t>(-</a:t>
            </a:r>
            <a:r>
              <a:rPr lang="es-ES" sz="600" dirty="0" err="1"/>
              <a:t>pos_y</a:t>
            </a:r>
            <a:r>
              <a:rPr lang="es-ES" sz="600" dirty="0"/>
              <a:t>)</a:t>
            </a:r>
          </a:p>
          <a:p>
            <a:r>
              <a:rPr lang="es-ES" sz="600" dirty="0"/>
              <a:t>    </a:t>
            </a:r>
          </a:p>
          <a:p>
            <a:r>
              <a:rPr lang="es-ES" sz="600" dirty="0"/>
              <a:t>    </a:t>
            </a:r>
            <a:r>
              <a:rPr lang="es-ES" sz="600" dirty="0" err="1"/>
              <a:t>mmi.add_port</a:t>
            </a:r>
            <a:r>
              <a:rPr lang="es-ES" sz="600" dirty="0"/>
              <a:t>("</a:t>
            </a:r>
            <a:r>
              <a:rPr lang="es-ES" sz="600" dirty="0" err="1"/>
              <a:t>in_top</a:t>
            </a:r>
            <a:r>
              <a:rPr lang="es-ES" sz="600" dirty="0"/>
              <a:t>", </a:t>
            </a:r>
            <a:r>
              <a:rPr lang="es-ES" sz="600" dirty="0" err="1"/>
              <a:t>port</a:t>
            </a:r>
            <a:r>
              <a:rPr lang="es-ES" sz="600" dirty="0"/>
              <a:t>=</a:t>
            </a:r>
            <a:r>
              <a:rPr lang="es-ES" sz="600" dirty="0" err="1"/>
              <a:t>it.ports</a:t>
            </a:r>
            <a:r>
              <a:rPr lang="es-ES" sz="600" dirty="0"/>
              <a:t>["o1"])</a:t>
            </a:r>
          </a:p>
          <a:p>
            <a:r>
              <a:rPr lang="es-ES" sz="600" dirty="0"/>
              <a:t>    </a:t>
            </a:r>
            <a:r>
              <a:rPr lang="es-ES" sz="600" dirty="0" err="1"/>
              <a:t>mmi.add_port</a:t>
            </a:r>
            <a:r>
              <a:rPr lang="es-ES" sz="600" dirty="0"/>
              <a:t>("</a:t>
            </a:r>
            <a:r>
              <a:rPr lang="es-ES" sz="600" dirty="0" err="1"/>
              <a:t>in_bot</a:t>
            </a:r>
            <a:r>
              <a:rPr lang="es-ES" sz="600" dirty="0"/>
              <a:t>", </a:t>
            </a:r>
            <a:r>
              <a:rPr lang="es-ES" sz="600" dirty="0" err="1"/>
              <a:t>port</a:t>
            </a:r>
            <a:r>
              <a:rPr lang="es-ES" sz="600" dirty="0"/>
              <a:t>=</a:t>
            </a:r>
            <a:r>
              <a:rPr lang="es-ES" sz="600" dirty="0" err="1"/>
              <a:t>ib.ports</a:t>
            </a:r>
            <a:r>
              <a:rPr lang="es-ES" sz="600" dirty="0"/>
              <a:t>["o1"])</a:t>
            </a:r>
          </a:p>
          <a:p>
            <a:r>
              <a:rPr lang="es-ES" sz="600" dirty="0"/>
              <a:t>    </a:t>
            </a:r>
            <a:r>
              <a:rPr lang="es-ES" sz="600" dirty="0" err="1"/>
              <a:t>mmi.add_port</a:t>
            </a:r>
            <a:r>
              <a:rPr lang="es-ES" sz="600" dirty="0"/>
              <a:t>("</a:t>
            </a:r>
            <a:r>
              <a:rPr lang="es-ES" sz="600" dirty="0" err="1"/>
              <a:t>out_top</a:t>
            </a:r>
            <a:r>
              <a:rPr lang="es-ES" sz="600" dirty="0"/>
              <a:t>", </a:t>
            </a:r>
            <a:r>
              <a:rPr lang="es-ES" sz="600" dirty="0" err="1"/>
              <a:t>port</a:t>
            </a:r>
            <a:r>
              <a:rPr lang="es-ES" sz="600" dirty="0"/>
              <a:t>=</a:t>
            </a:r>
            <a:r>
              <a:rPr lang="es-ES" sz="600" dirty="0" err="1"/>
              <a:t>ot.ports</a:t>
            </a:r>
            <a:r>
              <a:rPr lang="es-ES" sz="600" dirty="0"/>
              <a:t>["o2"])</a:t>
            </a:r>
          </a:p>
          <a:p>
            <a:r>
              <a:rPr lang="es-ES" sz="600" dirty="0"/>
              <a:t>    </a:t>
            </a:r>
            <a:r>
              <a:rPr lang="es-ES" sz="600" dirty="0" err="1"/>
              <a:t>mmi.add_port</a:t>
            </a:r>
            <a:r>
              <a:rPr lang="es-ES" sz="600" dirty="0"/>
              <a:t>("</a:t>
            </a:r>
            <a:r>
              <a:rPr lang="es-ES" sz="600" dirty="0" err="1"/>
              <a:t>out_bot</a:t>
            </a:r>
            <a:r>
              <a:rPr lang="es-ES" sz="600" dirty="0"/>
              <a:t>", </a:t>
            </a:r>
            <a:r>
              <a:rPr lang="es-ES" sz="600" dirty="0" err="1"/>
              <a:t>port</a:t>
            </a:r>
            <a:r>
              <a:rPr lang="es-ES" sz="600" dirty="0"/>
              <a:t>=</a:t>
            </a:r>
            <a:r>
              <a:rPr lang="es-ES" sz="600" dirty="0" err="1"/>
              <a:t>ob.ports</a:t>
            </a:r>
            <a:r>
              <a:rPr lang="es-ES" sz="600" dirty="0"/>
              <a:t>["o2"])</a:t>
            </a:r>
          </a:p>
          <a:p>
            <a:r>
              <a:rPr lang="es-ES" sz="600" dirty="0"/>
              <a:t>    </a:t>
            </a:r>
            <a:r>
              <a:rPr lang="es-ES" sz="600" dirty="0" err="1"/>
              <a:t>return</a:t>
            </a:r>
            <a:r>
              <a:rPr lang="es-ES" sz="600" dirty="0"/>
              <a:t> </a:t>
            </a:r>
            <a:r>
              <a:rPr lang="es-ES" sz="600" dirty="0" err="1"/>
              <a:t>mmi</a:t>
            </a:r>
            <a:endParaRPr lang="es-ES" sz="600" dirty="0"/>
          </a:p>
          <a:p>
            <a:br>
              <a:rPr lang="es-ES" sz="600" dirty="0"/>
            </a:br>
            <a:br>
              <a:rPr lang="es-ES" sz="600" dirty="0"/>
            </a:br>
            <a:endParaRPr lang="es-ES" sz="600" dirty="0"/>
          </a:p>
          <a:p>
            <a:r>
              <a:rPr lang="es-ES" sz="600" dirty="0"/>
              <a:t>@gf.cell</a:t>
            </a:r>
          </a:p>
          <a:p>
            <a:r>
              <a:rPr lang="es-ES" sz="600" dirty="0" err="1"/>
              <a:t>def</a:t>
            </a:r>
            <a:r>
              <a:rPr lang="es-ES" sz="600" dirty="0"/>
              <a:t> </a:t>
            </a:r>
            <a:r>
              <a:rPr lang="es-ES" sz="600" dirty="0" err="1"/>
              <a:t>resonador_racetrack_base</a:t>
            </a:r>
            <a:r>
              <a:rPr lang="es-ES" sz="600" dirty="0"/>
              <a:t>(</a:t>
            </a:r>
            <a:r>
              <a:rPr lang="es-ES" sz="600" dirty="0" err="1"/>
              <a:t>radius</a:t>
            </a:r>
            <a:r>
              <a:rPr lang="es-ES" sz="600" dirty="0"/>
              <a:t>: </a:t>
            </a:r>
            <a:r>
              <a:rPr lang="es-ES" sz="600" dirty="0" err="1"/>
              <a:t>float</a:t>
            </a:r>
            <a:r>
              <a:rPr lang="es-ES" sz="600" dirty="0"/>
              <a:t> = 37.69, </a:t>
            </a:r>
            <a:r>
              <a:rPr lang="es-ES" sz="600" dirty="0" err="1"/>
              <a:t>longitud_vertical</a:t>
            </a:r>
            <a:r>
              <a:rPr lang="es-ES" sz="600" dirty="0"/>
              <a:t>: </a:t>
            </a:r>
            <a:r>
              <a:rPr lang="es-ES" sz="600" dirty="0" err="1"/>
              <a:t>float</a:t>
            </a:r>
            <a:r>
              <a:rPr lang="es-ES" sz="600" dirty="0"/>
              <a:t> = 20.0) -&gt; </a:t>
            </a:r>
            <a:r>
              <a:rPr lang="es-ES" sz="600" dirty="0" err="1"/>
              <a:t>gf.Component</a:t>
            </a:r>
            <a:r>
              <a:rPr lang="es-ES" sz="600" dirty="0"/>
              <a:t>:</a:t>
            </a:r>
          </a:p>
          <a:p>
            <a:r>
              <a:rPr lang="es-ES" sz="600" dirty="0"/>
              <a:t>    """Componente específico: Cavidad </a:t>
            </a:r>
            <a:r>
              <a:rPr lang="es-ES" sz="600" dirty="0" err="1"/>
              <a:t>racetrack</a:t>
            </a:r>
            <a:r>
              <a:rPr lang="es-ES" sz="600" dirty="0"/>
              <a:t> cerrada sobre el MMI central."""</a:t>
            </a:r>
          </a:p>
          <a:p>
            <a:r>
              <a:rPr lang="es-ES" sz="600" dirty="0"/>
              <a:t>    c = </a:t>
            </a:r>
            <a:r>
              <a:rPr lang="es-ES" sz="600" dirty="0" err="1"/>
              <a:t>gf.Component</a:t>
            </a:r>
            <a:r>
              <a:rPr lang="es-ES" sz="600" dirty="0"/>
              <a:t>("</a:t>
            </a:r>
            <a:r>
              <a:rPr lang="es-ES" sz="600" dirty="0" err="1"/>
              <a:t>Resonador_Racetrack_Base</a:t>
            </a:r>
            <a:r>
              <a:rPr lang="es-ES" sz="600" dirty="0"/>
              <a:t>")</a:t>
            </a:r>
          </a:p>
          <a:p>
            <a:r>
              <a:rPr lang="es-ES" sz="600" dirty="0"/>
              <a:t>    </a:t>
            </a:r>
          </a:p>
          <a:p>
            <a:r>
              <a:rPr lang="es-ES" sz="600" dirty="0"/>
              <a:t>    </a:t>
            </a:r>
            <a:r>
              <a:rPr lang="es-ES" sz="600" dirty="0" err="1"/>
              <a:t>capa_base</a:t>
            </a:r>
            <a:r>
              <a:rPr lang="es-ES" sz="600" dirty="0"/>
              <a:t> = </a:t>
            </a:r>
            <a:r>
              <a:rPr lang="es-ES" sz="600" dirty="0" err="1"/>
              <a:t>gf.components.straight</a:t>
            </a:r>
            <a:r>
              <a:rPr lang="es-ES" sz="600" dirty="0"/>
              <a:t>().</a:t>
            </a:r>
            <a:r>
              <a:rPr lang="es-ES" sz="600" dirty="0" err="1"/>
              <a:t>ports</a:t>
            </a:r>
            <a:r>
              <a:rPr lang="es-ES" sz="600" dirty="0"/>
              <a:t>["o1"].</a:t>
            </a:r>
            <a:r>
              <a:rPr lang="es-ES" sz="600" dirty="0" err="1"/>
              <a:t>layer</a:t>
            </a:r>
            <a:endParaRPr lang="es-ES" sz="600" dirty="0"/>
          </a:p>
          <a:p>
            <a:r>
              <a:rPr lang="es-ES" sz="600" dirty="0"/>
              <a:t>    </a:t>
            </a:r>
            <a:r>
              <a:rPr lang="es-ES" sz="600" dirty="0" err="1"/>
              <a:t>seccion_acceso</a:t>
            </a:r>
            <a:r>
              <a:rPr lang="es-ES" sz="600" dirty="0"/>
              <a:t> = </a:t>
            </a:r>
            <a:r>
              <a:rPr lang="es-ES" sz="600" dirty="0" err="1"/>
              <a:t>gf.cross_section.cross_section</a:t>
            </a:r>
            <a:r>
              <a:rPr lang="es-ES" sz="600" dirty="0"/>
              <a:t>(</a:t>
            </a:r>
            <a:r>
              <a:rPr lang="es-ES" sz="600" dirty="0" err="1"/>
              <a:t>width</a:t>
            </a:r>
            <a:r>
              <a:rPr lang="es-ES" sz="600" dirty="0"/>
              <a:t>=1.2, </a:t>
            </a:r>
            <a:r>
              <a:rPr lang="es-ES" sz="600" dirty="0" err="1"/>
              <a:t>layer</a:t>
            </a:r>
            <a:r>
              <a:rPr lang="es-ES" sz="600" dirty="0"/>
              <a:t>=</a:t>
            </a:r>
            <a:r>
              <a:rPr lang="es-ES" sz="600" dirty="0" err="1"/>
              <a:t>capa_base</a:t>
            </a:r>
            <a:r>
              <a:rPr lang="es-ES" sz="600" dirty="0"/>
              <a:t>)</a:t>
            </a:r>
          </a:p>
          <a:p>
            <a:br>
              <a:rPr lang="es-ES" sz="600" dirty="0"/>
            </a:br>
            <a:endParaRPr lang="es-ES" sz="600" dirty="0"/>
          </a:p>
          <a:p>
            <a:r>
              <a:rPr lang="es-ES" sz="600" dirty="0"/>
              <a:t>    # Añadimos el acoplador MMI central al </a:t>
            </a:r>
            <a:r>
              <a:rPr lang="es-ES" sz="600" dirty="0" err="1"/>
              <a:t>sub-diseño</a:t>
            </a:r>
            <a:endParaRPr lang="es-ES" sz="600" dirty="0"/>
          </a:p>
          <a:p>
            <a:r>
              <a:rPr lang="es-ES" sz="600" dirty="0"/>
              <a:t>    </a:t>
            </a:r>
            <a:r>
              <a:rPr lang="es-ES" sz="600" dirty="0" err="1"/>
              <a:t>mmi_central</a:t>
            </a:r>
            <a:r>
              <a:rPr lang="es-ES" sz="600" dirty="0"/>
              <a:t> = </a:t>
            </a:r>
            <a:r>
              <a:rPr lang="es-ES" sz="600" dirty="0" err="1"/>
              <a:t>c.add_ref</a:t>
            </a:r>
            <a:r>
              <a:rPr lang="es-ES" sz="600" dirty="0"/>
              <a:t>(mmi_2x2_base())</a:t>
            </a:r>
          </a:p>
          <a:p>
            <a:br>
              <a:rPr lang="es-ES" sz="600" dirty="0"/>
            </a:br>
            <a:endParaRPr lang="es-ES" sz="600" dirty="0"/>
          </a:p>
          <a:p>
            <a:r>
              <a:rPr lang="es-ES" sz="600" dirty="0"/>
              <a:t>    # La longitud del tramo horizontal superior debe ser igual a la distancia total entre puertos</a:t>
            </a:r>
          </a:p>
          <a:p>
            <a:r>
              <a:rPr lang="es-ES" sz="600" dirty="0"/>
              <a:t>    </a:t>
            </a:r>
            <a:r>
              <a:rPr lang="es-ES" sz="600" dirty="0" err="1"/>
              <a:t>longitud_horizontal</a:t>
            </a:r>
            <a:r>
              <a:rPr lang="es-ES" sz="600" dirty="0"/>
              <a:t> = (69.03598607255596 / 2) + 2 * 5.0</a:t>
            </a:r>
          </a:p>
          <a:p>
            <a:br>
              <a:rPr lang="es-ES" sz="600" dirty="0"/>
            </a:br>
            <a:endParaRPr lang="es-ES" sz="600" dirty="0"/>
          </a:p>
          <a:p>
            <a:r>
              <a:rPr lang="es-ES" sz="600" dirty="0"/>
              <a:t>    # Moldes geométricos para la pista de carreras</a:t>
            </a:r>
          </a:p>
          <a:p>
            <a:r>
              <a:rPr lang="es-ES" sz="600" dirty="0"/>
              <a:t>    b90 = </a:t>
            </a:r>
            <a:r>
              <a:rPr lang="es-ES" sz="600" dirty="0" err="1"/>
              <a:t>gf.components.bend_circular</a:t>
            </a:r>
            <a:r>
              <a:rPr lang="es-ES" sz="600" dirty="0"/>
              <a:t>(</a:t>
            </a:r>
            <a:r>
              <a:rPr lang="es-ES" sz="600" dirty="0" err="1"/>
              <a:t>radius</a:t>
            </a:r>
            <a:r>
              <a:rPr lang="es-ES" sz="600" dirty="0"/>
              <a:t>=</a:t>
            </a:r>
            <a:r>
              <a:rPr lang="es-ES" sz="600" dirty="0" err="1"/>
              <a:t>radius</a:t>
            </a:r>
            <a:r>
              <a:rPr lang="es-ES" sz="600" dirty="0"/>
              <a:t>, </a:t>
            </a:r>
            <a:r>
              <a:rPr lang="es-ES" sz="600" dirty="0" err="1"/>
              <a:t>cross_section</a:t>
            </a:r>
            <a:r>
              <a:rPr lang="es-ES" sz="600" dirty="0"/>
              <a:t>=</a:t>
            </a:r>
            <a:r>
              <a:rPr lang="es-ES" sz="600" dirty="0" err="1"/>
              <a:t>seccion_acceso</a:t>
            </a:r>
            <a:r>
              <a:rPr lang="es-ES" sz="600" dirty="0"/>
              <a:t>)</a:t>
            </a:r>
          </a:p>
          <a:p>
            <a:r>
              <a:rPr lang="es-ES" sz="600" dirty="0"/>
              <a:t>    </a:t>
            </a:r>
            <a:r>
              <a:rPr lang="es-ES" sz="600" dirty="0" err="1"/>
              <a:t>guia_v</a:t>
            </a:r>
            <a:r>
              <a:rPr lang="es-ES" sz="600" dirty="0"/>
              <a:t> = </a:t>
            </a:r>
            <a:r>
              <a:rPr lang="es-ES" sz="600" dirty="0" err="1"/>
              <a:t>gf.components.straight</a:t>
            </a:r>
            <a:r>
              <a:rPr lang="es-ES" sz="600" dirty="0"/>
              <a:t>(</a:t>
            </a:r>
            <a:r>
              <a:rPr lang="es-ES" sz="600" dirty="0" err="1"/>
              <a:t>length</a:t>
            </a:r>
            <a:r>
              <a:rPr lang="es-ES" sz="600" dirty="0"/>
              <a:t>=</a:t>
            </a:r>
            <a:r>
              <a:rPr lang="es-ES" sz="600" dirty="0" err="1"/>
              <a:t>longitud_vertical</a:t>
            </a:r>
            <a:r>
              <a:rPr lang="es-ES" sz="600" dirty="0"/>
              <a:t>, </a:t>
            </a:r>
            <a:r>
              <a:rPr lang="es-ES" sz="600" dirty="0" err="1"/>
              <a:t>cross_section</a:t>
            </a:r>
            <a:r>
              <a:rPr lang="es-ES" sz="600" dirty="0"/>
              <a:t>=</a:t>
            </a:r>
            <a:r>
              <a:rPr lang="es-ES" sz="600" dirty="0" err="1"/>
              <a:t>seccion_acceso</a:t>
            </a:r>
            <a:r>
              <a:rPr lang="es-ES" sz="600" dirty="0"/>
              <a:t>)</a:t>
            </a:r>
          </a:p>
          <a:p>
            <a:r>
              <a:rPr lang="es-ES" sz="600" dirty="0"/>
              <a:t>    </a:t>
            </a:r>
            <a:r>
              <a:rPr lang="es-ES" sz="600" dirty="0" err="1"/>
              <a:t>guia_h</a:t>
            </a:r>
            <a:r>
              <a:rPr lang="es-ES" sz="600" dirty="0"/>
              <a:t> = </a:t>
            </a:r>
            <a:r>
              <a:rPr lang="es-ES" sz="600" dirty="0" err="1"/>
              <a:t>gf.components.straight</a:t>
            </a:r>
            <a:r>
              <a:rPr lang="es-ES" sz="600" dirty="0"/>
              <a:t>(</a:t>
            </a:r>
            <a:r>
              <a:rPr lang="es-ES" sz="600" dirty="0" err="1"/>
              <a:t>length</a:t>
            </a:r>
            <a:r>
              <a:rPr lang="es-ES" sz="600" dirty="0"/>
              <a:t>=</a:t>
            </a:r>
            <a:r>
              <a:rPr lang="es-ES" sz="600" dirty="0" err="1"/>
              <a:t>longitud_horizontal</a:t>
            </a:r>
            <a:r>
              <a:rPr lang="es-ES" sz="600" dirty="0"/>
              <a:t>, </a:t>
            </a:r>
            <a:r>
              <a:rPr lang="es-ES" sz="600" dirty="0" err="1"/>
              <a:t>cross_section</a:t>
            </a:r>
            <a:r>
              <a:rPr lang="es-ES" sz="600" dirty="0"/>
              <a:t>=</a:t>
            </a:r>
            <a:r>
              <a:rPr lang="es-ES" sz="600" dirty="0" err="1"/>
              <a:t>seccion_acceso</a:t>
            </a:r>
            <a:r>
              <a:rPr lang="es-ES" sz="600" dirty="0"/>
              <a:t>)</a:t>
            </a:r>
          </a:p>
          <a:p>
            <a:br>
              <a:rPr lang="es-ES" sz="600" dirty="0"/>
            </a:br>
            <a:endParaRPr lang="es-ES" sz="600" dirty="0"/>
          </a:p>
          <a:p>
            <a:r>
              <a:rPr lang="es-ES" sz="600" dirty="0"/>
              <a:t>    # --- CONSTRUCCIÓN DEL BUCLE SUPERIOR (Cierre de la cavidad) ---</a:t>
            </a:r>
          </a:p>
          <a:p>
            <a:r>
              <a:rPr lang="es-ES" sz="600" dirty="0"/>
              <a:t>    # Esquina inferior derecha: sube desde la salida superior del MMI</a:t>
            </a:r>
          </a:p>
          <a:p>
            <a:r>
              <a:rPr lang="es-ES" sz="600" dirty="0"/>
              <a:t>    b1 = </a:t>
            </a:r>
            <a:r>
              <a:rPr lang="es-ES" sz="600" dirty="0" err="1"/>
              <a:t>c.add_ref</a:t>
            </a:r>
            <a:r>
              <a:rPr lang="es-ES" sz="600" dirty="0"/>
              <a:t>(b90)</a:t>
            </a:r>
          </a:p>
          <a:p>
            <a:r>
              <a:rPr lang="es-ES" sz="600" dirty="0"/>
              <a:t>    b1.connect("o1", </a:t>
            </a:r>
            <a:r>
              <a:rPr lang="es-ES" sz="600" dirty="0" err="1"/>
              <a:t>mmi_central.ports</a:t>
            </a:r>
            <a:r>
              <a:rPr lang="es-ES" sz="600" dirty="0"/>
              <a:t>["</a:t>
            </a:r>
            <a:r>
              <a:rPr lang="es-ES" sz="600" dirty="0" err="1"/>
              <a:t>out_top</a:t>
            </a:r>
            <a:r>
              <a:rPr lang="es-ES" sz="600" dirty="0"/>
              <a:t>"])</a:t>
            </a:r>
          </a:p>
          <a:p>
            <a:br>
              <a:rPr lang="es-ES" sz="600" dirty="0"/>
            </a:br>
            <a:endParaRPr lang="es-ES" sz="600" dirty="0"/>
          </a:p>
          <a:p>
            <a:r>
              <a:rPr lang="es-ES" sz="600" dirty="0"/>
              <a:t>    # Recta vertical derecha (subiendo)</a:t>
            </a:r>
          </a:p>
          <a:p>
            <a:r>
              <a:rPr lang="es-ES" sz="600" dirty="0"/>
              <a:t>    v1 = </a:t>
            </a:r>
            <a:r>
              <a:rPr lang="es-ES" sz="600" dirty="0" err="1"/>
              <a:t>c.add_ref</a:t>
            </a:r>
            <a:r>
              <a:rPr lang="es-ES" sz="600" dirty="0"/>
              <a:t>(</a:t>
            </a:r>
            <a:r>
              <a:rPr lang="es-ES" sz="600" dirty="0" err="1"/>
              <a:t>guia_v</a:t>
            </a:r>
            <a:r>
              <a:rPr lang="es-ES" sz="600" dirty="0"/>
              <a:t>)</a:t>
            </a:r>
          </a:p>
          <a:p>
            <a:r>
              <a:rPr lang="es-ES" sz="600" dirty="0"/>
              <a:t>    v1.connect("o1", b1.ports["o2"])</a:t>
            </a:r>
          </a:p>
          <a:p>
            <a:br>
              <a:rPr lang="es-ES" sz="600" dirty="0"/>
            </a:br>
            <a:endParaRPr lang="es-ES" sz="600" dirty="0"/>
          </a:p>
          <a:p>
            <a:r>
              <a:rPr lang="es-ES" sz="600" dirty="0"/>
              <a:t>    # Esquina superior derecha: gira hacia la izquierda</a:t>
            </a:r>
          </a:p>
          <a:p>
            <a:r>
              <a:rPr lang="es-ES" sz="600" dirty="0"/>
              <a:t>    b2 = </a:t>
            </a:r>
            <a:r>
              <a:rPr lang="es-ES" sz="600" dirty="0" err="1"/>
              <a:t>c.add_ref</a:t>
            </a:r>
            <a:r>
              <a:rPr lang="es-ES" sz="600" dirty="0"/>
              <a:t>(b90)</a:t>
            </a:r>
          </a:p>
          <a:p>
            <a:r>
              <a:rPr lang="es-ES" sz="600" dirty="0"/>
              <a:t>    b2.connect("o1", v1.ports["o2"])</a:t>
            </a:r>
          </a:p>
          <a:p>
            <a:br>
              <a:rPr lang="es-ES" sz="600" dirty="0"/>
            </a:br>
            <a:endParaRPr lang="es-ES" sz="600" dirty="0"/>
          </a:p>
          <a:p>
            <a:r>
              <a:rPr lang="es-ES" sz="600" dirty="0"/>
              <a:t>    # Recta horizontal superior (hacia la izquierda)</a:t>
            </a:r>
          </a:p>
          <a:p>
            <a:r>
              <a:rPr lang="es-ES" sz="600" dirty="0"/>
              <a:t>    h1 = </a:t>
            </a:r>
            <a:r>
              <a:rPr lang="es-ES" sz="600" dirty="0" err="1"/>
              <a:t>c.add_ref</a:t>
            </a:r>
            <a:r>
              <a:rPr lang="es-ES" sz="600" dirty="0"/>
              <a:t>(</a:t>
            </a:r>
            <a:r>
              <a:rPr lang="es-ES" sz="600" dirty="0" err="1"/>
              <a:t>guia_h</a:t>
            </a:r>
            <a:r>
              <a:rPr lang="es-ES" sz="600" dirty="0"/>
              <a:t>)</a:t>
            </a:r>
          </a:p>
          <a:p>
            <a:r>
              <a:rPr lang="es-ES" sz="600" dirty="0"/>
              <a:t>    h1.connect("o1", b2.ports["o2"])</a:t>
            </a:r>
          </a:p>
          <a:p>
            <a:br>
              <a:rPr lang="es-ES" sz="600" dirty="0"/>
            </a:br>
            <a:endParaRPr lang="es-ES" sz="600" dirty="0"/>
          </a:p>
          <a:p>
            <a:r>
              <a:rPr lang="es-ES" sz="600" dirty="0"/>
              <a:t>    # Esquina superior izquierda: gira hacia abajo</a:t>
            </a:r>
          </a:p>
          <a:p>
            <a:r>
              <a:rPr lang="es-ES" sz="600" dirty="0"/>
              <a:t>    b3 = </a:t>
            </a:r>
            <a:r>
              <a:rPr lang="es-ES" sz="600" dirty="0" err="1"/>
              <a:t>c.add_ref</a:t>
            </a:r>
            <a:r>
              <a:rPr lang="es-ES" sz="600" dirty="0"/>
              <a:t>(b90)</a:t>
            </a:r>
          </a:p>
          <a:p>
            <a:r>
              <a:rPr lang="es-ES" sz="600" dirty="0"/>
              <a:t>    b3.connect("o1", h1.ports["o2"])</a:t>
            </a:r>
          </a:p>
          <a:p>
            <a:br>
              <a:rPr lang="es-ES" sz="600" dirty="0"/>
            </a:br>
            <a:endParaRPr lang="es-ES" sz="600" dirty="0"/>
          </a:p>
          <a:p>
            <a:r>
              <a:rPr lang="es-ES" sz="600" dirty="0"/>
              <a:t>    # Recta vertical izquierda (bajando)</a:t>
            </a:r>
          </a:p>
          <a:p>
            <a:r>
              <a:rPr lang="es-ES" sz="600" dirty="0"/>
              <a:t>    v2 = </a:t>
            </a:r>
            <a:r>
              <a:rPr lang="es-ES" sz="600" dirty="0" err="1"/>
              <a:t>c.add_ref</a:t>
            </a:r>
            <a:r>
              <a:rPr lang="es-ES" sz="600" dirty="0"/>
              <a:t>(</a:t>
            </a:r>
            <a:r>
              <a:rPr lang="es-ES" sz="600" dirty="0" err="1"/>
              <a:t>guia_v</a:t>
            </a:r>
            <a:r>
              <a:rPr lang="es-ES" sz="600" dirty="0"/>
              <a:t>)</a:t>
            </a:r>
          </a:p>
          <a:p>
            <a:r>
              <a:rPr lang="es-ES" sz="600" dirty="0"/>
              <a:t>    v2.connect("o1", b3.ports["o2"])</a:t>
            </a:r>
          </a:p>
          <a:p>
            <a:br>
              <a:rPr lang="es-ES" sz="600" dirty="0"/>
            </a:br>
            <a:endParaRPr lang="es-ES" sz="600" dirty="0"/>
          </a:p>
          <a:p>
            <a:r>
              <a:rPr lang="es-ES" sz="600" dirty="0"/>
              <a:t>    # Esquina inferior izquierda: cierra el bucle en la entrada superior del MMI</a:t>
            </a:r>
          </a:p>
          <a:p>
            <a:r>
              <a:rPr lang="es-ES" sz="600" dirty="0"/>
              <a:t>    b4 = </a:t>
            </a:r>
            <a:r>
              <a:rPr lang="es-ES" sz="600" dirty="0" err="1"/>
              <a:t>c.add_ref</a:t>
            </a:r>
            <a:r>
              <a:rPr lang="es-ES" sz="600" dirty="0"/>
              <a:t>(b90)</a:t>
            </a:r>
          </a:p>
          <a:p>
            <a:r>
              <a:rPr lang="es-ES" sz="600" dirty="0"/>
              <a:t>    b4.connect("o1", v2.ports["o2"])</a:t>
            </a:r>
          </a:p>
          <a:p>
            <a:br>
              <a:rPr lang="es-ES" sz="600" dirty="0"/>
            </a:br>
            <a:endParaRPr lang="es-ES" sz="600" dirty="0"/>
          </a:p>
          <a:p>
            <a:r>
              <a:rPr lang="es-ES" sz="600" dirty="0"/>
              <a:t>    # Puertos locales del resonador (Los brazos inferiores libres del MMI, in0 y out0 de tu imagen)</a:t>
            </a:r>
          </a:p>
          <a:p>
            <a:r>
              <a:rPr lang="es-ES" sz="600" dirty="0"/>
              <a:t>    </a:t>
            </a:r>
            <a:r>
              <a:rPr lang="es-ES" sz="600" dirty="0" err="1"/>
              <a:t>c.add_port</a:t>
            </a:r>
            <a:r>
              <a:rPr lang="es-ES" sz="600" dirty="0"/>
              <a:t>("in0", </a:t>
            </a:r>
            <a:r>
              <a:rPr lang="es-ES" sz="600" dirty="0" err="1"/>
              <a:t>port</a:t>
            </a:r>
            <a:r>
              <a:rPr lang="es-ES" sz="600" dirty="0"/>
              <a:t>=</a:t>
            </a:r>
            <a:r>
              <a:rPr lang="es-ES" sz="600" dirty="0" err="1"/>
              <a:t>mmi_central.ports</a:t>
            </a:r>
            <a:r>
              <a:rPr lang="es-ES" sz="600" dirty="0"/>
              <a:t>["</a:t>
            </a:r>
            <a:r>
              <a:rPr lang="es-ES" sz="600" dirty="0" err="1"/>
              <a:t>in_bot</a:t>
            </a:r>
            <a:r>
              <a:rPr lang="es-ES" sz="600" dirty="0"/>
              <a:t>"])</a:t>
            </a:r>
          </a:p>
          <a:p>
            <a:r>
              <a:rPr lang="es-ES" sz="600" dirty="0"/>
              <a:t>    </a:t>
            </a:r>
            <a:r>
              <a:rPr lang="es-ES" sz="600" dirty="0" err="1"/>
              <a:t>c.add_port</a:t>
            </a:r>
            <a:r>
              <a:rPr lang="es-ES" sz="600" dirty="0"/>
              <a:t>("out0", </a:t>
            </a:r>
            <a:r>
              <a:rPr lang="es-ES" sz="600" dirty="0" err="1"/>
              <a:t>port</a:t>
            </a:r>
            <a:r>
              <a:rPr lang="es-ES" sz="600" dirty="0"/>
              <a:t>=</a:t>
            </a:r>
            <a:r>
              <a:rPr lang="es-ES" sz="600" dirty="0" err="1"/>
              <a:t>mmi_central.ports</a:t>
            </a:r>
            <a:r>
              <a:rPr lang="es-ES" sz="600" dirty="0"/>
              <a:t>["</a:t>
            </a:r>
            <a:r>
              <a:rPr lang="es-ES" sz="600" dirty="0" err="1"/>
              <a:t>out_bot</a:t>
            </a:r>
            <a:r>
              <a:rPr lang="es-ES" sz="600" dirty="0"/>
              <a:t>"])</a:t>
            </a:r>
          </a:p>
          <a:p>
            <a:r>
              <a:rPr lang="es-ES" sz="600" dirty="0"/>
              <a:t>    </a:t>
            </a:r>
          </a:p>
          <a:p>
            <a:r>
              <a:rPr lang="es-ES" sz="600" dirty="0"/>
              <a:t>    </a:t>
            </a:r>
            <a:r>
              <a:rPr lang="es-ES" sz="600" dirty="0" err="1"/>
              <a:t>return</a:t>
            </a:r>
            <a:r>
              <a:rPr lang="es-ES" sz="600" dirty="0"/>
              <a:t> c</a:t>
            </a:r>
          </a:p>
          <a:p>
            <a:br>
              <a:rPr lang="es-ES" sz="600" dirty="0"/>
            </a:br>
            <a:br>
              <a:rPr lang="es-ES" sz="600" dirty="0"/>
            </a:br>
            <a:endParaRPr lang="es-ES" sz="600" dirty="0"/>
          </a:p>
          <a:p>
            <a:r>
              <a:rPr lang="es-ES" sz="600" dirty="0"/>
              <a:t># =======================================================================</a:t>
            </a:r>
          </a:p>
          <a:p>
            <a:r>
              <a:rPr lang="es-ES" sz="600" dirty="0"/>
              <a:t># 2. CELDA INTERMEDIA (Nivel medio: Estructura del Die + Extensiones)</a:t>
            </a:r>
          </a:p>
          <a:p>
            <a:r>
              <a:rPr lang="es-ES" sz="600" dirty="0"/>
              <a:t># =======================================================================</a:t>
            </a:r>
          </a:p>
          <a:p>
            <a:r>
              <a:rPr lang="es-ES" sz="600" dirty="0"/>
              <a:t>@gf.cell</a:t>
            </a:r>
          </a:p>
          <a:p>
            <a:r>
              <a:rPr lang="es-ES" sz="600" dirty="0" err="1"/>
              <a:t>def</a:t>
            </a:r>
            <a:r>
              <a:rPr lang="es-ES" sz="600" dirty="0"/>
              <a:t> </a:t>
            </a:r>
            <a:r>
              <a:rPr lang="es-ES" sz="600" dirty="0" err="1"/>
              <a:t>die_resonador</a:t>
            </a:r>
            <a:r>
              <a:rPr lang="es-ES" sz="600" dirty="0"/>
              <a:t>(</a:t>
            </a:r>
            <a:r>
              <a:rPr lang="es-ES" sz="600" dirty="0" err="1"/>
              <a:t>dieL</a:t>
            </a:r>
            <a:r>
              <a:rPr lang="es-ES" sz="600" dirty="0"/>
              <a:t>=200, </a:t>
            </a:r>
            <a:r>
              <a:rPr lang="es-ES" sz="600" dirty="0" err="1"/>
              <a:t>dieW</a:t>
            </a:r>
            <a:r>
              <a:rPr lang="es-ES" sz="600" dirty="0"/>
              <a:t>=200, </a:t>
            </a:r>
            <a:r>
              <a:rPr lang="es-ES" sz="600" dirty="0" err="1"/>
              <a:t>border</a:t>
            </a:r>
            <a:r>
              <a:rPr lang="es-ES" sz="600" dirty="0"/>
              <a:t>=10, </a:t>
            </a:r>
            <a:r>
              <a:rPr lang="es-ES" sz="600" dirty="0" err="1"/>
              <a:t>layer_box</a:t>
            </a:r>
            <a:r>
              <a:rPr lang="es-ES" sz="600" dirty="0"/>
              <a:t>="FLOORPLAN") -&gt; </a:t>
            </a:r>
            <a:r>
              <a:rPr lang="es-ES" sz="600" dirty="0" err="1"/>
              <a:t>gf.Component</a:t>
            </a:r>
            <a:r>
              <a:rPr lang="es-ES" sz="600" dirty="0"/>
              <a:t>:</a:t>
            </a:r>
          </a:p>
          <a:p>
            <a:r>
              <a:rPr lang="es-ES" sz="600" dirty="0"/>
              <a:t>    """Celda que fabrica el marco booleano del chip e integra el Resonador centrado."""</a:t>
            </a:r>
          </a:p>
          <a:p>
            <a:r>
              <a:rPr lang="es-ES" sz="600" dirty="0"/>
              <a:t>    box = </a:t>
            </a:r>
            <a:r>
              <a:rPr lang="es-ES" sz="600" dirty="0" err="1"/>
              <a:t>gf.Component</a:t>
            </a:r>
            <a:r>
              <a:rPr lang="es-ES" sz="600" dirty="0"/>
              <a:t>("</a:t>
            </a:r>
            <a:r>
              <a:rPr lang="es-ES" sz="600" dirty="0" err="1"/>
              <a:t>Die_Resonador_Cell</a:t>
            </a:r>
            <a:r>
              <a:rPr lang="es-ES" sz="600" dirty="0"/>
              <a:t>")</a:t>
            </a:r>
          </a:p>
          <a:p>
            <a:r>
              <a:rPr lang="es-ES" sz="600" dirty="0"/>
              <a:t>    </a:t>
            </a:r>
          </a:p>
          <a:p>
            <a:r>
              <a:rPr lang="es-ES" sz="600" dirty="0"/>
              <a:t>    # --- Marco del Die (Tu estructura booleana exacta) ---</a:t>
            </a:r>
          </a:p>
          <a:p>
            <a:r>
              <a:rPr lang="es-ES" sz="600" dirty="0"/>
              <a:t>    </a:t>
            </a:r>
            <a:r>
              <a:rPr lang="es-ES" sz="600" dirty="0" err="1"/>
              <a:t>obox</a:t>
            </a:r>
            <a:r>
              <a:rPr lang="es-ES" sz="600" dirty="0"/>
              <a:t> = </a:t>
            </a:r>
            <a:r>
              <a:rPr lang="es-ES" sz="600" dirty="0" err="1"/>
              <a:t>box.add_ref</a:t>
            </a:r>
            <a:r>
              <a:rPr lang="es-ES" sz="600" dirty="0"/>
              <a:t>(</a:t>
            </a:r>
            <a:r>
              <a:rPr lang="es-ES" sz="600" dirty="0" err="1"/>
              <a:t>gf.components.rectangle</a:t>
            </a:r>
            <a:r>
              <a:rPr lang="es-ES" sz="600" dirty="0"/>
              <a:t>(</a:t>
            </a:r>
            <a:r>
              <a:rPr lang="es-ES" sz="600" dirty="0" err="1"/>
              <a:t>size</a:t>
            </a:r>
            <a:r>
              <a:rPr lang="es-ES" sz="600" dirty="0"/>
              <a:t>=(</a:t>
            </a:r>
            <a:r>
              <a:rPr lang="es-ES" sz="600" dirty="0" err="1"/>
              <a:t>dieW</a:t>
            </a:r>
            <a:r>
              <a:rPr lang="es-ES" sz="600" dirty="0"/>
              <a:t>, </a:t>
            </a:r>
            <a:r>
              <a:rPr lang="es-ES" sz="600" dirty="0" err="1"/>
              <a:t>dieL</a:t>
            </a:r>
            <a:r>
              <a:rPr lang="es-ES" sz="600" dirty="0"/>
              <a:t>), </a:t>
            </a:r>
            <a:r>
              <a:rPr lang="es-ES" sz="600" dirty="0" err="1"/>
              <a:t>layer</a:t>
            </a:r>
            <a:r>
              <a:rPr lang="es-ES" sz="600" dirty="0"/>
              <a:t>=</a:t>
            </a:r>
            <a:r>
              <a:rPr lang="es-ES" sz="600" dirty="0" err="1"/>
              <a:t>layer_box</a:t>
            </a:r>
            <a:r>
              <a:rPr lang="es-ES" sz="600" dirty="0"/>
              <a:t>))</a:t>
            </a:r>
          </a:p>
          <a:p>
            <a:r>
              <a:rPr lang="es-ES" sz="600" dirty="0"/>
              <a:t>    </a:t>
            </a:r>
            <a:r>
              <a:rPr lang="es-ES" sz="600" dirty="0" err="1"/>
              <a:t>ibox</a:t>
            </a:r>
            <a:r>
              <a:rPr lang="es-ES" sz="600" dirty="0"/>
              <a:t> = </a:t>
            </a:r>
            <a:r>
              <a:rPr lang="es-ES" sz="600" dirty="0" err="1"/>
              <a:t>box.add_ref</a:t>
            </a:r>
            <a:r>
              <a:rPr lang="es-ES" sz="600" dirty="0"/>
              <a:t>(</a:t>
            </a:r>
            <a:r>
              <a:rPr lang="es-ES" sz="600" dirty="0" err="1"/>
              <a:t>gf.components.rectangle</a:t>
            </a:r>
            <a:r>
              <a:rPr lang="es-ES" sz="600" dirty="0"/>
              <a:t>(</a:t>
            </a:r>
            <a:r>
              <a:rPr lang="es-ES" sz="600" dirty="0" err="1"/>
              <a:t>size</a:t>
            </a:r>
            <a:r>
              <a:rPr lang="es-ES" sz="600" dirty="0"/>
              <a:t>=(</a:t>
            </a:r>
            <a:r>
              <a:rPr lang="es-ES" sz="600" dirty="0" err="1"/>
              <a:t>dieW</a:t>
            </a:r>
            <a:r>
              <a:rPr lang="es-ES" sz="600" dirty="0"/>
              <a:t> - </a:t>
            </a:r>
            <a:r>
              <a:rPr lang="es-ES" sz="600" dirty="0" err="1"/>
              <a:t>border</a:t>
            </a:r>
            <a:r>
              <a:rPr lang="es-ES" sz="600" dirty="0"/>
              <a:t> * 2, </a:t>
            </a:r>
            <a:r>
              <a:rPr lang="es-ES" sz="600" dirty="0" err="1"/>
              <a:t>dieL</a:t>
            </a:r>
            <a:r>
              <a:rPr lang="es-ES" sz="600" dirty="0"/>
              <a:t> - </a:t>
            </a:r>
            <a:r>
              <a:rPr lang="es-ES" sz="600" dirty="0" err="1"/>
              <a:t>border</a:t>
            </a:r>
            <a:r>
              <a:rPr lang="es-ES" sz="600" dirty="0"/>
              <a:t> * 2), </a:t>
            </a:r>
            <a:r>
              <a:rPr lang="es-ES" sz="600" dirty="0" err="1"/>
              <a:t>layer</a:t>
            </a:r>
            <a:r>
              <a:rPr lang="es-ES" sz="600" dirty="0"/>
              <a:t>=</a:t>
            </a:r>
            <a:r>
              <a:rPr lang="es-ES" sz="600" dirty="0" err="1"/>
              <a:t>layer_box</a:t>
            </a:r>
            <a:r>
              <a:rPr lang="es-ES" sz="600" dirty="0"/>
              <a:t>)).</a:t>
            </a:r>
            <a:r>
              <a:rPr lang="es-ES" sz="600" dirty="0" err="1"/>
              <a:t>dmovex</a:t>
            </a:r>
            <a:r>
              <a:rPr lang="es-ES" sz="600" dirty="0"/>
              <a:t>(</a:t>
            </a:r>
            <a:r>
              <a:rPr lang="es-ES" sz="600" dirty="0" err="1"/>
              <a:t>border</a:t>
            </a:r>
            <a:r>
              <a:rPr lang="es-ES" sz="600" dirty="0"/>
              <a:t>).</a:t>
            </a:r>
            <a:r>
              <a:rPr lang="es-ES" sz="600" dirty="0" err="1"/>
              <a:t>dmovey</a:t>
            </a:r>
            <a:r>
              <a:rPr lang="es-ES" sz="600" dirty="0"/>
              <a:t>(</a:t>
            </a:r>
            <a:r>
              <a:rPr lang="es-ES" sz="600" dirty="0" err="1"/>
              <a:t>border</a:t>
            </a:r>
            <a:r>
              <a:rPr lang="es-ES" sz="600" dirty="0"/>
              <a:t>)</a:t>
            </a:r>
          </a:p>
          <a:p>
            <a:r>
              <a:rPr lang="es-ES" sz="600" dirty="0"/>
              <a:t>    </a:t>
            </a:r>
            <a:r>
              <a:rPr lang="es-ES" sz="600" dirty="0" err="1"/>
              <a:t>box_frame</a:t>
            </a:r>
            <a:r>
              <a:rPr lang="es-ES" sz="600" dirty="0"/>
              <a:t> = </a:t>
            </a:r>
            <a:r>
              <a:rPr lang="es-ES" sz="600" dirty="0" err="1"/>
              <a:t>gf.boolean</a:t>
            </a:r>
            <a:r>
              <a:rPr lang="es-ES" sz="600" dirty="0"/>
              <a:t>(A=</a:t>
            </a:r>
            <a:r>
              <a:rPr lang="es-ES" sz="600" dirty="0" err="1"/>
              <a:t>obox</a:t>
            </a:r>
            <a:r>
              <a:rPr lang="es-ES" sz="600" dirty="0"/>
              <a:t>, B=</a:t>
            </a:r>
            <a:r>
              <a:rPr lang="es-ES" sz="600" dirty="0" err="1"/>
              <a:t>ibox</a:t>
            </a:r>
            <a:r>
              <a:rPr lang="es-ES" sz="600" dirty="0"/>
              <a:t>, </a:t>
            </a:r>
            <a:r>
              <a:rPr lang="es-ES" sz="600" dirty="0" err="1"/>
              <a:t>operation</a:t>
            </a:r>
            <a:r>
              <a:rPr lang="es-ES" sz="600" dirty="0"/>
              <a:t>="A-B", </a:t>
            </a:r>
            <a:r>
              <a:rPr lang="es-ES" sz="600" dirty="0" err="1"/>
              <a:t>layer</a:t>
            </a:r>
            <a:r>
              <a:rPr lang="es-ES" sz="600" dirty="0"/>
              <a:t>=</a:t>
            </a:r>
            <a:r>
              <a:rPr lang="es-ES" sz="600" dirty="0" err="1"/>
              <a:t>layer_box</a:t>
            </a:r>
            <a:r>
              <a:rPr lang="es-ES" sz="600" dirty="0"/>
              <a:t>)</a:t>
            </a:r>
          </a:p>
          <a:p>
            <a:r>
              <a:rPr lang="es-ES" sz="600" dirty="0"/>
              <a:t>    </a:t>
            </a:r>
            <a:r>
              <a:rPr lang="es-ES" sz="600" dirty="0" err="1"/>
              <a:t>box.add_ref</a:t>
            </a:r>
            <a:r>
              <a:rPr lang="es-ES" sz="600" dirty="0"/>
              <a:t>(</a:t>
            </a:r>
            <a:r>
              <a:rPr lang="es-ES" sz="600" dirty="0" err="1"/>
              <a:t>box_frame</a:t>
            </a:r>
            <a:r>
              <a:rPr lang="es-ES" sz="600" dirty="0"/>
              <a:t>)</a:t>
            </a:r>
          </a:p>
          <a:p>
            <a:br>
              <a:rPr lang="es-ES" sz="600" dirty="0"/>
            </a:br>
            <a:endParaRPr lang="es-ES" sz="600" dirty="0"/>
          </a:p>
          <a:p>
            <a:r>
              <a:rPr lang="es-ES" sz="600" dirty="0"/>
              <a:t>    # Puerto de anclaje de la esquina solicitado</a:t>
            </a:r>
          </a:p>
          <a:p>
            <a:r>
              <a:rPr lang="es-ES" sz="600" dirty="0"/>
              <a:t>    </a:t>
            </a:r>
            <a:r>
              <a:rPr lang="es-ES" sz="600" dirty="0" err="1"/>
              <a:t>box.add_port</a:t>
            </a:r>
            <a:r>
              <a:rPr lang="es-ES" sz="600" dirty="0"/>
              <a:t>(</a:t>
            </a:r>
            <a:r>
              <a:rPr lang="es-ES" sz="600" dirty="0" err="1"/>
              <a:t>name</a:t>
            </a:r>
            <a:r>
              <a:rPr lang="es-ES" sz="600" dirty="0"/>
              <a:t>="</a:t>
            </a:r>
            <a:r>
              <a:rPr lang="es-ES" sz="600" dirty="0" err="1"/>
              <a:t>block@org</a:t>
            </a:r>
            <a:r>
              <a:rPr lang="es-ES" sz="600" dirty="0"/>
              <a:t>", center=[</a:t>
            </a:r>
            <a:r>
              <a:rPr lang="es-ES" sz="600" dirty="0" err="1"/>
              <a:t>border</a:t>
            </a:r>
            <a:r>
              <a:rPr lang="es-ES" sz="600" dirty="0"/>
              <a:t>, </a:t>
            </a:r>
            <a:r>
              <a:rPr lang="es-ES" sz="600" dirty="0" err="1"/>
              <a:t>border</a:t>
            </a:r>
            <a:r>
              <a:rPr lang="es-ES" sz="600" dirty="0"/>
              <a:t>], </a:t>
            </a:r>
            <a:r>
              <a:rPr lang="es-ES" sz="600" dirty="0" err="1"/>
              <a:t>width</a:t>
            </a:r>
            <a:r>
              <a:rPr lang="es-ES" sz="600" dirty="0"/>
              <a:t>=1, </a:t>
            </a:r>
            <a:r>
              <a:rPr lang="es-ES" sz="600" dirty="0" err="1"/>
              <a:t>orientation</a:t>
            </a:r>
            <a:r>
              <a:rPr lang="es-ES" sz="600" dirty="0"/>
              <a:t>=0, </a:t>
            </a:r>
            <a:r>
              <a:rPr lang="es-ES" sz="600" dirty="0" err="1"/>
              <a:t>layer</a:t>
            </a:r>
            <a:r>
              <a:rPr lang="es-ES" sz="600" dirty="0"/>
              <a:t>=</a:t>
            </a:r>
            <a:r>
              <a:rPr lang="es-ES" sz="600" dirty="0" err="1"/>
              <a:t>layer_box</a:t>
            </a:r>
            <a:r>
              <a:rPr lang="es-ES" sz="600" dirty="0"/>
              <a:t>)</a:t>
            </a:r>
          </a:p>
          <a:p>
            <a:br>
              <a:rPr lang="es-ES" sz="600" dirty="0"/>
            </a:br>
            <a:endParaRPr lang="es-ES" sz="600" dirty="0"/>
          </a:p>
          <a:p>
            <a:r>
              <a:rPr lang="es-ES" sz="600" dirty="0"/>
              <a:t>    # --- Instanciamos el Resonador en el centro del Die ---</a:t>
            </a:r>
          </a:p>
          <a:p>
            <a:r>
              <a:rPr lang="es-ES" sz="600" dirty="0"/>
              <a:t>    </a:t>
            </a:r>
            <a:r>
              <a:rPr lang="es-ES" sz="600" dirty="0" err="1"/>
              <a:t>racetrack_ref</a:t>
            </a:r>
            <a:r>
              <a:rPr lang="es-ES" sz="600" dirty="0"/>
              <a:t> = </a:t>
            </a:r>
            <a:r>
              <a:rPr lang="es-ES" sz="600" dirty="0" err="1"/>
              <a:t>box.add_ref</a:t>
            </a:r>
            <a:r>
              <a:rPr lang="es-ES" sz="600" dirty="0"/>
              <a:t>(</a:t>
            </a:r>
            <a:r>
              <a:rPr lang="es-ES" sz="600" dirty="0" err="1"/>
              <a:t>resonador_racetrack_base</a:t>
            </a:r>
            <a:r>
              <a:rPr lang="es-ES" sz="600" dirty="0"/>
              <a:t>())</a:t>
            </a:r>
          </a:p>
          <a:p>
            <a:r>
              <a:rPr lang="es-ES" sz="600" dirty="0"/>
              <a:t>    </a:t>
            </a:r>
            <a:r>
              <a:rPr lang="es-ES" sz="600" dirty="0" err="1"/>
              <a:t>racetrack_ref.center</a:t>
            </a:r>
            <a:r>
              <a:rPr lang="es-ES" sz="600" dirty="0"/>
              <a:t> = (</a:t>
            </a:r>
            <a:r>
              <a:rPr lang="es-ES" sz="600" dirty="0" err="1"/>
              <a:t>dieW</a:t>
            </a:r>
            <a:r>
              <a:rPr lang="es-ES" sz="600" dirty="0"/>
              <a:t> / 2, </a:t>
            </a:r>
            <a:r>
              <a:rPr lang="es-ES" sz="600" dirty="0" err="1"/>
              <a:t>dieL</a:t>
            </a:r>
            <a:r>
              <a:rPr lang="es-ES" sz="600" dirty="0"/>
              <a:t> / 2)</a:t>
            </a:r>
          </a:p>
          <a:p>
            <a:br>
              <a:rPr lang="es-ES" sz="600" dirty="0"/>
            </a:br>
            <a:endParaRPr lang="es-ES" sz="600" dirty="0"/>
          </a:p>
          <a:p>
            <a:r>
              <a:rPr lang="es-ES" sz="600" dirty="0"/>
              <a:t>    # --- Extensiones de las guías de paso (Bus) hasta los bordes del chip ---</a:t>
            </a:r>
          </a:p>
          <a:p>
            <a:r>
              <a:rPr lang="es-ES" sz="600" dirty="0"/>
              <a:t>    </a:t>
            </a:r>
            <a:r>
              <a:rPr lang="es-ES" sz="600" dirty="0" err="1"/>
              <a:t>capa_base</a:t>
            </a:r>
            <a:r>
              <a:rPr lang="es-ES" sz="600" dirty="0"/>
              <a:t> = </a:t>
            </a:r>
            <a:r>
              <a:rPr lang="es-ES" sz="600" dirty="0" err="1"/>
              <a:t>gf.components.straight</a:t>
            </a:r>
            <a:r>
              <a:rPr lang="es-ES" sz="600" dirty="0"/>
              <a:t>().</a:t>
            </a:r>
            <a:r>
              <a:rPr lang="es-ES" sz="600" dirty="0" err="1"/>
              <a:t>ports</a:t>
            </a:r>
            <a:r>
              <a:rPr lang="es-ES" sz="600" dirty="0"/>
              <a:t>["o1"].</a:t>
            </a:r>
            <a:r>
              <a:rPr lang="es-ES" sz="600" dirty="0" err="1"/>
              <a:t>layer</a:t>
            </a:r>
            <a:endParaRPr lang="es-ES" sz="600" dirty="0"/>
          </a:p>
          <a:p>
            <a:r>
              <a:rPr lang="es-ES" sz="600" dirty="0"/>
              <a:t>    seccion_300nm = </a:t>
            </a:r>
            <a:r>
              <a:rPr lang="es-ES" sz="600" dirty="0" err="1"/>
              <a:t>gf.cross_section.cross_section</a:t>
            </a:r>
            <a:r>
              <a:rPr lang="es-ES" sz="600" dirty="0"/>
              <a:t>(</a:t>
            </a:r>
            <a:r>
              <a:rPr lang="es-ES" sz="600" dirty="0" err="1"/>
              <a:t>width</a:t>
            </a:r>
            <a:r>
              <a:rPr lang="es-ES" sz="600" dirty="0"/>
              <a:t>=1.2, </a:t>
            </a:r>
            <a:r>
              <a:rPr lang="es-ES" sz="600" dirty="0" err="1"/>
              <a:t>layer</a:t>
            </a:r>
            <a:r>
              <a:rPr lang="es-ES" sz="600" dirty="0"/>
              <a:t>=</a:t>
            </a:r>
            <a:r>
              <a:rPr lang="es-ES" sz="600" dirty="0" err="1"/>
              <a:t>capa_base</a:t>
            </a:r>
            <a:r>
              <a:rPr lang="es-ES" sz="600" dirty="0"/>
              <a:t>)</a:t>
            </a:r>
          </a:p>
          <a:p>
            <a:r>
              <a:rPr lang="es-ES" sz="600" dirty="0"/>
              <a:t>    </a:t>
            </a:r>
          </a:p>
          <a:p>
            <a:r>
              <a:rPr lang="es-ES" sz="600" dirty="0"/>
              <a:t>    # Cálculo dinámico de distancias a los extremos desde la guía inferior del MMI (X=0 y X=5000)</a:t>
            </a:r>
          </a:p>
          <a:p>
            <a:r>
              <a:rPr lang="es-ES" sz="600" dirty="0"/>
              <a:t>    </a:t>
            </a:r>
            <a:r>
              <a:rPr lang="es-ES" sz="600" dirty="0" err="1"/>
              <a:t>longitud_extension_izq</a:t>
            </a:r>
            <a:r>
              <a:rPr lang="es-ES" sz="600" dirty="0"/>
              <a:t> = </a:t>
            </a:r>
            <a:r>
              <a:rPr lang="es-ES" sz="600" dirty="0" err="1"/>
              <a:t>racetrack_ref.ports</a:t>
            </a:r>
            <a:r>
              <a:rPr lang="es-ES" sz="600" dirty="0"/>
              <a:t>["in0"].x</a:t>
            </a:r>
          </a:p>
          <a:p>
            <a:r>
              <a:rPr lang="es-ES" sz="600" dirty="0"/>
              <a:t>    </a:t>
            </a:r>
            <a:r>
              <a:rPr lang="es-ES" sz="600" dirty="0" err="1"/>
              <a:t>longitud_extension_der</a:t>
            </a:r>
            <a:r>
              <a:rPr lang="es-ES" sz="600" dirty="0"/>
              <a:t> = </a:t>
            </a:r>
            <a:r>
              <a:rPr lang="es-ES" sz="600" dirty="0" err="1"/>
              <a:t>dieW</a:t>
            </a:r>
            <a:r>
              <a:rPr lang="es-ES" sz="600" dirty="0"/>
              <a:t> - </a:t>
            </a:r>
            <a:r>
              <a:rPr lang="es-ES" sz="600" dirty="0" err="1"/>
              <a:t>racetrack_ref.ports</a:t>
            </a:r>
            <a:r>
              <a:rPr lang="es-ES" sz="600" dirty="0"/>
              <a:t>["out0"].x</a:t>
            </a:r>
          </a:p>
          <a:p>
            <a:br>
              <a:rPr lang="es-ES" sz="600" dirty="0"/>
            </a:br>
            <a:endParaRPr lang="es-ES" sz="600" dirty="0"/>
          </a:p>
          <a:p>
            <a:r>
              <a:rPr lang="es-ES" sz="600" dirty="0"/>
              <a:t>    </a:t>
            </a:r>
            <a:r>
              <a:rPr lang="es-ES" sz="600" dirty="0" err="1"/>
              <a:t>guia_ext_izq</a:t>
            </a:r>
            <a:r>
              <a:rPr lang="es-ES" sz="600" dirty="0"/>
              <a:t> = </a:t>
            </a:r>
            <a:r>
              <a:rPr lang="es-ES" sz="600" dirty="0" err="1"/>
              <a:t>gf.components.straight</a:t>
            </a:r>
            <a:r>
              <a:rPr lang="es-ES" sz="600" dirty="0"/>
              <a:t>(</a:t>
            </a:r>
            <a:r>
              <a:rPr lang="es-ES" sz="600" dirty="0" err="1"/>
              <a:t>length</a:t>
            </a:r>
            <a:r>
              <a:rPr lang="es-ES" sz="600" dirty="0"/>
              <a:t>=</a:t>
            </a:r>
            <a:r>
              <a:rPr lang="es-ES" sz="600" dirty="0" err="1"/>
              <a:t>longitud_extension_izq</a:t>
            </a:r>
            <a:r>
              <a:rPr lang="es-ES" sz="600" dirty="0"/>
              <a:t>, </a:t>
            </a:r>
            <a:r>
              <a:rPr lang="es-ES" sz="600" dirty="0" err="1"/>
              <a:t>cross_section</a:t>
            </a:r>
            <a:r>
              <a:rPr lang="es-ES" sz="600" dirty="0"/>
              <a:t>=seccion_300nm)</a:t>
            </a:r>
          </a:p>
          <a:p>
            <a:r>
              <a:rPr lang="es-ES" sz="600" dirty="0"/>
              <a:t>    </a:t>
            </a:r>
            <a:r>
              <a:rPr lang="es-ES" sz="600" dirty="0" err="1"/>
              <a:t>guia_ext_der</a:t>
            </a:r>
            <a:r>
              <a:rPr lang="es-ES" sz="600" dirty="0"/>
              <a:t> = </a:t>
            </a:r>
            <a:r>
              <a:rPr lang="es-ES" sz="600" dirty="0" err="1"/>
              <a:t>gf.components.straight</a:t>
            </a:r>
            <a:r>
              <a:rPr lang="es-ES" sz="600" dirty="0"/>
              <a:t>(</a:t>
            </a:r>
            <a:r>
              <a:rPr lang="es-ES" sz="600" dirty="0" err="1"/>
              <a:t>length</a:t>
            </a:r>
            <a:r>
              <a:rPr lang="es-ES" sz="600" dirty="0"/>
              <a:t>=</a:t>
            </a:r>
            <a:r>
              <a:rPr lang="es-ES" sz="600" dirty="0" err="1"/>
              <a:t>longitud_extension_der</a:t>
            </a:r>
            <a:r>
              <a:rPr lang="es-ES" sz="600" dirty="0"/>
              <a:t>, </a:t>
            </a:r>
            <a:r>
              <a:rPr lang="es-ES" sz="600" dirty="0" err="1"/>
              <a:t>cross_section</a:t>
            </a:r>
            <a:r>
              <a:rPr lang="es-ES" sz="600" dirty="0"/>
              <a:t>=seccion_300nm)</a:t>
            </a:r>
          </a:p>
          <a:p>
            <a:br>
              <a:rPr lang="es-ES" sz="600" dirty="0"/>
            </a:br>
            <a:endParaRPr lang="es-ES" sz="600" dirty="0"/>
          </a:p>
          <a:p>
            <a:r>
              <a:rPr lang="es-ES" sz="600" dirty="0"/>
              <a:t>    # Conectamos las extensiones izquierdas (Entrada in0 hacia el borde X=0)</a:t>
            </a:r>
          </a:p>
          <a:p>
            <a:r>
              <a:rPr lang="es-ES" sz="600" dirty="0"/>
              <a:t>    </a:t>
            </a:r>
            <a:r>
              <a:rPr lang="es-ES" sz="600" dirty="0" err="1"/>
              <a:t>ext_in</a:t>
            </a:r>
            <a:r>
              <a:rPr lang="es-ES" sz="600" dirty="0"/>
              <a:t> = </a:t>
            </a:r>
            <a:r>
              <a:rPr lang="es-ES" sz="600" dirty="0" err="1"/>
              <a:t>box.add_ref</a:t>
            </a:r>
            <a:r>
              <a:rPr lang="es-ES" sz="600" dirty="0"/>
              <a:t>(</a:t>
            </a:r>
            <a:r>
              <a:rPr lang="es-ES" sz="600" dirty="0" err="1"/>
              <a:t>guia_ext_izq</a:t>
            </a:r>
            <a:r>
              <a:rPr lang="es-ES" sz="600" dirty="0"/>
              <a:t>)</a:t>
            </a:r>
          </a:p>
          <a:p>
            <a:r>
              <a:rPr lang="es-ES" sz="600" dirty="0"/>
              <a:t>    </a:t>
            </a:r>
            <a:r>
              <a:rPr lang="es-ES" sz="600" dirty="0" err="1"/>
              <a:t>ext_in.connect</a:t>
            </a:r>
            <a:r>
              <a:rPr lang="es-ES" sz="600" dirty="0"/>
              <a:t>("o2", </a:t>
            </a:r>
            <a:r>
              <a:rPr lang="es-ES" sz="600" dirty="0" err="1"/>
              <a:t>racetrack_ref.ports</a:t>
            </a:r>
            <a:r>
              <a:rPr lang="es-ES" sz="600" dirty="0"/>
              <a:t>["in0"])</a:t>
            </a:r>
          </a:p>
          <a:p>
            <a:br>
              <a:rPr lang="es-ES" sz="600" dirty="0"/>
            </a:br>
            <a:endParaRPr lang="es-ES" sz="600" dirty="0"/>
          </a:p>
          <a:p>
            <a:r>
              <a:rPr lang="es-ES" sz="600" dirty="0"/>
              <a:t>    # Conectamos las extensiones derechas (Salida out0 hacia el borde X=5000)</a:t>
            </a:r>
          </a:p>
          <a:p>
            <a:r>
              <a:rPr lang="es-ES" sz="600" dirty="0"/>
              <a:t>    </a:t>
            </a:r>
            <a:r>
              <a:rPr lang="es-ES" sz="600" dirty="0" err="1"/>
              <a:t>ext_out</a:t>
            </a:r>
            <a:r>
              <a:rPr lang="es-ES" sz="600" dirty="0"/>
              <a:t> = </a:t>
            </a:r>
            <a:r>
              <a:rPr lang="es-ES" sz="600" dirty="0" err="1"/>
              <a:t>box.add_ref</a:t>
            </a:r>
            <a:r>
              <a:rPr lang="es-ES" sz="600" dirty="0"/>
              <a:t>(</a:t>
            </a:r>
            <a:r>
              <a:rPr lang="es-ES" sz="600" dirty="0" err="1"/>
              <a:t>guia_ext_der</a:t>
            </a:r>
            <a:r>
              <a:rPr lang="es-ES" sz="600" dirty="0"/>
              <a:t>)</a:t>
            </a:r>
          </a:p>
          <a:p>
            <a:r>
              <a:rPr lang="es-ES" sz="600" dirty="0"/>
              <a:t>    </a:t>
            </a:r>
            <a:r>
              <a:rPr lang="es-ES" sz="600" dirty="0" err="1"/>
              <a:t>ext_out.connect</a:t>
            </a:r>
            <a:r>
              <a:rPr lang="es-ES" sz="600" dirty="0"/>
              <a:t>("o1", </a:t>
            </a:r>
            <a:r>
              <a:rPr lang="es-ES" sz="600" dirty="0" err="1"/>
              <a:t>racetrack_ref.ports</a:t>
            </a:r>
            <a:r>
              <a:rPr lang="es-ES" sz="600" dirty="0"/>
              <a:t>["out0"])</a:t>
            </a:r>
          </a:p>
          <a:p>
            <a:br>
              <a:rPr lang="es-ES" sz="600" dirty="0"/>
            </a:br>
            <a:endParaRPr lang="es-ES" sz="600" dirty="0"/>
          </a:p>
          <a:p>
            <a:r>
              <a:rPr lang="es-ES" sz="600" dirty="0"/>
              <a:t>    # Puertos expuestos finales de la celda del Die (Consistente con tu imagen)</a:t>
            </a:r>
          </a:p>
          <a:p>
            <a:r>
              <a:rPr lang="es-ES" sz="600" dirty="0"/>
              <a:t>    </a:t>
            </a:r>
            <a:r>
              <a:rPr lang="es-ES" sz="600" dirty="0" err="1"/>
              <a:t>box.add_port</a:t>
            </a:r>
            <a:r>
              <a:rPr lang="es-ES" sz="600" dirty="0"/>
              <a:t>("in0", </a:t>
            </a:r>
            <a:r>
              <a:rPr lang="es-ES" sz="600" dirty="0" err="1"/>
              <a:t>port</a:t>
            </a:r>
            <a:r>
              <a:rPr lang="es-ES" sz="600" dirty="0"/>
              <a:t>=</a:t>
            </a:r>
            <a:r>
              <a:rPr lang="es-ES" sz="600" dirty="0" err="1"/>
              <a:t>ext_in.ports</a:t>
            </a:r>
            <a:r>
              <a:rPr lang="es-ES" sz="600" dirty="0"/>
              <a:t>["o1"])</a:t>
            </a:r>
          </a:p>
          <a:p>
            <a:r>
              <a:rPr lang="es-ES" sz="600" dirty="0"/>
              <a:t>    </a:t>
            </a:r>
            <a:r>
              <a:rPr lang="es-ES" sz="600" dirty="0" err="1"/>
              <a:t>box.add_port</a:t>
            </a:r>
            <a:r>
              <a:rPr lang="es-ES" sz="600" dirty="0"/>
              <a:t>("out0", </a:t>
            </a:r>
            <a:r>
              <a:rPr lang="es-ES" sz="600" dirty="0" err="1"/>
              <a:t>port</a:t>
            </a:r>
            <a:r>
              <a:rPr lang="es-ES" sz="600" dirty="0"/>
              <a:t>=</a:t>
            </a:r>
            <a:r>
              <a:rPr lang="es-ES" sz="600" dirty="0" err="1"/>
              <a:t>ext_out.ports</a:t>
            </a:r>
            <a:r>
              <a:rPr lang="es-ES" sz="600" dirty="0"/>
              <a:t>["o2"])</a:t>
            </a:r>
          </a:p>
          <a:p>
            <a:r>
              <a:rPr lang="es-ES" sz="600" dirty="0"/>
              <a:t>    </a:t>
            </a:r>
          </a:p>
          <a:p>
            <a:r>
              <a:rPr lang="es-ES" sz="600" dirty="0"/>
              <a:t>    </a:t>
            </a:r>
            <a:r>
              <a:rPr lang="es-ES" sz="600" dirty="0" err="1"/>
              <a:t>return</a:t>
            </a:r>
            <a:r>
              <a:rPr lang="es-ES" sz="600" dirty="0"/>
              <a:t> box</a:t>
            </a:r>
          </a:p>
          <a:p>
            <a:br>
              <a:rPr lang="es-ES" sz="600" dirty="0"/>
            </a:br>
            <a:br>
              <a:rPr lang="es-ES" sz="600" dirty="0"/>
            </a:br>
            <a:endParaRPr lang="es-ES" sz="600" dirty="0"/>
          </a:p>
          <a:p>
            <a:r>
              <a:rPr lang="es-ES" sz="600" dirty="0"/>
              <a:t># =======================================================================</a:t>
            </a:r>
          </a:p>
          <a:p>
            <a:r>
              <a:rPr lang="es-ES" sz="600" dirty="0"/>
              <a:t># 3. COMPONENTE SUPERIOR (Lienzo final / Wafer de la práctica)</a:t>
            </a:r>
          </a:p>
          <a:p>
            <a:r>
              <a:rPr lang="es-ES" sz="600" dirty="0"/>
              <a:t># =======================================================================</a:t>
            </a:r>
          </a:p>
          <a:p>
            <a:r>
              <a:rPr lang="es-ES" sz="600" dirty="0" err="1"/>
              <a:t>wafer_layout</a:t>
            </a:r>
            <a:r>
              <a:rPr lang="es-ES" sz="600" dirty="0"/>
              <a:t> = </a:t>
            </a:r>
            <a:r>
              <a:rPr lang="es-ES" sz="600" dirty="0" err="1"/>
              <a:t>gf.Component</a:t>
            </a:r>
            <a:r>
              <a:rPr lang="es-ES" sz="600" dirty="0"/>
              <a:t>("</a:t>
            </a:r>
            <a:r>
              <a:rPr lang="es-ES" sz="600" dirty="0" err="1"/>
              <a:t>Layout_Final_Resonador</a:t>
            </a:r>
            <a:r>
              <a:rPr lang="es-ES" sz="600" dirty="0"/>
              <a:t>")</a:t>
            </a:r>
          </a:p>
          <a:p>
            <a:br>
              <a:rPr lang="es-ES" sz="600" dirty="0"/>
            </a:br>
            <a:endParaRPr lang="es-ES" sz="600" dirty="0"/>
          </a:p>
          <a:p>
            <a:r>
              <a:rPr lang="es-ES" sz="600" dirty="0"/>
              <a:t># Instanciamos la celda intermedia dentro del componente superior</a:t>
            </a:r>
          </a:p>
          <a:p>
            <a:r>
              <a:rPr lang="es-ES" sz="600" dirty="0" err="1"/>
              <a:t>wafer_layout.add_ref</a:t>
            </a:r>
            <a:r>
              <a:rPr lang="es-ES" sz="600" dirty="0"/>
              <a:t>(</a:t>
            </a:r>
            <a:r>
              <a:rPr lang="es-ES" sz="600" dirty="0" err="1"/>
              <a:t>die_resonador</a:t>
            </a:r>
            <a:r>
              <a:rPr lang="es-ES" sz="600" dirty="0"/>
              <a:t>())</a:t>
            </a:r>
          </a:p>
          <a:p>
            <a:br>
              <a:rPr lang="es-ES" sz="600" dirty="0"/>
            </a:br>
            <a:endParaRPr lang="es-ES" sz="600" dirty="0"/>
          </a:p>
          <a:p>
            <a:r>
              <a:rPr lang="es-ES" sz="600" dirty="0"/>
              <a:t># Visualización del chip completo</a:t>
            </a:r>
          </a:p>
          <a:p>
            <a:r>
              <a:rPr lang="es-ES" sz="600" dirty="0" err="1"/>
              <a:t>wafer_layout.show</a:t>
            </a:r>
            <a:r>
              <a:rPr lang="es-ES" sz="600" dirty="0"/>
              <a:t>()</a:t>
            </a:r>
          </a:p>
          <a:p>
            <a:r>
              <a:rPr lang="es-ES" sz="600" dirty="0" err="1"/>
              <a:t>wafer_layout.plot</a:t>
            </a:r>
            <a:r>
              <a:rPr lang="es-ES" sz="600" dirty="0"/>
              <a:t>()</a:t>
            </a:r>
          </a:p>
          <a:p>
            <a:endParaRPr lang="es-ES" sz="600" dirty="0"/>
          </a:p>
        </p:txBody>
      </p:sp>
    </p:spTree>
    <p:extLst>
      <p:ext uri="{BB962C8B-B14F-4D97-AF65-F5344CB8AC3E}">
        <p14:creationId xmlns:p14="http://schemas.microsoft.com/office/powerpoint/2010/main" val="13839423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C463A-FEB0-DAC2-C592-982AED782F72}"/>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D9825A0-3864-7B82-F4C0-6912BF1AE353}"/>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#3 – Notebook section 3. Complete layout</a:t>
            </a:r>
            <a:endParaRPr sz="2500" b="0" i="1" dirty="0">
              <a:latin typeface="+mj-lt"/>
              <a:cs typeface="Lucida Sans"/>
            </a:endParaRPr>
          </a:p>
        </p:txBody>
      </p:sp>
      <p:pic>
        <p:nvPicPr>
          <p:cNvPr id="83" name="Gráfico 82">
            <a:extLst>
              <a:ext uri="{FF2B5EF4-FFF2-40B4-BE49-F238E27FC236}">
                <a16:creationId xmlns:a16="http://schemas.microsoft.com/office/drawing/2014/main" id="{0DEB6AD1-A7A1-CBBC-33E2-C1A03F2E3EC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0F7002D-478B-4959-3169-5E518898EBC4}"/>
              </a:ext>
            </a:extLst>
          </p:cNvPr>
          <p:cNvSpPr>
            <a:spLocks noGrp="1"/>
          </p:cNvSpPr>
          <p:nvPr>
            <p:ph type="sldNum" sz="quarter" idx="7"/>
          </p:nvPr>
        </p:nvSpPr>
        <p:spPr/>
        <p:txBody>
          <a:bodyPr/>
          <a:lstStyle/>
          <a:p>
            <a:fld id="{B6F15528-21DE-4FAA-801E-634DDDAF4B2B}" type="slidenum">
              <a:rPr lang="es-ES" smtClean="0"/>
              <a:t>14</a:t>
            </a:fld>
            <a:endParaRPr lang="es-ES"/>
          </a:p>
        </p:txBody>
      </p:sp>
      <p:sp>
        <p:nvSpPr>
          <p:cNvPr id="3" name="Marcador de pie de página 2">
            <a:extLst>
              <a:ext uri="{FF2B5EF4-FFF2-40B4-BE49-F238E27FC236}">
                <a16:creationId xmlns:a16="http://schemas.microsoft.com/office/drawing/2014/main" id="{C305F97E-3B7E-8203-F806-FFA5E41962D7}"/>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58187553-D412-F56C-DD26-11B2C97C2B31}"/>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dirty="0">
                <a:latin typeface="Arial" panose="020B0604020202020204" pitchFamily="34" charset="0"/>
                <a:cs typeface="Arial" panose="020B0604020202020204" pitchFamily="34" charset="0"/>
              </a:rPr>
              <a:t>Python code block 1:</a:t>
            </a:r>
          </a:p>
          <a:p>
            <a:pPr algn="just"/>
            <a:endParaRPr lang="en-US" sz="1200" dirty="0">
              <a:latin typeface="Arial" panose="020B0604020202020204" pitchFamily="34" charset="0"/>
              <a:cs typeface="Arial" panose="020B0604020202020204" pitchFamily="34" charset="0"/>
            </a:endParaRPr>
          </a:p>
          <a:p>
            <a:r>
              <a:rPr lang="es-ES" sz="1200" dirty="0"/>
              <a:t>En esta celda de código hemos desarrollado el </a:t>
            </a:r>
            <a:r>
              <a:rPr lang="es-ES" sz="1200" dirty="0" err="1"/>
              <a:t>layout</a:t>
            </a:r>
            <a:r>
              <a:rPr lang="es-ES" sz="1200" dirty="0"/>
              <a:t> de un circuito fotónico de prueba básico. Comenzamos definiendo las variables esenciales, tales como la capa de la guía de onda (denominada WG), el radio mínimo de curvatura (fijado en 50 micras) y el ancho del chip (configurado en 5000 micras). Tras esto, creamos el componente principal e instanciamos el marco del die sobre la capa lógica FLOORPLAN, lo cual nos permite delimitar físicamente nuestra área de trabajo.</a:t>
            </a:r>
          </a:p>
          <a:p>
            <a:endParaRPr lang="es-ES" sz="1200" dirty="0"/>
          </a:p>
          <a:p>
            <a:r>
              <a:rPr lang="es-ES" sz="1200" dirty="0"/>
              <a:t>Acto seguido, añadimos un acoplador MMI 1x2, centrándolo de forma exacta en el eje horizontal del chip mediante la expresión del 50% del ancho, y elevándolo ligeramente respecto a la base para situarlo de forma adecuada en el lienzo.</a:t>
            </a:r>
          </a:p>
          <a:p>
            <a:r>
              <a:rPr lang="es-ES" sz="1200" dirty="0"/>
              <a:t>A continuación, implementamos una estrategia de diseño fundamental para la fabricación. Esta consiste en colocar segmentos de guías de onda totalmente rectos, de 500 micras de longitud, en los extremos perimetrales del chip; situamos uno para la entrada en el margen izquierdo y dos rotados para las salidas en el margen derecho. El objetivo de este paso es garantizar que el proceso de corte físico (o </a:t>
            </a:r>
            <a:r>
              <a:rPr lang="es-ES" sz="1200" i="1" dirty="0" err="1"/>
              <a:t>dicing</a:t>
            </a:r>
            <a:r>
              <a:rPr lang="es-ES" sz="1200" dirty="0"/>
              <a:t>) de la oblea se realice sobre una sección totalmente recta. De este modo, se evitan pérdidas drásticas por dispersión en las facetas de acoplo, algo que ocurriría inevitablemente si se cortase sobre una zona curva.</a:t>
            </a:r>
          </a:p>
          <a:p>
            <a:endParaRPr lang="es-ES" sz="1200" dirty="0"/>
          </a:p>
          <a:p>
            <a:r>
              <a:rPr lang="es-ES" sz="1200" dirty="0"/>
              <a:t>Para concluir el diseño, conectamos estos segmentos perimetrales con los puertos ópticos del MMI utilizando la función de enrutado automático basada en curvas en S. Esta función calcula de forma adiabática la trayectoria óptima para salvar los desajustes verticales entre los puertos. Finalmente, invocamos las funciones de visualización correspondientes para poder inspeccionar el </a:t>
            </a:r>
            <a:r>
              <a:rPr lang="es-ES" sz="1200" dirty="0" err="1"/>
              <a:t>layout</a:t>
            </a:r>
            <a:r>
              <a:rPr lang="es-ES" sz="1200" dirty="0"/>
              <a:t> completo en </a:t>
            </a:r>
            <a:r>
              <a:rPr lang="es-ES" sz="1200" dirty="0" err="1"/>
              <a:t>KLayout</a:t>
            </a:r>
            <a:r>
              <a:rPr lang="es-ES" sz="1200" dirty="0"/>
              <a:t> y verificar que no existan errores geométricos ni cruces inesperados antes de dar por buena esta sección de la práctica.</a:t>
            </a:r>
          </a:p>
          <a:p>
            <a:pPr algn="just"/>
            <a:r>
              <a:rPr lang="en-US" sz="1200" dirty="0">
                <a:latin typeface="Arial" panose="020B0604020202020204" pitchFamily="34" charset="0"/>
                <a:cs typeface="Arial" panose="020B0604020202020204" pitchFamily="34" charset="0"/>
              </a:rPr>
              <a:t> </a:t>
            </a:r>
          </a:p>
        </p:txBody>
      </p:sp>
      <p:sp>
        <p:nvSpPr>
          <p:cNvPr id="8" name="Rectángulo 7">
            <a:extLst>
              <a:ext uri="{FF2B5EF4-FFF2-40B4-BE49-F238E27FC236}">
                <a16:creationId xmlns:a16="http://schemas.microsoft.com/office/drawing/2014/main" id="{F4B67F4D-126C-4796-4E73-E68F0F3CB6B3}"/>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24F5FE71-3005-DD28-5A06-1330678AD855}"/>
              </a:ext>
            </a:extLst>
          </p:cNvPr>
          <p:cNvSpPr txBox="1"/>
          <p:nvPr/>
        </p:nvSpPr>
        <p:spPr>
          <a:xfrm>
            <a:off x="7663860" y="3105834"/>
            <a:ext cx="2807885" cy="646331"/>
          </a:xfrm>
          <a:prstGeom prst="rect">
            <a:avLst/>
          </a:prstGeom>
          <a:noFill/>
        </p:spPr>
        <p:txBody>
          <a:bodyPr wrap="none" rtlCol="0">
            <a:spAutoFit/>
          </a:bodyPr>
          <a:lstStyle/>
          <a:p>
            <a:pPr algn="ctr"/>
            <a:r>
              <a:rPr lang="es-ES" dirty="0"/>
              <a:t>Complete </a:t>
            </a:r>
            <a:r>
              <a:rPr lang="es-ES" dirty="0" err="1"/>
              <a:t>layout</a:t>
            </a:r>
            <a:r>
              <a:rPr lang="es-ES" dirty="0"/>
              <a:t> </a:t>
            </a:r>
            <a:r>
              <a:rPr lang="es-ES" dirty="0" err="1"/>
              <a:t>screenshot</a:t>
            </a:r>
            <a:endParaRPr lang="es-ES" dirty="0"/>
          </a:p>
          <a:p>
            <a:pPr algn="ctr"/>
            <a:r>
              <a:rPr lang="es-ES" dirty="0"/>
              <a:t> </a:t>
            </a:r>
            <a:r>
              <a:rPr lang="es-ES" dirty="0" err="1"/>
              <a:t>screenshot</a:t>
            </a:r>
            <a:endParaRPr lang="en-US" dirty="0"/>
          </a:p>
        </p:txBody>
      </p:sp>
      <p:pic>
        <p:nvPicPr>
          <p:cNvPr id="5" name="Picture 4">
            <a:extLst>
              <a:ext uri="{FF2B5EF4-FFF2-40B4-BE49-F238E27FC236}">
                <a16:creationId xmlns:a16="http://schemas.microsoft.com/office/drawing/2014/main" id="{EF1A8C98-ED44-2E12-99D2-5D7F3A2EE59F}"/>
              </a:ext>
            </a:extLst>
          </p:cNvPr>
          <p:cNvPicPr>
            <a:picLocks noChangeAspect="1"/>
          </p:cNvPicPr>
          <p:nvPr/>
        </p:nvPicPr>
        <p:blipFill>
          <a:blip r:embed="rId4"/>
          <a:stretch>
            <a:fillRect/>
          </a:stretch>
        </p:blipFill>
        <p:spPr>
          <a:xfrm>
            <a:off x="6248400" y="1522509"/>
            <a:ext cx="5715000" cy="4314265"/>
          </a:xfrm>
          <a:prstGeom prst="rect">
            <a:avLst/>
          </a:prstGeom>
        </p:spPr>
      </p:pic>
    </p:spTree>
    <p:extLst>
      <p:ext uri="{BB962C8B-B14F-4D97-AF65-F5344CB8AC3E}">
        <p14:creationId xmlns:p14="http://schemas.microsoft.com/office/powerpoint/2010/main" val="31908115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75943-44F1-ACE1-DEEB-510D280B174E}"/>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876FCD59-CC77-1CFE-B8CA-6827D6FF6C20}"/>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#3 – Notebook section 3. Complete layout</a:t>
            </a:r>
            <a:endParaRPr sz="2500" b="0" i="1" dirty="0">
              <a:latin typeface="+mj-lt"/>
              <a:cs typeface="Lucida Sans"/>
            </a:endParaRPr>
          </a:p>
        </p:txBody>
      </p:sp>
      <p:pic>
        <p:nvPicPr>
          <p:cNvPr id="83" name="Gráfico 82">
            <a:extLst>
              <a:ext uri="{FF2B5EF4-FFF2-40B4-BE49-F238E27FC236}">
                <a16:creationId xmlns:a16="http://schemas.microsoft.com/office/drawing/2014/main" id="{1AB10C88-18B5-BE32-7236-CB7803AC107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DDD2DBE-2316-652B-4004-03AE9DAAF058}"/>
              </a:ext>
            </a:extLst>
          </p:cNvPr>
          <p:cNvSpPr>
            <a:spLocks noGrp="1"/>
          </p:cNvSpPr>
          <p:nvPr>
            <p:ph type="sldNum" sz="quarter" idx="7"/>
          </p:nvPr>
        </p:nvSpPr>
        <p:spPr/>
        <p:txBody>
          <a:bodyPr/>
          <a:lstStyle/>
          <a:p>
            <a:fld id="{B6F15528-21DE-4FAA-801E-634DDDAF4B2B}" type="slidenum">
              <a:rPr lang="es-ES" smtClean="0"/>
              <a:t>15</a:t>
            </a:fld>
            <a:endParaRPr lang="es-ES"/>
          </a:p>
        </p:txBody>
      </p:sp>
      <p:sp>
        <p:nvSpPr>
          <p:cNvPr id="3" name="Marcador de pie de página 2">
            <a:extLst>
              <a:ext uri="{FF2B5EF4-FFF2-40B4-BE49-F238E27FC236}">
                <a16:creationId xmlns:a16="http://schemas.microsoft.com/office/drawing/2014/main" id="{020CDE1B-95BB-7104-1014-B5E052C4D47D}"/>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0C4995C1-E9AC-75F0-29EB-1C07826B44B9}"/>
              </a:ext>
            </a:extLst>
          </p:cNvPr>
          <p:cNvSpPr txBox="1"/>
          <p:nvPr/>
        </p:nvSpPr>
        <p:spPr>
          <a:xfrm>
            <a:off x="685800" y="990600"/>
            <a:ext cx="5410200" cy="5387340"/>
          </a:xfrm>
          <a:prstGeom prst="rect">
            <a:avLst/>
          </a:prstGeom>
          <a:solidFill>
            <a:schemeClr val="bg1">
              <a:lumMod val="95000"/>
            </a:schemeClr>
          </a:solidFill>
          <a:ln w="28575">
            <a:solidFill>
              <a:srgbClr val="E0700D"/>
            </a:solidFill>
          </a:ln>
        </p:spPr>
        <p:txBody>
          <a:bodyPr wrap="square" rtlCol="0">
            <a:noAutofit/>
          </a:bodyPr>
          <a:lstStyle/>
          <a:p>
            <a:pPr algn="just"/>
            <a:r>
              <a:rPr lang="en-US" sz="1200" dirty="0">
                <a:latin typeface="Arial" panose="020B0604020202020204" pitchFamily="34" charset="0"/>
                <a:cs typeface="Arial" panose="020B0604020202020204" pitchFamily="34" charset="0"/>
              </a:rPr>
              <a:t>Python code block 2: </a:t>
            </a:r>
          </a:p>
          <a:p>
            <a:pPr algn="just"/>
            <a:endParaRPr lang="en-US" sz="1200" dirty="0">
              <a:latin typeface="Arial" panose="020B0604020202020204" pitchFamily="34" charset="0"/>
              <a:cs typeface="Arial" panose="020B0604020202020204" pitchFamily="34" charset="0"/>
            </a:endParaRPr>
          </a:p>
          <a:p>
            <a:r>
              <a:rPr lang="es-ES" sz="1200" dirty="0"/>
              <a:t>En esta celda de código hemos dado un paso fundamental hacia la modularidad del diseño al construir un árbol divisor óptico de una entrada y cuatro salidas (mmi_tree_1x4). Este </a:t>
            </a:r>
            <a:r>
              <a:rPr lang="es-ES" sz="1200" dirty="0" err="1"/>
              <a:t>macro-componente</a:t>
            </a:r>
            <a:r>
              <a:rPr lang="es-ES" sz="1200" dirty="0"/>
              <a:t> se logra mediante el cascado jerárquico de varios acopladores MMI 1x2 básicos, optimizando el espacio y la reutilización de celdas.</a:t>
            </a:r>
          </a:p>
          <a:p>
            <a:r>
              <a:rPr lang="es-ES" sz="1200" dirty="0"/>
              <a:t>En primer lugar, empleamos el decorador @gf.cell para registrar la función, lo que garantiza una gestión eficiente de la caché y evita la duplicación de nombres en el archivo GDS final. Dentro de la definición, añadimos tres referencias independientes del mismo MMI 1x2 básico: el primero (mmi1) recibe la potencia óptica inicial, mientras que los otros dos (mmi2 y mmi3) se encargan de la segunda etapa de división para generar los cuatro canales de salida.</a:t>
            </a:r>
          </a:p>
          <a:p>
            <a:endParaRPr lang="es-ES" sz="1200" dirty="0"/>
          </a:p>
          <a:p>
            <a:r>
              <a:rPr lang="es-ES" sz="1200" dirty="0"/>
              <a:t>En segundo lugar, configuramos la geometría del árbol utilizando los parámetros de espaciado </a:t>
            </a:r>
            <a:r>
              <a:rPr lang="es-ES" sz="1200" dirty="0" err="1"/>
              <a:t>pad_x</a:t>
            </a:r>
            <a:r>
              <a:rPr lang="es-ES" sz="1200" dirty="0"/>
              <a:t> y </a:t>
            </a:r>
            <a:r>
              <a:rPr lang="es-ES" sz="1200" dirty="0" err="1"/>
              <a:t>pad_y</a:t>
            </a:r>
            <a:r>
              <a:rPr lang="es-ES" sz="1200" dirty="0"/>
              <a:t>. Para evitar que los componentes se solapen, desplazamos la segunda etapa hacia la derecha en el eje X, y aplicamos una separación simétrica en el eje Y: mmi2 se desplaza hacia arriba y mmi3 hacia abajo. Una vez posicionados, interconectamos la salida superior e inferior de la primera etapa con las entradas de la segunda etapa utilizando enrutados basados en curvas en "S" (</a:t>
            </a:r>
            <a:r>
              <a:rPr lang="es-ES" sz="1200" dirty="0" err="1"/>
              <a:t>route_single_sbend</a:t>
            </a:r>
            <a:r>
              <a:rPr lang="es-ES" sz="1200" dirty="0"/>
              <a:t>), asegurando transiciones suaves y de bajas pérdidas.</a:t>
            </a:r>
          </a:p>
          <a:p>
            <a:endParaRPr lang="es-ES" sz="1200" dirty="0"/>
          </a:p>
          <a:p>
            <a:r>
              <a:rPr lang="es-ES" sz="1200" dirty="0"/>
              <a:t>Finalmente, procedemos a exponer los puertos internos hacia el exterior de la celda mediante </a:t>
            </a:r>
            <a:r>
              <a:rPr lang="es-ES" sz="1200" dirty="0" err="1"/>
              <a:t>c.add_port</a:t>
            </a:r>
            <a:r>
              <a:rPr lang="es-ES" sz="1200" dirty="0"/>
              <a:t>. Este paso es crucial, ya que define la interfaz de nuestro nuevo bloque, permitiéndonos tratar el árbol completo como una "caja negra" que posee un puerto de entrada principal (o1) y cuatro puertos de salida (o2 a o5). Tras dibujar los puertos de inspección con </a:t>
            </a:r>
            <a:r>
              <a:rPr lang="es-ES" sz="1200" dirty="0" err="1"/>
              <a:t>c.draw_ports</a:t>
            </a:r>
            <a:r>
              <a:rPr lang="es-ES" sz="1200" dirty="0"/>
              <a:t>(), instanciamos este nuevo subcircuito en el componente de jerarquía superior (</a:t>
            </a:r>
            <a:r>
              <a:rPr lang="es-ES" sz="1200" dirty="0" err="1"/>
              <a:t>main</a:t>
            </a:r>
            <a:r>
              <a:rPr lang="es-ES" sz="1200" dirty="0"/>
              <a:t>), quedando totalmente listo para ser integrado en el </a:t>
            </a:r>
            <a:r>
              <a:rPr lang="es-ES" sz="1200" dirty="0" err="1"/>
              <a:t>layout</a:t>
            </a:r>
            <a:r>
              <a:rPr lang="es-ES" sz="1200" dirty="0"/>
              <a:t> del </a:t>
            </a:r>
            <a:r>
              <a:rPr lang="es-ES" sz="1200" i="1" dirty="0"/>
              <a:t>die</a:t>
            </a:r>
            <a:r>
              <a:rPr lang="es-ES" sz="1200" dirty="0"/>
              <a:t>.</a:t>
            </a:r>
          </a:p>
          <a:p>
            <a:pPr algn="just"/>
            <a:endParaRPr lang="en-US" sz="1200"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84391DD2-BE8C-36F4-453B-6684FD1F9A25}"/>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D2FA6D2B-011C-E36B-4756-253E4C301B8C}"/>
              </a:ext>
            </a:extLst>
          </p:cNvPr>
          <p:cNvSpPr txBox="1"/>
          <p:nvPr/>
        </p:nvSpPr>
        <p:spPr>
          <a:xfrm>
            <a:off x="7663860" y="3105834"/>
            <a:ext cx="2807885" cy="646331"/>
          </a:xfrm>
          <a:prstGeom prst="rect">
            <a:avLst/>
          </a:prstGeom>
          <a:noFill/>
        </p:spPr>
        <p:txBody>
          <a:bodyPr wrap="none" rtlCol="0">
            <a:spAutoFit/>
          </a:bodyPr>
          <a:lstStyle/>
          <a:p>
            <a:pPr algn="ctr"/>
            <a:r>
              <a:rPr lang="es-ES" dirty="0"/>
              <a:t>Complete </a:t>
            </a:r>
            <a:r>
              <a:rPr lang="es-ES" dirty="0" err="1"/>
              <a:t>layout</a:t>
            </a:r>
            <a:r>
              <a:rPr lang="es-ES" dirty="0"/>
              <a:t> </a:t>
            </a:r>
            <a:r>
              <a:rPr lang="es-ES" dirty="0" err="1"/>
              <a:t>screenshot</a:t>
            </a:r>
            <a:endParaRPr lang="es-ES" dirty="0"/>
          </a:p>
          <a:p>
            <a:pPr algn="ctr"/>
            <a:r>
              <a:rPr lang="es-ES" dirty="0"/>
              <a:t> </a:t>
            </a:r>
            <a:r>
              <a:rPr lang="es-ES" dirty="0" err="1"/>
              <a:t>screenshot</a:t>
            </a:r>
            <a:endParaRPr lang="en-US" dirty="0"/>
          </a:p>
        </p:txBody>
      </p:sp>
      <p:pic>
        <p:nvPicPr>
          <p:cNvPr id="7" name="Picture 6">
            <a:extLst>
              <a:ext uri="{FF2B5EF4-FFF2-40B4-BE49-F238E27FC236}">
                <a16:creationId xmlns:a16="http://schemas.microsoft.com/office/drawing/2014/main" id="{79BF87F2-A15B-7915-8646-A4447D2C148C}"/>
              </a:ext>
            </a:extLst>
          </p:cNvPr>
          <p:cNvPicPr>
            <a:picLocks noChangeAspect="1"/>
          </p:cNvPicPr>
          <p:nvPr/>
        </p:nvPicPr>
        <p:blipFill>
          <a:blip r:embed="rId4"/>
          <a:stretch>
            <a:fillRect/>
          </a:stretch>
        </p:blipFill>
        <p:spPr>
          <a:xfrm>
            <a:off x="6517387" y="1600200"/>
            <a:ext cx="4937194" cy="3727097"/>
          </a:xfrm>
          <a:prstGeom prst="rect">
            <a:avLst/>
          </a:prstGeom>
        </p:spPr>
      </p:pic>
    </p:spTree>
    <p:extLst>
      <p:ext uri="{BB962C8B-B14F-4D97-AF65-F5344CB8AC3E}">
        <p14:creationId xmlns:p14="http://schemas.microsoft.com/office/powerpoint/2010/main" val="24690621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BF5E0-6FFC-0466-9B5D-38D2A6433160}"/>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3820402-A227-ED4E-56D1-F2F5E58C73E9}"/>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#3 – Notebook section 3. Complete layout</a:t>
            </a:r>
            <a:endParaRPr sz="2500" b="0" i="1" dirty="0">
              <a:latin typeface="+mj-lt"/>
              <a:cs typeface="Lucida Sans"/>
            </a:endParaRPr>
          </a:p>
        </p:txBody>
      </p:sp>
      <p:pic>
        <p:nvPicPr>
          <p:cNvPr id="83" name="Gráfico 82">
            <a:extLst>
              <a:ext uri="{FF2B5EF4-FFF2-40B4-BE49-F238E27FC236}">
                <a16:creationId xmlns:a16="http://schemas.microsoft.com/office/drawing/2014/main" id="{2AD56FBE-9276-5A65-45E6-721E193B1A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FA1C1DA-A5C5-CA15-7252-117D7410A663}"/>
              </a:ext>
            </a:extLst>
          </p:cNvPr>
          <p:cNvSpPr>
            <a:spLocks noGrp="1"/>
          </p:cNvSpPr>
          <p:nvPr>
            <p:ph type="sldNum" sz="quarter" idx="7"/>
          </p:nvPr>
        </p:nvSpPr>
        <p:spPr/>
        <p:txBody>
          <a:bodyPr/>
          <a:lstStyle/>
          <a:p>
            <a:fld id="{B6F15528-21DE-4FAA-801E-634DDDAF4B2B}" type="slidenum">
              <a:rPr lang="es-ES" smtClean="0"/>
              <a:t>16</a:t>
            </a:fld>
            <a:endParaRPr lang="es-ES"/>
          </a:p>
        </p:txBody>
      </p:sp>
      <p:sp>
        <p:nvSpPr>
          <p:cNvPr id="3" name="Marcador de pie de página 2">
            <a:extLst>
              <a:ext uri="{FF2B5EF4-FFF2-40B4-BE49-F238E27FC236}">
                <a16:creationId xmlns:a16="http://schemas.microsoft.com/office/drawing/2014/main" id="{4AB17C21-67D7-2765-63AC-19E72A1A8879}"/>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F45DE390-B9AB-FA3C-782E-B4C66FE034D7}"/>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dirty="0">
                <a:latin typeface="Arial" panose="020B0604020202020204" pitchFamily="34" charset="0"/>
                <a:cs typeface="Arial" panose="020B0604020202020204" pitchFamily="34" charset="0"/>
              </a:rPr>
              <a:t>Python code block 3:</a:t>
            </a:r>
          </a:p>
          <a:p>
            <a:r>
              <a:rPr lang="es-ES" sz="1200" dirty="0"/>
              <a:t>Estimado profesor, en esta sección del código procedemos a la integración a gran escala del circuito, interconectando el árbol divisor 1x4 (cell_1x4) desarrollado previamente con matrices de guías de onda de entrada y salida (</a:t>
            </a:r>
            <a:r>
              <a:rPr lang="es-ES" sz="1200" i="1" dirty="0" err="1"/>
              <a:t>waveguide</a:t>
            </a:r>
            <a:r>
              <a:rPr lang="es-ES" sz="1200" i="1" dirty="0"/>
              <a:t> </a:t>
            </a:r>
            <a:r>
              <a:rPr lang="es-ES" sz="1200" i="1" dirty="0" err="1"/>
              <a:t>arrays</a:t>
            </a:r>
            <a:r>
              <a:rPr lang="es-ES" sz="1200" dirty="0"/>
              <a:t>). Esta configuración simula un escenario real de caracterización en el laboratorio mediante el uso de bloques de fibras ópticas (</a:t>
            </a:r>
            <a:r>
              <a:rPr lang="es-ES" sz="1200" i="1" dirty="0" err="1"/>
              <a:t>fiber</a:t>
            </a:r>
            <a:r>
              <a:rPr lang="es-ES" sz="1200" i="1" dirty="0"/>
              <a:t> </a:t>
            </a:r>
            <a:r>
              <a:rPr lang="es-ES" sz="1200" i="1" dirty="0" err="1"/>
              <a:t>arrays</a:t>
            </a:r>
            <a:r>
              <a:rPr lang="es-ES" sz="1200" dirty="0"/>
              <a:t>).</a:t>
            </a:r>
          </a:p>
          <a:p>
            <a:r>
              <a:rPr lang="es-ES" sz="1200" dirty="0"/>
              <a:t>En primer lugar, establecemos los parámetros de empaquetado definiendo un espaciado entre canales de 200 micras (</a:t>
            </a:r>
            <a:r>
              <a:rPr lang="es-ES" sz="1200" dirty="0" err="1"/>
              <a:t>sp</a:t>
            </a:r>
            <a:r>
              <a:rPr lang="es-ES" sz="1200" dirty="0"/>
              <a:t> = 200) y una longitud de faceta recta de 250 micras (</a:t>
            </a:r>
            <a:r>
              <a:rPr lang="es-ES" sz="1200" dirty="0" err="1"/>
              <a:t>border</a:t>
            </a:r>
            <a:r>
              <a:rPr lang="es-ES" sz="1200" dirty="0"/>
              <a:t> = 250). A partir de estos valores y mediante la función </a:t>
            </a:r>
            <a:r>
              <a:rPr lang="es-ES" sz="1200" dirty="0" err="1"/>
              <a:t>gf.components.straight_array</a:t>
            </a:r>
            <a:r>
              <a:rPr lang="es-ES" sz="1200" dirty="0"/>
              <a:t>, instanciamos dos bloques de cuatro guías paralelas independientes: el primero se ubica en el extremo izquierdo (</a:t>
            </a:r>
            <a:r>
              <a:rPr lang="es-ES" sz="1200" dirty="0" err="1"/>
              <a:t>in_arr</a:t>
            </a:r>
            <a:r>
              <a:rPr lang="es-ES" sz="1200" dirty="0"/>
              <a:t>) para la inyección de luz, mientras que el segundo se desplaza hacia el extremo derecho (</a:t>
            </a:r>
            <a:r>
              <a:rPr lang="es-ES" sz="1200" dirty="0" err="1"/>
              <a:t>out_arr</a:t>
            </a:r>
            <a:r>
              <a:rPr lang="es-ES" sz="1200" dirty="0"/>
              <a:t>), justo en el límite interior del chip. Ambas matrices se elevan a una cota de 1000 micras en el eje Y para despejar la base del </a:t>
            </a:r>
            <a:r>
              <a:rPr lang="es-ES" sz="1200" i="1" dirty="0"/>
              <a:t>die</a:t>
            </a:r>
            <a:r>
              <a:rPr lang="es-ES" sz="1200" dirty="0"/>
              <a:t>.</a:t>
            </a:r>
          </a:p>
          <a:p>
            <a:r>
              <a:rPr lang="es-ES" sz="1200" dirty="0"/>
              <a:t>En segundo lugar, reposicionamos el árbol MMI 1x4 de manera estratégica dentro del lienzo general. El bloque se desplaza horizontalmente para quedar perfectamente centrado en el corazón del chip (restando la mitad de su longitud en X a la mitad del ancho total del </a:t>
            </a:r>
            <a:r>
              <a:rPr lang="es-ES" sz="1200" i="1" dirty="0"/>
              <a:t>die</a:t>
            </a:r>
            <a:r>
              <a:rPr lang="es-ES" sz="1200" dirty="0"/>
              <a:t>) y se alinea verticalmente de forma directa con la altura del puerto de entrada o6 de la matriz izquierda.</a:t>
            </a:r>
          </a:p>
          <a:p>
            <a:r>
              <a:rPr lang="es-ES" sz="1200" dirty="0"/>
              <a:t>Finalmente, realizamos el enrutado completo del sistema utilizando la función de curvas en "S" (</a:t>
            </a:r>
            <a:r>
              <a:rPr lang="es-ES" sz="1200" dirty="0" err="1"/>
              <a:t>route_single_sbend</a:t>
            </a:r>
            <a:r>
              <a:rPr lang="es-ES" sz="1200" dirty="0"/>
              <a:t>). Primero enlazamos el canal de entrada seleccionado con el inicio del árbol óptico; acto seguido, conectamos las cuatro salidas del divisor (o2 a o5) con las cuatro guías de la matriz derecha. Es importante destacar que el mapeo de estos últimos puertos se realiza en orden inverso (del o2 al o4, y del o5 al o1), una técnica de diseño fundamental en fotónica integrada para evitar que las guías de onda se crucen entre sí en el mismo plano, lo cual destruiría la señal. Con la ejecución de </a:t>
            </a:r>
            <a:r>
              <a:rPr lang="es-ES" sz="1200" dirty="0" err="1"/>
              <a:t>main.plot</a:t>
            </a:r>
            <a:r>
              <a:rPr lang="es-ES" sz="1200" dirty="0"/>
              <a:t>() y </a:t>
            </a:r>
            <a:r>
              <a:rPr lang="es-ES" sz="1200" dirty="0" err="1"/>
              <a:t>main.show</a:t>
            </a:r>
            <a:r>
              <a:rPr lang="es-ES" sz="1200" dirty="0"/>
              <a:t>(), el </a:t>
            </a:r>
            <a:r>
              <a:rPr lang="es-ES" sz="1200" dirty="0" err="1"/>
              <a:t>layout</a:t>
            </a:r>
            <a:r>
              <a:rPr lang="es-ES" sz="1200" dirty="0"/>
              <a:t> queda completamente cerrado y listo para su inspección geométrica final en </a:t>
            </a:r>
            <a:r>
              <a:rPr lang="es-ES" sz="1200" dirty="0" err="1"/>
              <a:t>KLayout</a:t>
            </a:r>
            <a:r>
              <a:rPr lang="es-ES" sz="1200" dirty="0"/>
              <a:t>.</a:t>
            </a:r>
          </a:p>
          <a:p>
            <a:pPr algn="just"/>
            <a:r>
              <a:rPr lang="en-US" sz="1200" dirty="0">
                <a:latin typeface="Arial" panose="020B0604020202020204" pitchFamily="34" charset="0"/>
                <a:cs typeface="Arial" panose="020B0604020202020204" pitchFamily="34" charset="0"/>
              </a:rPr>
              <a:t> </a:t>
            </a:r>
          </a:p>
        </p:txBody>
      </p:sp>
      <p:sp>
        <p:nvSpPr>
          <p:cNvPr id="8" name="Rectángulo 7">
            <a:extLst>
              <a:ext uri="{FF2B5EF4-FFF2-40B4-BE49-F238E27FC236}">
                <a16:creationId xmlns:a16="http://schemas.microsoft.com/office/drawing/2014/main" id="{BA8C57B5-8DF6-9763-41BA-DFAC7B254845}"/>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7854440A-CD54-7CF1-7C37-A35FF9617440}"/>
              </a:ext>
            </a:extLst>
          </p:cNvPr>
          <p:cNvSpPr txBox="1"/>
          <p:nvPr/>
        </p:nvSpPr>
        <p:spPr>
          <a:xfrm>
            <a:off x="7663860" y="3105834"/>
            <a:ext cx="2807885" cy="646331"/>
          </a:xfrm>
          <a:prstGeom prst="rect">
            <a:avLst/>
          </a:prstGeom>
          <a:noFill/>
        </p:spPr>
        <p:txBody>
          <a:bodyPr wrap="none" rtlCol="0">
            <a:spAutoFit/>
          </a:bodyPr>
          <a:lstStyle/>
          <a:p>
            <a:pPr algn="ctr"/>
            <a:r>
              <a:rPr lang="es-ES" dirty="0"/>
              <a:t>Complete </a:t>
            </a:r>
            <a:r>
              <a:rPr lang="es-ES" dirty="0" err="1"/>
              <a:t>layout</a:t>
            </a:r>
            <a:r>
              <a:rPr lang="es-ES" dirty="0"/>
              <a:t> </a:t>
            </a:r>
            <a:r>
              <a:rPr lang="es-ES" dirty="0" err="1"/>
              <a:t>screenshot</a:t>
            </a:r>
            <a:endParaRPr lang="es-ES" dirty="0"/>
          </a:p>
          <a:p>
            <a:pPr algn="ctr"/>
            <a:r>
              <a:rPr lang="es-ES" dirty="0"/>
              <a:t> </a:t>
            </a:r>
            <a:r>
              <a:rPr lang="es-ES" dirty="0" err="1"/>
              <a:t>screenshot</a:t>
            </a:r>
            <a:endParaRPr lang="en-US" dirty="0"/>
          </a:p>
        </p:txBody>
      </p:sp>
      <p:pic>
        <p:nvPicPr>
          <p:cNvPr id="5" name="Picture 4">
            <a:extLst>
              <a:ext uri="{FF2B5EF4-FFF2-40B4-BE49-F238E27FC236}">
                <a16:creationId xmlns:a16="http://schemas.microsoft.com/office/drawing/2014/main" id="{74A5DCD7-0779-45AC-61A2-30DCFF4BE296}"/>
              </a:ext>
            </a:extLst>
          </p:cNvPr>
          <p:cNvPicPr>
            <a:picLocks noChangeAspect="1"/>
          </p:cNvPicPr>
          <p:nvPr/>
        </p:nvPicPr>
        <p:blipFill>
          <a:blip r:embed="rId4"/>
          <a:stretch>
            <a:fillRect/>
          </a:stretch>
        </p:blipFill>
        <p:spPr>
          <a:xfrm>
            <a:off x="6292912" y="1486475"/>
            <a:ext cx="5549773" cy="4189535"/>
          </a:xfrm>
          <a:prstGeom prst="rect">
            <a:avLst/>
          </a:prstGeom>
        </p:spPr>
      </p:pic>
    </p:spTree>
    <p:extLst>
      <p:ext uri="{BB962C8B-B14F-4D97-AF65-F5344CB8AC3E}">
        <p14:creationId xmlns:p14="http://schemas.microsoft.com/office/powerpoint/2010/main" val="7544163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787F0-CB2C-2FE5-5614-A0F16A628E7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02B708D-0704-5977-EC6F-88CF05CBBE8F}"/>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 – Notebook section 4. Exercises – 1 slide per bullet point</a:t>
            </a:r>
            <a:endParaRPr sz="2500" b="0" i="1" dirty="0">
              <a:latin typeface="+mj-lt"/>
              <a:cs typeface="Lucida Sans"/>
            </a:endParaRPr>
          </a:p>
        </p:txBody>
      </p:sp>
      <p:pic>
        <p:nvPicPr>
          <p:cNvPr id="83" name="Gráfico 82">
            <a:extLst>
              <a:ext uri="{FF2B5EF4-FFF2-40B4-BE49-F238E27FC236}">
                <a16:creationId xmlns:a16="http://schemas.microsoft.com/office/drawing/2014/main" id="{25386122-0096-23D3-AB3A-550FBF0A314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13FD8D6-DEAF-544C-DE8A-FEED1CFD257F}"/>
              </a:ext>
            </a:extLst>
          </p:cNvPr>
          <p:cNvSpPr>
            <a:spLocks noGrp="1"/>
          </p:cNvSpPr>
          <p:nvPr>
            <p:ph type="sldNum" sz="quarter" idx="7"/>
          </p:nvPr>
        </p:nvSpPr>
        <p:spPr/>
        <p:txBody>
          <a:bodyPr/>
          <a:lstStyle/>
          <a:p>
            <a:fld id="{B6F15528-21DE-4FAA-801E-634DDDAF4B2B}" type="slidenum">
              <a:rPr lang="es-ES" smtClean="0"/>
              <a:t>17</a:t>
            </a:fld>
            <a:endParaRPr lang="es-ES"/>
          </a:p>
        </p:txBody>
      </p:sp>
      <p:sp>
        <p:nvSpPr>
          <p:cNvPr id="3" name="Marcador de pie de página 2">
            <a:extLst>
              <a:ext uri="{FF2B5EF4-FFF2-40B4-BE49-F238E27FC236}">
                <a16:creationId xmlns:a16="http://schemas.microsoft.com/office/drawing/2014/main" id="{30B40145-CD7B-EB6E-E37D-B6E973BB915B}"/>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3C6D55FC-5031-5DAE-893E-BF1355747932}"/>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b="1" dirty="0">
                <a:latin typeface="Arial" panose="020B0604020202020204" pitchFamily="34" charset="0"/>
                <a:cs typeface="Arial" panose="020B0604020202020204" pitchFamily="34" charset="0"/>
              </a:rPr>
              <a:t>Code for …</a:t>
            </a:r>
          </a:p>
          <a:p>
            <a:pPr algn="just"/>
            <a:endParaRPr lang="en-US" sz="1200" b="1" dirty="0">
              <a:latin typeface="Arial" panose="020B0604020202020204" pitchFamily="34" charset="0"/>
              <a:cs typeface="Arial" panose="020B0604020202020204" pitchFamily="34" charset="0"/>
            </a:endParaRPr>
          </a:p>
          <a:p>
            <a:pPr algn="just"/>
            <a:r>
              <a:rPr lang="en-US" sz="1200" b="1" dirty="0">
                <a:latin typeface="Arial" panose="020B0604020202020204" pitchFamily="34" charset="0"/>
                <a:cs typeface="Arial" panose="020B0604020202020204" pitchFamily="34" charset="0"/>
              </a:rPr>
              <a:t>Part a) Creating components</a:t>
            </a:r>
          </a:p>
          <a:p>
            <a:pPr algn="just"/>
            <a:r>
              <a:rPr lang="en-US" sz="1200" dirty="0">
                <a:latin typeface="Arial" panose="020B0604020202020204" pitchFamily="34" charset="0"/>
                <a:cs typeface="Arial" panose="020B0604020202020204" pitchFamily="34" charset="0"/>
              </a:rPr>
              <a:t>- Create a cell component for a unbalanced MZI, using 2x2 50:50 MMIs with arm length difference as parameter</a:t>
            </a:r>
          </a:p>
          <a:p>
            <a:pPr algn="just"/>
            <a:r>
              <a:rPr lang="en-US" sz="1200" dirty="0">
                <a:latin typeface="Arial" panose="020B0604020202020204" pitchFamily="34" charset="0"/>
                <a:cs typeface="Arial" panose="020B0604020202020204" pitchFamily="34" charset="0"/>
              </a:rPr>
              <a:t>- Create a cell component based on the previous, where the arms have thermal tuners on top of each one</a:t>
            </a:r>
          </a:p>
          <a:p>
            <a:pPr algn="just"/>
            <a:r>
              <a:rPr lang="en-US" sz="1200" dirty="0">
                <a:latin typeface="Arial" panose="020B0604020202020204" pitchFamily="34" charset="0"/>
                <a:cs typeface="Arial" panose="020B0604020202020204" pitchFamily="34" charset="0"/>
              </a:rPr>
              <a:t>- Create a cell component for an all-pass ring resonator, using 2x2 50:50 MMIs, with extra length parameter for different perimeters</a:t>
            </a:r>
          </a:p>
          <a:p>
            <a:pPr algn="just"/>
            <a:r>
              <a:rPr lang="en-US" sz="1200" dirty="0">
                <a:latin typeface="Arial" panose="020B0604020202020204" pitchFamily="34" charset="0"/>
                <a:cs typeface="Arial" panose="020B0604020202020204" pitchFamily="34" charset="0"/>
              </a:rPr>
              <a:t>- Create a cell component based on the previous, where the ring has a thermal tuner on top along all the perimeter</a:t>
            </a:r>
          </a:p>
          <a:p>
            <a:pPr algn="just"/>
            <a:r>
              <a:rPr lang="en-US" sz="1200" dirty="0">
                <a:latin typeface="Arial" panose="020B0604020202020204" pitchFamily="34" charset="0"/>
                <a:cs typeface="Arial" panose="020B0604020202020204" pitchFamily="34" charset="0"/>
              </a:rPr>
              <a:t>- Create a cell component based on existing </a:t>
            </a:r>
            <a:r>
              <a:rPr lang="en-US" sz="1200" dirty="0" err="1">
                <a:latin typeface="Arial" panose="020B0604020202020204" pitchFamily="34" charset="0"/>
                <a:cs typeface="Arial" panose="020B0604020202020204" pitchFamily="34" charset="0"/>
              </a:rPr>
              <a:t>GDSfactory</a:t>
            </a:r>
            <a:r>
              <a:rPr lang="en-US" sz="1200" dirty="0">
                <a:latin typeface="Arial" panose="020B0604020202020204" pitchFamily="34" charset="0"/>
                <a:cs typeface="Arial" panose="020B0604020202020204" pitchFamily="34" charset="0"/>
              </a:rPr>
              <a:t> spiral components, with length as parameter</a:t>
            </a:r>
          </a:p>
          <a:p>
            <a:pPr algn="just"/>
            <a:endParaRPr lang="en-US" sz="1200" dirty="0">
              <a:latin typeface="Arial" panose="020B0604020202020204" pitchFamily="34" charset="0"/>
              <a:cs typeface="Arial" panose="020B0604020202020204" pitchFamily="34" charset="0"/>
            </a:endParaRPr>
          </a:p>
          <a:p>
            <a:pPr algn="just"/>
            <a:r>
              <a:rPr lang="en-US" sz="1200" b="1" dirty="0">
                <a:latin typeface="Arial" panose="020B0604020202020204" pitchFamily="34" charset="0"/>
                <a:cs typeface="Arial" panose="020B0604020202020204" pitchFamily="34" charset="0"/>
              </a:rPr>
              <a:t>Part b) Creating die</a:t>
            </a:r>
          </a:p>
          <a:p>
            <a:pPr algn="just"/>
            <a:r>
              <a:rPr lang="en-US" sz="1200" dirty="0">
                <a:latin typeface="Arial" panose="020B0604020202020204" pitchFamily="34" charset="0"/>
                <a:cs typeface="Arial" panose="020B0604020202020204" pitchFamily="34" charset="0"/>
              </a:rPr>
              <a:t>- Create a die  W = 5 mm x L = 10 mm </a:t>
            </a:r>
          </a:p>
          <a:p>
            <a:pPr algn="just"/>
            <a:r>
              <a:rPr lang="en-US" sz="1200" dirty="0">
                <a:latin typeface="Arial" panose="020B0604020202020204" pitchFamily="34" charset="0"/>
                <a:cs typeface="Arial" panose="020B0604020202020204" pitchFamily="34" charset="0"/>
              </a:rPr>
              <a:t>- Create an array of I/</a:t>
            </a:r>
            <a:r>
              <a:rPr lang="en-US" sz="1200" dirty="0" err="1">
                <a:latin typeface="Arial" panose="020B0604020202020204" pitchFamily="34" charset="0"/>
                <a:cs typeface="Arial" panose="020B0604020202020204" pitchFamily="34" charset="0"/>
              </a:rPr>
              <a:t>Os</a:t>
            </a:r>
            <a:r>
              <a:rPr lang="en-US" sz="1200" dirty="0">
                <a:latin typeface="Arial" panose="020B0604020202020204" pitchFamily="34" charset="0"/>
                <a:cs typeface="Arial" panose="020B0604020202020204" pitchFamily="34" charset="0"/>
              </a:rPr>
              <a:t> spaced at 250 µm (as much I/</a:t>
            </a:r>
            <a:r>
              <a:rPr lang="en-US" sz="1200" dirty="0" err="1">
                <a:latin typeface="Arial" panose="020B0604020202020204" pitchFamily="34" charset="0"/>
                <a:cs typeface="Arial" panose="020B0604020202020204" pitchFamily="34" charset="0"/>
              </a:rPr>
              <a:t>Os</a:t>
            </a:r>
            <a:r>
              <a:rPr lang="en-US" sz="1200" dirty="0">
                <a:latin typeface="Arial" panose="020B0604020202020204" pitchFamily="34" charset="0"/>
                <a:cs typeface="Arial" panose="020B0604020202020204" pitchFamily="34" charset="0"/>
              </a:rPr>
              <a:t> as the width allows)</a:t>
            </a:r>
          </a:p>
          <a:p>
            <a:pPr algn="just"/>
            <a:r>
              <a:rPr lang="en-US" sz="1200" dirty="0">
                <a:latin typeface="Arial" panose="020B0604020202020204" pitchFamily="34" charset="0"/>
                <a:cs typeface="Arial" panose="020B0604020202020204" pitchFamily="34" charset="0"/>
              </a:rPr>
              <a:t>- Create a cell component of this die, with I/</a:t>
            </a:r>
            <a:r>
              <a:rPr lang="en-US" sz="1200" dirty="0" err="1">
                <a:latin typeface="Arial" panose="020B0604020202020204" pitchFamily="34" charset="0"/>
                <a:cs typeface="Arial" panose="020B0604020202020204" pitchFamily="34" charset="0"/>
              </a:rPr>
              <a:t>Os</a:t>
            </a:r>
            <a:r>
              <a:rPr lang="en-US" sz="1200" dirty="0">
                <a:latin typeface="Arial" panose="020B0604020202020204" pitchFamily="34" charset="0"/>
                <a:cs typeface="Arial" panose="020B0604020202020204" pitchFamily="34" charset="0"/>
              </a:rPr>
              <a:t> accessible to connect</a:t>
            </a:r>
          </a:p>
          <a:p>
            <a:pPr algn="just"/>
            <a:endParaRPr lang="en-US" sz="1200" dirty="0">
              <a:latin typeface="Arial" panose="020B0604020202020204" pitchFamily="34" charset="0"/>
              <a:cs typeface="Arial" panose="020B0604020202020204" pitchFamily="34" charset="0"/>
            </a:endParaRPr>
          </a:p>
          <a:p>
            <a:pPr algn="just"/>
            <a:r>
              <a:rPr lang="en-US" sz="1200" b="1" dirty="0">
                <a:latin typeface="Arial" panose="020B0604020202020204" pitchFamily="34" charset="0"/>
                <a:cs typeface="Arial" panose="020B0604020202020204" pitchFamily="34" charset="0"/>
              </a:rPr>
              <a:t>Part c) </a:t>
            </a:r>
            <a:r>
              <a:rPr lang="en-US" sz="1200" b="1" dirty="0" err="1">
                <a:latin typeface="Arial" panose="020B0604020202020204" pitchFamily="34" charset="0"/>
                <a:cs typeface="Arial" panose="020B0604020202020204" pitchFamily="34" charset="0"/>
              </a:rPr>
              <a:t>Floorplaning</a:t>
            </a:r>
            <a:r>
              <a:rPr lang="en-US" sz="1200" b="1" dirty="0">
                <a:latin typeface="Arial" panose="020B0604020202020204" pitchFamily="34" charset="0"/>
                <a:cs typeface="Arial" panose="020B0604020202020204" pitchFamily="34" charset="0"/>
              </a:rPr>
              <a:t> and die layout</a:t>
            </a:r>
          </a:p>
          <a:p>
            <a:pPr algn="just"/>
            <a:r>
              <a:rPr lang="en-US" sz="1200" dirty="0">
                <a:latin typeface="Arial" panose="020B0604020202020204" pitchFamily="34" charset="0"/>
                <a:cs typeface="Arial" panose="020B0604020202020204" pitchFamily="34" charset="0"/>
              </a:rPr>
              <a:t>- Make an instance of the die as host component for your layout</a:t>
            </a:r>
          </a:p>
          <a:p>
            <a:pPr algn="just"/>
            <a:r>
              <a:rPr lang="en-US" sz="1200" dirty="0">
                <a:latin typeface="Arial" panose="020B0604020202020204" pitchFamily="34" charset="0"/>
                <a:cs typeface="Arial" panose="020B0604020202020204" pitchFamily="34" charset="0"/>
              </a:rPr>
              <a:t>- Add 3 sets of 3 straight waveguides, from left to right of the die, top, middle and bottom of the die</a:t>
            </a:r>
          </a:p>
          <a:p>
            <a:pPr algn="just"/>
            <a:r>
              <a:rPr lang="en-US" sz="1200" dirty="0">
                <a:latin typeface="Arial" panose="020B0604020202020204" pitchFamily="34" charset="0"/>
                <a:cs typeface="Arial" panose="020B0604020202020204" pitchFamily="34" charset="0"/>
              </a:rPr>
              <a:t>- Add 2 of each of the components above, with different lengths</a:t>
            </a:r>
          </a:p>
          <a:p>
            <a:pPr algn="just"/>
            <a:r>
              <a:rPr lang="en-US" sz="1200" dirty="0">
                <a:latin typeface="Arial" panose="020B0604020202020204" pitchFamily="34" charset="0"/>
                <a:cs typeface="Arial" panose="020B0604020202020204" pitchFamily="34" charset="0"/>
              </a:rPr>
              <a:t>- Connect all your components to the I/</a:t>
            </a:r>
            <a:r>
              <a:rPr lang="en-US" sz="1200" dirty="0" err="1">
                <a:latin typeface="Arial" panose="020B0604020202020204" pitchFamily="34" charset="0"/>
                <a:cs typeface="Arial" panose="020B0604020202020204" pitchFamily="34" charset="0"/>
              </a:rPr>
              <a:t>Os</a:t>
            </a:r>
            <a:r>
              <a:rPr lang="en-US" sz="1200" dirty="0">
                <a:latin typeface="Arial" panose="020B0604020202020204" pitchFamily="34" charset="0"/>
                <a:cs typeface="Arial" panose="020B0604020202020204" pitchFamily="34" charset="0"/>
              </a:rPr>
              <a:t> </a:t>
            </a:r>
          </a:p>
        </p:txBody>
      </p:sp>
      <p:sp>
        <p:nvSpPr>
          <p:cNvPr id="8" name="Rectángulo 7">
            <a:extLst>
              <a:ext uri="{FF2B5EF4-FFF2-40B4-BE49-F238E27FC236}">
                <a16:creationId xmlns:a16="http://schemas.microsoft.com/office/drawing/2014/main" id="{B7F15AC0-F440-2DF1-6C9D-0A7E2EAFC2C8}"/>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9452515D-9AC0-62DB-2A62-0C197A32C5E7}"/>
              </a:ext>
            </a:extLst>
          </p:cNvPr>
          <p:cNvSpPr txBox="1"/>
          <p:nvPr/>
        </p:nvSpPr>
        <p:spPr>
          <a:xfrm>
            <a:off x="8180318" y="3105834"/>
            <a:ext cx="1774973" cy="369332"/>
          </a:xfrm>
          <a:prstGeom prst="rect">
            <a:avLst/>
          </a:prstGeom>
          <a:noFill/>
        </p:spPr>
        <p:txBody>
          <a:bodyPr wrap="none" rtlCol="0">
            <a:spAutoFit/>
          </a:bodyPr>
          <a:lstStyle/>
          <a:p>
            <a:pPr algn="ctr"/>
            <a:r>
              <a:rPr lang="es-ES" dirty="0" err="1"/>
              <a:t>Screenshot</a:t>
            </a:r>
            <a:r>
              <a:rPr lang="es-ES" dirty="0"/>
              <a:t> </a:t>
            </a:r>
            <a:r>
              <a:rPr lang="es-ES" dirty="0" err="1"/>
              <a:t>for</a:t>
            </a:r>
            <a:r>
              <a:rPr lang="es-ES" dirty="0"/>
              <a:t> …</a:t>
            </a:r>
            <a:endParaRPr lang="en-US" dirty="0"/>
          </a:p>
        </p:txBody>
      </p:sp>
    </p:spTree>
    <p:extLst>
      <p:ext uri="{BB962C8B-B14F-4D97-AF65-F5344CB8AC3E}">
        <p14:creationId xmlns:p14="http://schemas.microsoft.com/office/powerpoint/2010/main" val="7087385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5DE55-1A32-6A50-70E4-C0B787189E9C}"/>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86565E32-B9E0-07EC-971D-11F628A85D85}"/>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 – Notebook section 4. Exercises – 1 slide per bullet point</a:t>
            </a:r>
            <a:endParaRPr sz="2500" b="0" i="1" dirty="0">
              <a:latin typeface="+mj-lt"/>
              <a:cs typeface="Lucida Sans"/>
            </a:endParaRPr>
          </a:p>
        </p:txBody>
      </p:sp>
      <p:pic>
        <p:nvPicPr>
          <p:cNvPr id="83" name="Gráfico 82">
            <a:extLst>
              <a:ext uri="{FF2B5EF4-FFF2-40B4-BE49-F238E27FC236}">
                <a16:creationId xmlns:a16="http://schemas.microsoft.com/office/drawing/2014/main" id="{D9D01A6E-6653-5D0A-B4CF-52C05B4490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1BD4E5-F40C-838F-9CF4-F0D472ADDA1D}"/>
              </a:ext>
            </a:extLst>
          </p:cNvPr>
          <p:cNvSpPr>
            <a:spLocks noGrp="1"/>
          </p:cNvSpPr>
          <p:nvPr>
            <p:ph type="sldNum" sz="quarter" idx="7"/>
          </p:nvPr>
        </p:nvSpPr>
        <p:spPr/>
        <p:txBody>
          <a:bodyPr/>
          <a:lstStyle/>
          <a:p>
            <a:fld id="{B6F15528-21DE-4FAA-801E-634DDDAF4B2B}" type="slidenum">
              <a:rPr lang="es-ES" smtClean="0"/>
              <a:t>18</a:t>
            </a:fld>
            <a:endParaRPr lang="es-ES"/>
          </a:p>
        </p:txBody>
      </p:sp>
      <p:sp>
        <p:nvSpPr>
          <p:cNvPr id="3" name="Marcador de pie de página 2">
            <a:extLst>
              <a:ext uri="{FF2B5EF4-FFF2-40B4-BE49-F238E27FC236}">
                <a16:creationId xmlns:a16="http://schemas.microsoft.com/office/drawing/2014/main" id="{DB959BD1-88D4-2D4C-847E-B8EAD89CE270}"/>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512D7AE6-4BCB-E910-99B7-1B8DBEE3A90C}"/>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endParaRPr lang="en-US" sz="1200" b="1"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58791027-93F6-146C-7C88-3C6F9A7509A3}"/>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4E9A9BB8-FAAE-9D91-5A7C-723E6A180570}"/>
              </a:ext>
            </a:extLst>
          </p:cNvPr>
          <p:cNvSpPr txBox="1"/>
          <p:nvPr/>
        </p:nvSpPr>
        <p:spPr>
          <a:xfrm>
            <a:off x="8180318" y="3105834"/>
            <a:ext cx="1774973" cy="369332"/>
          </a:xfrm>
          <a:prstGeom prst="rect">
            <a:avLst/>
          </a:prstGeom>
          <a:noFill/>
        </p:spPr>
        <p:txBody>
          <a:bodyPr wrap="none" rtlCol="0">
            <a:spAutoFit/>
          </a:bodyPr>
          <a:lstStyle/>
          <a:p>
            <a:pPr algn="ctr"/>
            <a:r>
              <a:rPr lang="es-ES" dirty="0" err="1"/>
              <a:t>Screenshot</a:t>
            </a:r>
            <a:r>
              <a:rPr lang="es-ES" dirty="0"/>
              <a:t> </a:t>
            </a:r>
            <a:r>
              <a:rPr lang="es-ES" dirty="0" err="1"/>
              <a:t>for</a:t>
            </a:r>
            <a:r>
              <a:rPr lang="es-ES" dirty="0"/>
              <a:t> …</a:t>
            </a:r>
            <a:endParaRPr lang="en-US" dirty="0"/>
          </a:p>
        </p:txBody>
      </p:sp>
      <p:pic>
        <p:nvPicPr>
          <p:cNvPr id="5" name="Picture 4">
            <a:extLst>
              <a:ext uri="{FF2B5EF4-FFF2-40B4-BE49-F238E27FC236}">
                <a16:creationId xmlns:a16="http://schemas.microsoft.com/office/drawing/2014/main" id="{255C3593-1E35-4A8C-8D38-3A191C2C78A1}"/>
              </a:ext>
            </a:extLst>
          </p:cNvPr>
          <p:cNvPicPr>
            <a:picLocks noChangeAspect="1"/>
          </p:cNvPicPr>
          <p:nvPr/>
        </p:nvPicPr>
        <p:blipFill>
          <a:blip r:embed="rId4"/>
          <a:stretch>
            <a:fillRect/>
          </a:stretch>
        </p:blipFill>
        <p:spPr>
          <a:xfrm>
            <a:off x="5089829" y="1371600"/>
            <a:ext cx="5652655" cy="4267200"/>
          </a:xfrm>
          <a:prstGeom prst="rect">
            <a:avLst/>
          </a:prstGeom>
        </p:spPr>
      </p:pic>
      <p:sp>
        <p:nvSpPr>
          <p:cNvPr id="6" name="TextBox 5">
            <a:extLst>
              <a:ext uri="{FF2B5EF4-FFF2-40B4-BE49-F238E27FC236}">
                <a16:creationId xmlns:a16="http://schemas.microsoft.com/office/drawing/2014/main" id="{7C1B6E43-B508-F925-A34A-9DCBD4F9B898}"/>
              </a:ext>
            </a:extLst>
          </p:cNvPr>
          <p:cNvSpPr txBox="1"/>
          <p:nvPr/>
        </p:nvSpPr>
        <p:spPr>
          <a:xfrm>
            <a:off x="838200" y="1186934"/>
            <a:ext cx="1607491" cy="369332"/>
          </a:xfrm>
          <a:prstGeom prst="rect">
            <a:avLst/>
          </a:prstGeom>
          <a:noFill/>
        </p:spPr>
        <p:txBody>
          <a:bodyPr wrap="none" rtlCol="0">
            <a:spAutoFit/>
          </a:bodyPr>
          <a:lstStyle/>
          <a:p>
            <a:r>
              <a:rPr lang="es-ES" b="1" dirty="0"/>
              <a:t>Apartado 4a) 1</a:t>
            </a:r>
          </a:p>
        </p:txBody>
      </p:sp>
    </p:spTree>
    <p:extLst>
      <p:ext uri="{BB962C8B-B14F-4D97-AF65-F5344CB8AC3E}">
        <p14:creationId xmlns:p14="http://schemas.microsoft.com/office/powerpoint/2010/main" val="33720677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EFA1D-D74B-29A8-FD3F-D590B967A585}"/>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01C62121-5BC4-FA1D-26C6-D6E73AFF59D1}"/>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 – Notebook section 4. Exercises – 1 slide per bullet point</a:t>
            </a:r>
            <a:endParaRPr sz="2500" b="0" i="1" dirty="0">
              <a:latin typeface="+mj-lt"/>
              <a:cs typeface="Lucida Sans"/>
            </a:endParaRPr>
          </a:p>
        </p:txBody>
      </p:sp>
      <p:pic>
        <p:nvPicPr>
          <p:cNvPr id="83" name="Gráfico 82">
            <a:extLst>
              <a:ext uri="{FF2B5EF4-FFF2-40B4-BE49-F238E27FC236}">
                <a16:creationId xmlns:a16="http://schemas.microsoft.com/office/drawing/2014/main" id="{E6D82B9F-0A36-A811-91E3-C704A6D5FC7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562BC1AF-E116-7A24-9D02-211C86F9985D}"/>
              </a:ext>
            </a:extLst>
          </p:cNvPr>
          <p:cNvSpPr>
            <a:spLocks noGrp="1"/>
          </p:cNvSpPr>
          <p:nvPr>
            <p:ph type="sldNum" sz="quarter" idx="7"/>
          </p:nvPr>
        </p:nvSpPr>
        <p:spPr/>
        <p:txBody>
          <a:bodyPr/>
          <a:lstStyle/>
          <a:p>
            <a:fld id="{B6F15528-21DE-4FAA-801E-634DDDAF4B2B}" type="slidenum">
              <a:rPr lang="es-ES" smtClean="0"/>
              <a:t>19</a:t>
            </a:fld>
            <a:endParaRPr lang="es-ES"/>
          </a:p>
        </p:txBody>
      </p:sp>
      <p:sp>
        <p:nvSpPr>
          <p:cNvPr id="3" name="Marcador de pie de página 2">
            <a:extLst>
              <a:ext uri="{FF2B5EF4-FFF2-40B4-BE49-F238E27FC236}">
                <a16:creationId xmlns:a16="http://schemas.microsoft.com/office/drawing/2014/main" id="{05E7404A-4B9B-45EC-3B0C-AAFFC19982D1}"/>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625F85E1-065F-FA4E-F9EB-3AD249EF8EC0}"/>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endParaRPr lang="en-US" sz="1200" b="1"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20D84282-81A3-7E42-8165-635D0EB02C70}"/>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C6A65009-61C9-F753-AD81-9269A984813D}"/>
              </a:ext>
            </a:extLst>
          </p:cNvPr>
          <p:cNvSpPr txBox="1"/>
          <p:nvPr/>
        </p:nvSpPr>
        <p:spPr>
          <a:xfrm>
            <a:off x="8180318" y="3105834"/>
            <a:ext cx="1774973" cy="369332"/>
          </a:xfrm>
          <a:prstGeom prst="rect">
            <a:avLst/>
          </a:prstGeom>
          <a:noFill/>
        </p:spPr>
        <p:txBody>
          <a:bodyPr wrap="none" rtlCol="0">
            <a:spAutoFit/>
          </a:bodyPr>
          <a:lstStyle/>
          <a:p>
            <a:pPr algn="ctr"/>
            <a:r>
              <a:rPr lang="es-ES" dirty="0" err="1"/>
              <a:t>Screenshot</a:t>
            </a:r>
            <a:r>
              <a:rPr lang="es-ES" dirty="0"/>
              <a:t> </a:t>
            </a:r>
            <a:r>
              <a:rPr lang="es-ES" dirty="0" err="1"/>
              <a:t>for</a:t>
            </a:r>
            <a:r>
              <a:rPr lang="es-ES" dirty="0"/>
              <a:t> …</a:t>
            </a:r>
            <a:endParaRPr lang="en-US" dirty="0"/>
          </a:p>
        </p:txBody>
      </p:sp>
      <p:pic>
        <p:nvPicPr>
          <p:cNvPr id="6" name="Picture 5">
            <a:extLst>
              <a:ext uri="{FF2B5EF4-FFF2-40B4-BE49-F238E27FC236}">
                <a16:creationId xmlns:a16="http://schemas.microsoft.com/office/drawing/2014/main" id="{825606EE-142B-385D-1E49-6C8877CE0026}"/>
              </a:ext>
            </a:extLst>
          </p:cNvPr>
          <p:cNvPicPr>
            <a:picLocks noChangeAspect="1"/>
          </p:cNvPicPr>
          <p:nvPr/>
        </p:nvPicPr>
        <p:blipFill>
          <a:blip r:embed="rId4"/>
          <a:stretch>
            <a:fillRect/>
          </a:stretch>
        </p:blipFill>
        <p:spPr>
          <a:xfrm>
            <a:off x="5562600" y="1395348"/>
            <a:ext cx="5791200" cy="4371788"/>
          </a:xfrm>
          <a:prstGeom prst="rect">
            <a:avLst/>
          </a:prstGeom>
        </p:spPr>
      </p:pic>
      <p:sp>
        <p:nvSpPr>
          <p:cNvPr id="12" name="TextBox 11">
            <a:extLst>
              <a:ext uri="{FF2B5EF4-FFF2-40B4-BE49-F238E27FC236}">
                <a16:creationId xmlns:a16="http://schemas.microsoft.com/office/drawing/2014/main" id="{87DAAF39-1323-E136-9959-98F58B33EC57}"/>
              </a:ext>
            </a:extLst>
          </p:cNvPr>
          <p:cNvSpPr txBox="1"/>
          <p:nvPr/>
        </p:nvSpPr>
        <p:spPr>
          <a:xfrm>
            <a:off x="838200" y="1186934"/>
            <a:ext cx="1607491" cy="369332"/>
          </a:xfrm>
          <a:prstGeom prst="rect">
            <a:avLst/>
          </a:prstGeom>
          <a:noFill/>
        </p:spPr>
        <p:txBody>
          <a:bodyPr wrap="none" rtlCol="0">
            <a:spAutoFit/>
          </a:bodyPr>
          <a:lstStyle/>
          <a:p>
            <a:r>
              <a:rPr lang="es-ES" b="1" dirty="0"/>
              <a:t>Apartado 4a) 2</a:t>
            </a:r>
          </a:p>
        </p:txBody>
      </p:sp>
    </p:spTree>
    <p:extLst>
      <p:ext uri="{BB962C8B-B14F-4D97-AF65-F5344CB8AC3E}">
        <p14:creationId xmlns:p14="http://schemas.microsoft.com/office/powerpoint/2010/main" val="40387021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D6FED-6139-5AB2-AE3C-20D9D1981DD5}"/>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899BFE34-7704-1A60-B222-58675F6C2E35}"/>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 – Notebook section 4. Exercises – 1 slide per bullet point</a:t>
            </a:r>
            <a:endParaRPr sz="2500" b="0" i="1" dirty="0">
              <a:latin typeface="+mj-lt"/>
              <a:cs typeface="Lucida Sans"/>
            </a:endParaRPr>
          </a:p>
        </p:txBody>
      </p:sp>
      <p:pic>
        <p:nvPicPr>
          <p:cNvPr id="83" name="Gráfico 82">
            <a:extLst>
              <a:ext uri="{FF2B5EF4-FFF2-40B4-BE49-F238E27FC236}">
                <a16:creationId xmlns:a16="http://schemas.microsoft.com/office/drawing/2014/main" id="{59BE0B35-BC50-F69C-350B-C93BFABF7C3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598CF4A1-846B-DD22-60C2-4EA2D6799A84}"/>
              </a:ext>
            </a:extLst>
          </p:cNvPr>
          <p:cNvSpPr>
            <a:spLocks noGrp="1"/>
          </p:cNvSpPr>
          <p:nvPr>
            <p:ph type="sldNum" sz="quarter" idx="7"/>
          </p:nvPr>
        </p:nvSpPr>
        <p:spPr/>
        <p:txBody>
          <a:bodyPr/>
          <a:lstStyle/>
          <a:p>
            <a:fld id="{B6F15528-21DE-4FAA-801E-634DDDAF4B2B}" type="slidenum">
              <a:rPr lang="es-ES" smtClean="0"/>
              <a:t>20</a:t>
            </a:fld>
            <a:endParaRPr lang="es-ES"/>
          </a:p>
        </p:txBody>
      </p:sp>
      <p:sp>
        <p:nvSpPr>
          <p:cNvPr id="3" name="Marcador de pie de página 2">
            <a:extLst>
              <a:ext uri="{FF2B5EF4-FFF2-40B4-BE49-F238E27FC236}">
                <a16:creationId xmlns:a16="http://schemas.microsoft.com/office/drawing/2014/main" id="{0C09C92B-4E2F-3CE2-8DB7-36588DBD01AF}"/>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9552B083-6E8C-B49D-650C-61F842B6C034}"/>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endParaRPr lang="en-US" sz="1200" b="1"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83FB6E41-9A5E-DDDD-B596-2AB2890BAD75}"/>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EAE5067F-9EA7-9757-3541-4DF378C17F9C}"/>
              </a:ext>
            </a:extLst>
          </p:cNvPr>
          <p:cNvSpPr txBox="1"/>
          <p:nvPr/>
        </p:nvSpPr>
        <p:spPr>
          <a:xfrm>
            <a:off x="8180318" y="3105834"/>
            <a:ext cx="1774973" cy="369332"/>
          </a:xfrm>
          <a:prstGeom prst="rect">
            <a:avLst/>
          </a:prstGeom>
          <a:noFill/>
        </p:spPr>
        <p:txBody>
          <a:bodyPr wrap="none" rtlCol="0">
            <a:spAutoFit/>
          </a:bodyPr>
          <a:lstStyle/>
          <a:p>
            <a:pPr algn="ctr"/>
            <a:r>
              <a:rPr lang="es-ES" dirty="0" err="1"/>
              <a:t>Screenshot</a:t>
            </a:r>
            <a:r>
              <a:rPr lang="es-ES" dirty="0"/>
              <a:t> </a:t>
            </a:r>
            <a:r>
              <a:rPr lang="es-ES" dirty="0" err="1"/>
              <a:t>for</a:t>
            </a:r>
            <a:r>
              <a:rPr lang="es-ES" dirty="0"/>
              <a:t> …</a:t>
            </a:r>
            <a:endParaRPr lang="en-US" dirty="0"/>
          </a:p>
        </p:txBody>
      </p:sp>
      <p:pic>
        <p:nvPicPr>
          <p:cNvPr id="6" name="Picture 5">
            <a:extLst>
              <a:ext uri="{FF2B5EF4-FFF2-40B4-BE49-F238E27FC236}">
                <a16:creationId xmlns:a16="http://schemas.microsoft.com/office/drawing/2014/main" id="{2FA1EC42-ECE1-FB5D-62A1-BD72A3C82C18}"/>
              </a:ext>
            </a:extLst>
          </p:cNvPr>
          <p:cNvPicPr>
            <a:picLocks noChangeAspect="1"/>
          </p:cNvPicPr>
          <p:nvPr/>
        </p:nvPicPr>
        <p:blipFill>
          <a:blip r:embed="rId4"/>
          <a:stretch>
            <a:fillRect/>
          </a:stretch>
        </p:blipFill>
        <p:spPr>
          <a:xfrm>
            <a:off x="5045006" y="1315720"/>
            <a:ext cx="6065124" cy="4578574"/>
          </a:xfrm>
          <a:prstGeom prst="rect">
            <a:avLst/>
          </a:prstGeom>
        </p:spPr>
      </p:pic>
      <p:sp>
        <p:nvSpPr>
          <p:cNvPr id="10" name="TextBox 9">
            <a:extLst>
              <a:ext uri="{FF2B5EF4-FFF2-40B4-BE49-F238E27FC236}">
                <a16:creationId xmlns:a16="http://schemas.microsoft.com/office/drawing/2014/main" id="{504A7D97-40E4-65FA-71FE-4C3777172F94}"/>
              </a:ext>
            </a:extLst>
          </p:cNvPr>
          <p:cNvSpPr txBox="1"/>
          <p:nvPr/>
        </p:nvSpPr>
        <p:spPr>
          <a:xfrm>
            <a:off x="838200" y="1186934"/>
            <a:ext cx="1607491" cy="369332"/>
          </a:xfrm>
          <a:prstGeom prst="rect">
            <a:avLst/>
          </a:prstGeom>
          <a:noFill/>
        </p:spPr>
        <p:txBody>
          <a:bodyPr wrap="none" rtlCol="0">
            <a:spAutoFit/>
          </a:bodyPr>
          <a:lstStyle/>
          <a:p>
            <a:r>
              <a:rPr lang="es-ES" b="1" dirty="0"/>
              <a:t>Apartado 4a) 3</a:t>
            </a:r>
          </a:p>
        </p:txBody>
      </p:sp>
    </p:spTree>
    <p:extLst>
      <p:ext uri="{BB962C8B-B14F-4D97-AF65-F5344CB8AC3E}">
        <p14:creationId xmlns:p14="http://schemas.microsoft.com/office/powerpoint/2010/main" val="31563077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526C0-9178-0AE3-136C-A1E5F04388A1}"/>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F4A9B7A0-133E-7D6E-3962-76BBD1A8D3D9}"/>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 – Notebook section 4. Exercises – 1 slide per bullet point</a:t>
            </a:r>
            <a:endParaRPr sz="2500" b="0" i="1" dirty="0">
              <a:latin typeface="+mj-lt"/>
              <a:cs typeface="Lucida Sans"/>
            </a:endParaRPr>
          </a:p>
        </p:txBody>
      </p:sp>
      <p:pic>
        <p:nvPicPr>
          <p:cNvPr id="83" name="Gráfico 82">
            <a:extLst>
              <a:ext uri="{FF2B5EF4-FFF2-40B4-BE49-F238E27FC236}">
                <a16:creationId xmlns:a16="http://schemas.microsoft.com/office/drawing/2014/main" id="{39278932-DBF9-A43F-B40C-98CD3D1B28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8CFA3B9-BF7D-C63A-2E81-392CD22DD0BB}"/>
              </a:ext>
            </a:extLst>
          </p:cNvPr>
          <p:cNvSpPr>
            <a:spLocks noGrp="1"/>
          </p:cNvSpPr>
          <p:nvPr>
            <p:ph type="sldNum" sz="quarter" idx="7"/>
          </p:nvPr>
        </p:nvSpPr>
        <p:spPr/>
        <p:txBody>
          <a:bodyPr/>
          <a:lstStyle/>
          <a:p>
            <a:fld id="{B6F15528-21DE-4FAA-801E-634DDDAF4B2B}" type="slidenum">
              <a:rPr lang="es-ES" smtClean="0"/>
              <a:t>21</a:t>
            </a:fld>
            <a:endParaRPr lang="es-ES"/>
          </a:p>
        </p:txBody>
      </p:sp>
      <p:sp>
        <p:nvSpPr>
          <p:cNvPr id="3" name="Marcador de pie de página 2">
            <a:extLst>
              <a:ext uri="{FF2B5EF4-FFF2-40B4-BE49-F238E27FC236}">
                <a16:creationId xmlns:a16="http://schemas.microsoft.com/office/drawing/2014/main" id="{24EAD444-F758-8F13-E185-0478D867D04A}"/>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8FC8B0D3-C443-08B9-B791-7220A3BCB979}"/>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endParaRPr lang="en-US" sz="1200" b="1"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7A58C29C-59AB-BDF6-DDDB-1D601BA6266B}"/>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F369420E-1BD1-E7ED-F102-51A5E20501E6}"/>
              </a:ext>
            </a:extLst>
          </p:cNvPr>
          <p:cNvSpPr txBox="1"/>
          <p:nvPr/>
        </p:nvSpPr>
        <p:spPr>
          <a:xfrm>
            <a:off x="8180318" y="3105834"/>
            <a:ext cx="1774973" cy="369332"/>
          </a:xfrm>
          <a:prstGeom prst="rect">
            <a:avLst/>
          </a:prstGeom>
          <a:noFill/>
        </p:spPr>
        <p:txBody>
          <a:bodyPr wrap="none" rtlCol="0">
            <a:spAutoFit/>
          </a:bodyPr>
          <a:lstStyle/>
          <a:p>
            <a:pPr algn="ctr"/>
            <a:r>
              <a:rPr lang="es-ES" dirty="0" err="1"/>
              <a:t>Screenshot</a:t>
            </a:r>
            <a:r>
              <a:rPr lang="es-ES" dirty="0"/>
              <a:t> </a:t>
            </a:r>
            <a:r>
              <a:rPr lang="es-ES" dirty="0" err="1"/>
              <a:t>for</a:t>
            </a:r>
            <a:r>
              <a:rPr lang="es-ES" dirty="0"/>
              <a:t> …</a:t>
            </a:r>
            <a:endParaRPr lang="en-US" dirty="0"/>
          </a:p>
        </p:txBody>
      </p:sp>
      <p:pic>
        <p:nvPicPr>
          <p:cNvPr id="6" name="Picture 5">
            <a:extLst>
              <a:ext uri="{FF2B5EF4-FFF2-40B4-BE49-F238E27FC236}">
                <a16:creationId xmlns:a16="http://schemas.microsoft.com/office/drawing/2014/main" id="{212AC2CD-342D-7210-DE26-A28AF20A1AC5}"/>
              </a:ext>
            </a:extLst>
          </p:cNvPr>
          <p:cNvPicPr>
            <a:picLocks noChangeAspect="1"/>
          </p:cNvPicPr>
          <p:nvPr/>
        </p:nvPicPr>
        <p:blipFill>
          <a:blip r:embed="rId4"/>
          <a:stretch>
            <a:fillRect/>
          </a:stretch>
        </p:blipFill>
        <p:spPr>
          <a:xfrm>
            <a:off x="5045006" y="1390866"/>
            <a:ext cx="5791200" cy="4371788"/>
          </a:xfrm>
          <a:prstGeom prst="rect">
            <a:avLst/>
          </a:prstGeom>
        </p:spPr>
      </p:pic>
      <p:sp>
        <p:nvSpPr>
          <p:cNvPr id="10" name="TextBox 9">
            <a:extLst>
              <a:ext uri="{FF2B5EF4-FFF2-40B4-BE49-F238E27FC236}">
                <a16:creationId xmlns:a16="http://schemas.microsoft.com/office/drawing/2014/main" id="{F6C37775-EB58-2EE2-C5DE-5B4C5C3D3AF5}"/>
              </a:ext>
            </a:extLst>
          </p:cNvPr>
          <p:cNvSpPr txBox="1"/>
          <p:nvPr/>
        </p:nvSpPr>
        <p:spPr>
          <a:xfrm>
            <a:off x="838200" y="1186934"/>
            <a:ext cx="1607491" cy="369332"/>
          </a:xfrm>
          <a:prstGeom prst="rect">
            <a:avLst/>
          </a:prstGeom>
          <a:noFill/>
        </p:spPr>
        <p:txBody>
          <a:bodyPr wrap="none" rtlCol="0">
            <a:spAutoFit/>
          </a:bodyPr>
          <a:lstStyle/>
          <a:p>
            <a:r>
              <a:rPr lang="es-ES" b="1" dirty="0"/>
              <a:t>Apartado 4a) 4</a:t>
            </a:r>
          </a:p>
        </p:txBody>
      </p:sp>
    </p:spTree>
    <p:extLst>
      <p:ext uri="{BB962C8B-B14F-4D97-AF65-F5344CB8AC3E}">
        <p14:creationId xmlns:p14="http://schemas.microsoft.com/office/powerpoint/2010/main" val="36530209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1B510-11E4-3236-BDA4-48C339C87533}"/>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B9095418-614B-1E60-C4EF-81A045980FC3}"/>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 – Notebook section 4. Exercises – 1 slide per bullet point</a:t>
            </a:r>
            <a:endParaRPr sz="2500" b="0" i="1" dirty="0">
              <a:latin typeface="+mj-lt"/>
              <a:cs typeface="Lucida Sans"/>
            </a:endParaRPr>
          </a:p>
        </p:txBody>
      </p:sp>
      <p:pic>
        <p:nvPicPr>
          <p:cNvPr id="83" name="Gráfico 82">
            <a:extLst>
              <a:ext uri="{FF2B5EF4-FFF2-40B4-BE49-F238E27FC236}">
                <a16:creationId xmlns:a16="http://schemas.microsoft.com/office/drawing/2014/main" id="{25539922-8DF3-8F0B-C10C-735FBEAC36A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0C1D5E0-5074-055D-8391-94FAE15DCEE0}"/>
              </a:ext>
            </a:extLst>
          </p:cNvPr>
          <p:cNvSpPr>
            <a:spLocks noGrp="1"/>
          </p:cNvSpPr>
          <p:nvPr>
            <p:ph type="sldNum" sz="quarter" idx="7"/>
          </p:nvPr>
        </p:nvSpPr>
        <p:spPr/>
        <p:txBody>
          <a:bodyPr/>
          <a:lstStyle/>
          <a:p>
            <a:fld id="{B6F15528-21DE-4FAA-801E-634DDDAF4B2B}" type="slidenum">
              <a:rPr lang="es-ES" smtClean="0"/>
              <a:t>22</a:t>
            </a:fld>
            <a:endParaRPr lang="es-ES"/>
          </a:p>
        </p:txBody>
      </p:sp>
      <p:sp>
        <p:nvSpPr>
          <p:cNvPr id="3" name="Marcador de pie de página 2">
            <a:extLst>
              <a:ext uri="{FF2B5EF4-FFF2-40B4-BE49-F238E27FC236}">
                <a16:creationId xmlns:a16="http://schemas.microsoft.com/office/drawing/2014/main" id="{4457C2B3-84BF-BF8F-D2DA-0841F2CC9965}"/>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492677DA-A2CA-D046-ED02-D7B182B3E3C3}"/>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endParaRPr lang="en-US" sz="1200" b="1"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D72FBDB9-F3D1-6033-74C7-64F96457159D}"/>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50DD7E10-7B78-D9EE-6394-458A888858A4}"/>
              </a:ext>
            </a:extLst>
          </p:cNvPr>
          <p:cNvSpPr txBox="1"/>
          <p:nvPr/>
        </p:nvSpPr>
        <p:spPr>
          <a:xfrm>
            <a:off x="8180318" y="3105834"/>
            <a:ext cx="1774973" cy="369332"/>
          </a:xfrm>
          <a:prstGeom prst="rect">
            <a:avLst/>
          </a:prstGeom>
          <a:noFill/>
        </p:spPr>
        <p:txBody>
          <a:bodyPr wrap="none" rtlCol="0">
            <a:spAutoFit/>
          </a:bodyPr>
          <a:lstStyle/>
          <a:p>
            <a:pPr algn="ctr"/>
            <a:r>
              <a:rPr lang="es-ES" dirty="0" err="1"/>
              <a:t>Screenshot</a:t>
            </a:r>
            <a:r>
              <a:rPr lang="es-ES" dirty="0"/>
              <a:t> </a:t>
            </a:r>
            <a:r>
              <a:rPr lang="es-ES" dirty="0" err="1"/>
              <a:t>for</a:t>
            </a:r>
            <a:r>
              <a:rPr lang="es-ES" dirty="0"/>
              <a:t> …</a:t>
            </a:r>
            <a:endParaRPr lang="en-US" dirty="0"/>
          </a:p>
        </p:txBody>
      </p:sp>
      <p:pic>
        <p:nvPicPr>
          <p:cNvPr id="6" name="Picture 5">
            <a:extLst>
              <a:ext uri="{FF2B5EF4-FFF2-40B4-BE49-F238E27FC236}">
                <a16:creationId xmlns:a16="http://schemas.microsoft.com/office/drawing/2014/main" id="{FB4F774A-0A1C-1855-BF41-26325039E576}"/>
              </a:ext>
            </a:extLst>
          </p:cNvPr>
          <p:cNvPicPr>
            <a:picLocks noChangeAspect="1"/>
          </p:cNvPicPr>
          <p:nvPr/>
        </p:nvPicPr>
        <p:blipFill>
          <a:blip r:embed="rId4"/>
          <a:stretch>
            <a:fillRect/>
          </a:stretch>
        </p:blipFill>
        <p:spPr>
          <a:xfrm>
            <a:off x="5045006" y="1231748"/>
            <a:ext cx="5943600" cy="4486835"/>
          </a:xfrm>
          <a:prstGeom prst="rect">
            <a:avLst/>
          </a:prstGeom>
        </p:spPr>
      </p:pic>
      <p:sp>
        <p:nvSpPr>
          <p:cNvPr id="10" name="TextBox 9">
            <a:extLst>
              <a:ext uri="{FF2B5EF4-FFF2-40B4-BE49-F238E27FC236}">
                <a16:creationId xmlns:a16="http://schemas.microsoft.com/office/drawing/2014/main" id="{A286BD7E-6D02-73C2-1050-5D020058B0BA}"/>
              </a:ext>
            </a:extLst>
          </p:cNvPr>
          <p:cNvSpPr txBox="1"/>
          <p:nvPr/>
        </p:nvSpPr>
        <p:spPr>
          <a:xfrm>
            <a:off x="838200" y="1186934"/>
            <a:ext cx="1607491" cy="369332"/>
          </a:xfrm>
          <a:prstGeom prst="rect">
            <a:avLst/>
          </a:prstGeom>
          <a:noFill/>
        </p:spPr>
        <p:txBody>
          <a:bodyPr wrap="none" rtlCol="0">
            <a:spAutoFit/>
          </a:bodyPr>
          <a:lstStyle/>
          <a:p>
            <a:r>
              <a:rPr lang="es-ES" b="1" dirty="0"/>
              <a:t>Apartado 4a) 5</a:t>
            </a:r>
          </a:p>
        </p:txBody>
      </p:sp>
    </p:spTree>
    <p:extLst>
      <p:ext uri="{BB962C8B-B14F-4D97-AF65-F5344CB8AC3E}">
        <p14:creationId xmlns:p14="http://schemas.microsoft.com/office/powerpoint/2010/main" val="8075660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5B6F5-8508-3DB2-6A68-A1CA0C2FAE1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0BDE6CF7-8C74-A2F3-DC26-F17766549A92}"/>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 – Notebook section 4. Exercises – 1 slide per bullet point</a:t>
            </a:r>
            <a:endParaRPr sz="2500" b="0" i="1" dirty="0">
              <a:latin typeface="+mj-lt"/>
              <a:cs typeface="Lucida Sans"/>
            </a:endParaRPr>
          </a:p>
        </p:txBody>
      </p:sp>
      <p:pic>
        <p:nvPicPr>
          <p:cNvPr id="83" name="Gráfico 82">
            <a:extLst>
              <a:ext uri="{FF2B5EF4-FFF2-40B4-BE49-F238E27FC236}">
                <a16:creationId xmlns:a16="http://schemas.microsoft.com/office/drawing/2014/main" id="{F0F546E9-D6BD-66CF-5C25-5C6011C35E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CFFC7D6-57B7-EA09-5C19-BD08983CE177}"/>
              </a:ext>
            </a:extLst>
          </p:cNvPr>
          <p:cNvSpPr>
            <a:spLocks noGrp="1"/>
          </p:cNvSpPr>
          <p:nvPr>
            <p:ph type="sldNum" sz="quarter" idx="7"/>
          </p:nvPr>
        </p:nvSpPr>
        <p:spPr/>
        <p:txBody>
          <a:bodyPr/>
          <a:lstStyle/>
          <a:p>
            <a:fld id="{B6F15528-21DE-4FAA-801E-634DDDAF4B2B}" type="slidenum">
              <a:rPr lang="es-ES" smtClean="0"/>
              <a:t>23</a:t>
            </a:fld>
            <a:endParaRPr lang="es-ES"/>
          </a:p>
        </p:txBody>
      </p:sp>
      <p:sp>
        <p:nvSpPr>
          <p:cNvPr id="3" name="Marcador de pie de página 2">
            <a:extLst>
              <a:ext uri="{FF2B5EF4-FFF2-40B4-BE49-F238E27FC236}">
                <a16:creationId xmlns:a16="http://schemas.microsoft.com/office/drawing/2014/main" id="{587697CC-83E9-09FD-1F34-CE682522C94A}"/>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76C3223B-7AC9-09D4-C647-97F74E990CD5}"/>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endParaRPr lang="en-US" sz="1200" b="1"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9D8614EE-ABBC-637A-A9DC-3628876B5EB7}"/>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C6362C4B-1148-09EC-1840-5EECA442F153}"/>
              </a:ext>
            </a:extLst>
          </p:cNvPr>
          <p:cNvSpPr txBox="1"/>
          <p:nvPr/>
        </p:nvSpPr>
        <p:spPr>
          <a:xfrm>
            <a:off x="8180318" y="3105834"/>
            <a:ext cx="1774973" cy="369332"/>
          </a:xfrm>
          <a:prstGeom prst="rect">
            <a:avLst/>
          </a:prstGeom>
          <a:noFill/>
        </p:spPr>
        <p:txBody>
          <a:bodyPr wrap="none" rtlCol="0">
            <a:spAutoFit/>
          </a:bodyPr>
          <a:lstStyle/>
          <a:p>
            <a:pPr algn="ctr"/>
            <a:r>
              <a:rPr lang="es-ES" dirty="0" err="1"/>
              <a:t>Screenshot</a:t>
            </a:r>
            <a:r>
              <a:rPr lang="es-ES" dirty="0"/>
              <a:t> </a:t>
            </a:r>
            <a:r>
              <a:rPr lang="es-ES" dirty="0" err="1"/>
              <a:t>for</a:t>
            </a:r>
            <a:r>
              <a:rPr lang="es-ES" dirty="0"/>
              <a:t> …</a:t>
            </a:r>
            <a:endParaRPr lang="en-US" dirty="0"/>
          </a:p>
        </p:txBody>
      </p:sp>
      <p:pic>
        <p:nvPicPr>
          <p:cNvPr id="6" name="Picture 5">
            <a:extLst>
              <a:ext uri="{FF2B5EF4-FFF2-40B4-BE49-F238E27FC236}">
                <a16:creationId xmlns:a16="http://schemas.microsoft.com/office/drawing/2014/main" id="{8A26BE45-FAE9-CB7E-25EC-B96725036762}"/>
              </a:ext>
            </a:extLst>
          </p:cNvPr>
          <p:cNvPicPr>
            <a:picLocks noChangeAspect="1"/>
          </p:cNvPicPr>
          <p:nvPr/>
        </p:nvPicPr>
        <p:blipFill>
          <a:blip r:embed="rId4"/>
          <a:stretch>
            <a:fillRect/>
          </a:stretch>
        </p:blipFill>
        <p:spPr>
          <a:xfrm>
            <a:off x="4693920" y="1447800"/>
            <a:ext cx="6019800" cy="4544359"/>
          </a:xfrm>
          <a:prstGeom prst="rect">
            <a:avLst/>
          </a:prstGeom>
        </p:spPr>
      </p:pic>
      <p:sp>
        <p:nvSpPr>
          <p:cNvPr id="10" name="TextBox 9">
            <a:extLst>
              <a:ext uri="{FF2B5EF4-FFF2-40B4-BE49-F238E27FC236}">
                <a16:creationId xmlns:a16="http://schemas.microsoft.com/office/drawing/2014/main" id="{71BD7DB2-2094-C126-FEE5-A98373A39A77}"/>
              </a:ext>
            </a:extLst>
          </p:cNvPr>
          <p:cNvSpPr txBox="1"/>
          <p:nvPr/>
        </p:nvSpPr>
        <p:spPr>
          <a:xfrm>
            <a:off x="838200" y="1186934"/>
            <a:ext cx="1617109" cy="369332"/>
          </a:xfrm>
          <a:prstGeom prst="rect">
            <a:avLst/>
          </a:prstGeom>
          <a:noFill/>
        </p:spPr>
        <p:txBody>
          <a:bodyPr wrap="none" rtlCol="0">
            <a:spAutoFit/>
          </a:bodyPr>
          <a:lstStyle/>
          <a:p>
            <a:r>
              <a:rPr lang="es-ES" b="1" dirty="0"/>
              <a:t>Apartado 4b) 1</a:t>
            </a:r>
          </a:p>
        </p:txBody>
      </p:sp>
    </p:spTree>
    <p:extLst>
      <p:ext uri="{BB962C8B-B14F-4D97-AF65-F5344CB8AC3E}">
        <p14:creationId xmlns:p14="http://schemas.microsoft.com/office/powerpoint/2010/main" val="14115849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A17A9-F59A-3B5E-4C87-20EA3CA5118E}"/>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B8D4A932-D0C2-DFA7-3017-4FC5E10EB857}"/>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 – Notebook section 4. Exercises – 1 slide per bullet point</a:t>
            </a:r>
            <a:endParaRPr sz="2500" b="0" i="1" dirty="0">
              <a:latin typeface="+mj-lt"/>
              <a:cs typeface="Lucida Sans"/>
            </a:endParaRPr>
          </a:p>
        </p:txBody>
      </p:sp>
      <p:pic>
        <p:nvPicPr>
          <p:cNvPr id="83" name="Gráfico 82">
            <a:extLst>
              <a:ext uri="{FF2B5EF4-FFF2-40B4-BE49-F238E27FC236}">
                <a16:creationId xmlns:a16="http://schemas.microsoft.com/office/drawing/2014/main" id="{99F162F3-C6CA-D88B-2159-59BD85EC07F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AABC0CE-E5F2-1E4F-863B-0906F3D7EC59}"/>
              </a:ext>
            </a:extLst>
          </p:cNvPr>
          <p:cNvSpPr>
            <a:spLocks noGrp="1"/>
          </p:cNvSpPr>
          <p:nvPr>
            <p:ph type="sldNum" sz="quarter" idx="7"/>
          </p:nvPr>
        </p:nvSpPr>
        <p:spPr/>
        <p:txBody>
          <a:bodyPr/>
          <a:lstStyle/>
          <a:p>
            <a:fld id="{B6F15528-21DE-4FAA-801E-634DDDAF4B2B}" type="slidenum">
              <a:rPr lang="es-ES" smtClean="0"/>
              <a:t>24</a:t>
            </a:fld>
            <a:endParaRPr lang="es-ES"/>
          </a:p>
        </p:txBody>
      </p:sp>
      <p:sp>
        <p:nvSpPr>
          <p:cNvPr id="3" name="Marcador de pie de página 2">
            <a:extLst>
              <a:ext uri="{FF2B5EF4-FFF2-40B4-BE49-F238E27FC236}">
                <a16:creationId xmlns:a16="http://schemas.microsoft.com/office/drawing/2014/main" id="{8B88CBB6-F413-0F08-2F38-F6E8B47A9D7E}"/>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CA68695C-5CA9-5AD5-DFFA-808346AF0D10}"/>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endParaRPr lang="en-US" sz="1200" b="1"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480F461B-140C-0251-A7C7-673CDE03AA35}"/>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D91102B9-BAD9-56FA-3C5B-57980018DA8A}"/>
              </a:ext>
            </a:extLst>
          </p:cNvPr>
          <p:cNvSpPr txBox="1"/>
          <p:nvPr/>
        </p:nvSpPr>
        <p:spPr>
          <a:xfrm>
            <a:off x="8180318" y="3105834"/>
            <a:ext cx="1774973" cy="369332"/>
          </a:xfrm>
          <a:prstGeom prst="rect">
            <a:avLst/>
          </a:prstGeom>
          <a:noFill/>
        </p:spPr>
        <p:txBody>
          <a:bodyPr wrap="none" rtlCol="0">
            <a:spAutoFit/>
          </a:bodyPr>
          <a:lstStyle/>
          <a:p>
            <a:pPr algn="ctr"/>
            <a:r>
              <a:rPr lang="es-ES" dirty="0" err="1"/>
              <a:t>Screenshot</a:t>
            </a:r>
            <a:r>
              <a:rPr lang="es-ES" dirty="0"/>
              <a:t> </a:t>
            </a:r>
            <a:r>
              <a:rPr lang="es-ES" dirty="0" err="1"/>
              <a:t>for</a:t>
            </a:r>
            <a:r>
              <a:rPr lang="es-ES" dirty="0"/>
              <a:t> …</a:t>
            </a:r>
            <a:endParaRPr lang="en-US" dirty="0"/>
          </a:p>
        </p:txBody>
      </p:sp>
      <p:pic>
        <p:nvPicPr>
          <p:cNvPr id="6" name="Picture 5">
            <a:extLst>
              <a:ext uri="{FF2B5EF4-FFF2-40B4-BE49-F238E27FC236}">
                <a16:creationId xmlns:a16="http://schemas.microsoft.com/office/drawing/2014/main" id="{4BD209EF-E7C5-B1CF-2CC1-07A1052EE491}"/>
              </a:ext>
            </a:extLst>
          </p:cNvPr>
          <p:cNvPicPr>
            <a:picLocks noChangeAspect="1"/>
          </p:cNvPicPr>
          <p:nvPr/>
        </p:nvPicPr>
        <p:blipFill>
          <a:blip r:embed="rId4"/>
          <a:stretch>
            <a:fillRect/>
          </a:stretch>
        </p:blipFill>
        <p:spPr>
          <a:xfrm>
            <a:off x="5328756" y="1562100"/>
            <a:ext cx="5703124" cy="4305300"/>
          </a:xfrm>
          <a:prstGeom prst="rect">
            <a:avLst/>
          </a:prstGeom>
        </p:spPr>
      </p:pic>
      <p:sp>
        <p:nvSpPr>
          <p:cNvPr id="10" name="TextBox 9">
            <a:extLst>
              <a:ext uri="{FF2B5EF4-FFF2-40B4-BE49-F238E27FC236}">
                <a16:creationId xmlns:a16="http://schemas.microsoft.com/office/drawing/2014/main" id="{F9D2CE4C-96CB-7279-FCA2-03D3501CD347}"/>
              </a:ext>
            </a:extLst>
          </p:cNvPr>
          <p:cNvSpPr txBox="1"/>
          <p:nvPr/>
        </p:nvSpPr>
        <p:spPr>
          <a:xfrm>
            <a:off x="838200" y="1186934"/>
            <a:ext cx="1617109" cy="369332"/>
          </a:xfrm>
          <a:prstGeom prst="rect">
            <a:avLst/>
          </a:prstGeom>
          <a:noFill/>
        </p:spPr>
        <p:txBody>
          <a:bodyPr wrap="none" rtlCol="0">
            <a:spAutoFit/>
          </a:bodyPr>
          <a:lstStyle/>
          <a:p>
            <a:r>
              <a:rPr lang="es-ES" b="1" dirty="0"/>
              <a:t>Apartado 4b) 2</a:t>
            </a:r>
          </a:p>
        </p:txBody>
      </p:sp>
    </p:spTree>
    <p:extLst>
      <p:ext uri="{BB962C8B-B14F-4D97-AF65-F5344CB8AC3E}">
        <p14:creationId xmlns:p14="http://schemas.microsoft.com/office/powerpoint/2010/main" val="17578071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5F99D-4770-CDA7-1105-F09929A36620}"/>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92AB01B4-D178-43F2-249D-2CE597DD589D}"/>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 – Notebook section 4. Exercises – 1 slide per bullet point</a:t>
            </a:r>
            <a:endParaRPr sz="2500" b="0" i="1" dirty="0">
              <a:latin typeface="+mj-lt"/>
              <a:cs typeface="Lucida Sans"/>
            </a:endParaRPr>
          </a:p>
        </p:txBody>
      </p:sp>
      <p:pic>
        <p:nvPicPr>
          <p:cNvPr id="83" name="Gráfico 82">
            <a:extLst>
              <a:ext uri="{FF2B5EF4-FFF2-40B4-BE49-F238E27FC236}">
                <a16:creationId xmlns:a16="http://schemas.microsoft.com/office/drawing/2014/main" id="{313A2594-3643-F5C2-1D5C-20B6CFDBEC6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994CD98D-F349-030A-EAF5-02828D7DB83D}"/>
              </a:ext>
            </a:extLst>
          </p:cNvPr>
          <p:cNvSpPr>
            <a:spLocks noGrp="1"/>
          </p:cNvSpPr>
          <p:nvPr>
            <p:ph type="sldNum" sz="quarter" idx="7"/>
          </p:nvPr>
        </p:nvSpPr>
        <p:spPr/>
        <p:txBody>
          <a:bodyPr/>
          <a:lstStyle/>
          <a:p>
            <a:fld id="{B6F15528-21DE-4FAA-801E-634DDDAF4B2B}" type="slidenum">
              <a:rPr lang="es-ES" smtClean="0"/>
              <a:t>25</a:t>
            </a:fld>
            <a:endParaRPr lang="es-ES"/>
          </a:p>
        </p:txBody>
      </p:sp>
      <p:sp>
        <p:nvSpPr>
          <p:cNvPr id="3" name="Marcador de pie de página 2">
            <a:extLst>
              <a:ext uri="{FF2B5EF4-FFF2-40B4-BE49-F238E27FC236}">
                <a16:creationId xmlns:a16="http://schemas.microsoft.com/office/drawing/2014/main" id="{E43715B1-9543-61B4-142F-919D89DA1296}"/>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F2D2DA60-C186-09FC-FF8A-6CD9DF388694}"/>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endParaRPr lang="en-US" sz="1200" b="1"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30030C00-D3AA-BC9C-07CD-35A7522ADAF1}"/>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7D6E5CCF-3DED-BFFB-96BD-260722A7D7E5}"/>
              </a:ext>
            </a:extLst>
          </p:cNvPr>
          <p:cNvSpPr txBox="1"/>
          <p:nvPr/>
        </p:nvSpPr>
        <p:spPr>
          <a:xfrm>
            <a:off x="8180318" y="3105834"/>
            <a:ext cx="1774973" cy="369332"/>
          </a:xfrm>
          <a:prstGeom prst="rect">
            <a:avLst/>
          </a:prstGeom>
          <a:noFill/>
        </p:spPr>
        <p:txBody>
          <a:bodyPr wrap="none" rtlCol="0">
            <a:spAutoFit/>
          </a:bodyPr>
          <a:lstStyle/>
          <a:p>
            <a:pPr algn="ctr"/>
            <a:r>
              <a:rPr lang="es-ES" dirty="0" err="1"/>
              <a:t>Screenshot</a:t>
            </a:r>
            <a:r>
              <a:rPr lang="es-ES" dirty="0"/>
              <a:t> </a:t>
            </a:r>
            <a:r>
              <a:rPr lang="es-ES" dirty="0" err="1"/>
              <a:t>for</a:t>
            </a:r>
            <a:r>
              <a:rPr lang="es-ES" dirty="0"/>
              <a:t> …</a:t>
            </a:r>
            <a:endParaRPr lang="en-US" dirty="0"/>
          </a:p>
        </p:txBody>
      </p:sp>
      <p:pic>
        <p:nvPicPr>
          <p:cNvPr id="6" name="Picture 5">
            <a:extLst>
              <a:ext uri="{FF2B5EF4-FFF2-40B4-BE49-F238E27FC236}">
                <a16:creationId xmlns:a16="http://schemas.microsoft.com/office/drawing/2014/main" id="{BC1DD45D-EE52-E849-95EA-4C477CEAC429}"/>
              </a:ext>
            </a:extLst>
          </p:cNvPr>
          <p:cNvPicPr>
            <a:picLocks noChangeAspect="1"/>
          </p:cNvPicPr>
          <p:nvPr/>
        </p:nvPicPr>
        <p:blipFill>
          <a:blip r:embed="rId4"/>
          <a:stretch>
            <a:fillRect/>
          </a:stretch>
        </p:blipFill>
        <p:spPr>
          <a:xfrm>
            <a:off x="5105400" y="1214344"/>
            <a:ext cx="5867400" cy="4429312"/>
          </a:xfrm>
          <a:prstGeom prst="rect">
            <a:avLst/>
          </a:prstGeom>
        </p:spPr>
      </p:pic>
      <p:sp>
        <p:nvSpPr>
          <p:cNvPr id="10" name="TextBox 9">
            <a:extLst>
              <a:ext uri="{FF2B5EF4-FFF2-40B4-BE49-F238E27FC236}">
                <a16:creationId xmlns:a16="http://schemas.microsoft.com/office/drawing/2014/main" id="{5B2205A9-DA14-9DCB-5F54-C7B44F573DF0}"/>
              </a:ext>
            </a:extLst>
          </p:cNvPr>
          <p:cNvSpPr txBox="1"/>
          <p:nvPr/>
        </p:nvSpPr>
        <p:spPr>
          <a:xfrm>
            <a:off x="838200" y="1186934"/>
            <a:ext cx="1617109" cy="369332"/>
          </a:xfrm>
          <a:prstGeom prst="rect">
            <a:avLst/>
          </a:prstGeom>
          <a:noFill/>
        </p:spPr>
        <p:txBody>
          <a:bodyPr wrap="none" rtlCol="0">
            <a:spAutoFit/>
          </a:bodyPr>
          <a:lstStyle/>
          <a:p>
            <a:r>
              <a:rPr lang="es-ES" b="1" dirty="0"/>
              <a:t>Apartado 4b) 3</a:t>
            </a:r>
          </a:p>
        </p:txBody>
      </p:sp>
    </p:spTree>
    <p:extLst>
      <p:ext uri="{BB962C8B-B14F-4D97-AF65-F5344CB8AC3E}">
        <p14:creationId xmlns:p14="http://schemas.microsoft.com/office/powerpoint/2010/main" val="13329408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A2624-D54A-4C50-832F-10F55272DA4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C353BE71-7073-A36D-1FED-3B8E41F22185}"/>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 – Notebook section 4. Exercises – 1 slide per bullet point</a:t>
            </a:r>
            <a:endParaRPr sz="2500" b="0" i="1" dirty="0">
              <a:latin typeface="+mj-lt"/>
              <a:cs typeface="Lucida Sans"/>
            </a:endParaRPr>
          </a:p>
        </p:txBody>
      </p:sp>
      <p:pic>
        <p:nvPicPr>
          <p:cNvPr id="83" name="Gráfico 82">
            <a:extLst>
              <a:ext uri="{FF2B5EF4-FFF2-40B4-BE49-F238E27FC236}">
                <a16:creationId xmlns:a16="http://schemas.microsoft.com/office/drawing/2014/main" id="{CA681E6E-2A54-4803-E5CB-9B8E2CABF42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523E106-2FEF-F14A-CE13-33FEFBAE5AEC}"/>
              </a:ext>
            </a:extLst>
          </p:cNvPr>
          <p:cNvSpPr>
            <a:spLocks noGrp="1"/>
          </p:cNvSpPr>
          <p:nvPr>
            <p:ph type="sldNum" sz="quarter" idx="7"/>
          </p:nvPr>
        </p:nvSpPr>
        <p:spPr/>
        <p:txBody>
          <a:bodyPr/>
          <a:lstStyle/>
          <a:p>
            <a:fld id="{B6F15528-21DE-4FAA-801E-634DDDAF4B2B}" type="slidenum">
              <a:rPr lang="es-ES" smtClean="0"/>
              <a:t>26</a:t>
            </a:fld>
            <a:endParaRPr lang="es-ES"/>
          </a:p>
        </p:txBody>
      </p:sp>
      <p:sp>
        <p:nvSpPr>
          <p:cNvPr id="3" name="Marcador de pie de página 2">
            <a:extLst>
              <a:ext uri="{FF2B5EF4-FFF2-40B4-BE49-F238E27FC236}">
                <a16:creationId xmlns:a16="http://schemas.microsoft.com/office/drawing/2014/main" id="{A7C3362D-16EA-C90B-82CD-8AB41AAC491F}"/>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0B119325-1DF8-322C-42F5-97209730F26F}"/>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endParaRPr lang="en-US" sz="1200" b="1"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8F19B287-826C-F9E1-1A61-5D2B8275FF85}"/>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989A03E9-E395-2A33-FB8C-673972320214}"/>
              </a:ext>
            </a:extLst>
          </p:cNvPr>
          <p:cNvSpPr txBox="1"/>
          <p:nvPr/>
        </p:nvSpPr>
        <p:spPr>
          <a:xfrm>
            <a:off x="8180318" y="3105834"/>
            <a:ext cx="1774973" cy="369332"/>
          </a:xfrm>
          <a:prstGeom prst="rect">
            <a:avLst/>
          </a:prstGeom>
          <a:noFill/>
        </p:spPr>
        <p:txBody>
          <a:bodyPr wrap="none" rtlCol="0">
            <a:spAutoFit/>
          </a:bodyPr>
          <a:lstStyle/>
          <a:p>
            <a:pPr algn="ctr"/>
            <a:r>
              <a:rPr lang="es-ES" dirty="0" err="1"/>
              <a:t>Screenshot</a:t>
            </a:r>
            <a:r>
              <a:rPr lang="es-ES" dirty="0"/>
              <a:t> </a:t>
            </a:r>
            <a:r>
              <a:rPr lang="es-ES" dirty="0" err="1"/>
              <a:t>for</a:t>
            </a:r>
            <a:r>
              <a:rPr lang="es-ES" dirty="0"/>
              <a:t> …</a:t>
            </a:r>
            <a:endParaRPr lang="en-US" dirty="0"/>
          </a:p>
        </p:txBody>
      </p:sp>
      <p:pic>
        <p:nvPicPr>
          <p:cNvPr id="6" name="Picture 5">
            <a:extLst>
              <a:ext uri="{FF2B5EF4-FFF2-40B4-BE49-F238E27FC236}">
                <a16:creationId xmlns:a16="http://schemas.microsoft.com/office/drawing/2014/main" id="{50A05C60-AEE4-F811-C9EE-71075310AC54}"/>
              </a:ext>
            </a:extLst>
          </p:cNvPr>
          <p:cNvPicPr>
            <a:picLocks noChangeAspect="1"/>
          </p:cNvPicPr>
          <p:nvPr/>
        </p:nvPicPr>
        <p:blipFill>
          <a:blip r:embed="rId4"/>
          <a:stretch>
            <a:fillRect/>
          </a:stretch>
        </p:blipFill>
        <p:spPr>
          <a:xfrm>
            <a:off x="5410200" y="1324378"/>
            <a:ext cx="5943600" cy="4486835"/>
          </a:xfrm>
          <a:prstGeom prst="rect">
            <a:avLst/>
          </a:prstGeom>
        </p:spPr>
      </p:pic>
      <p:sp>
        <p:nvSpPr>
          <p:cNvPr id="10" name="TextBox 9">
            <a:extLst>
              <a:ext uri="{FF2B5EF4-FFF2-40B4-BE49-F238E27FC236}">
                <a16:creationId xmlns:a16="http://schemas.microsoft.com/office/drawing/2014/main" id="{3B642A86-2DFB-5387-20F7-1D55A6052D43}"/>
              </a:ext>
            </a:extLst>
          </p:cNvPr>
          <p:cNvSpPr txBox="1"/>
          <p:nvPr/>
        </p:nvSpPr>
        <p:spPr>
          <a:xfrm>
            <a:off x="838200" y="1186934"/>
            <a:ext cx="1589859" cy="369332"/>
          </a:xfrm>
          <a:prstGeom prst="rect">
            <a:avLst/>
          </a:prstGeom>
          <a:noFill/>
        </p:spPr>
        <p:txBody>
          <a:bodyPr wrap="none" rtlCol="0">
            <a:spAutoFit/>
          </a:bodyPr>
          <a:lstStyle/>
          <a:p>
            <a:r>
              <a:rPr lang="es-ES" b="1" dirty="0"/>
              <a:t>Apartado 4c) 1</a:t>
            </a:r>
          </a:p>
        </p:txBody>
      </p:sp>
    </p:spTree>
    <p:extLst>
      <p:ext uri="{BB962C8B-B14F-4D97-AF65-F5344CB8AC3E}">
        <p14:creationId xmlns:p14="http://schemas.microsoft.com/office/powerpoint/2010/main" val="29038484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14A89-4B6B-530E-2492-061DD113198C}"/>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CBBBB307-0F48-D137-CEA2-F9F809503CDC}"/>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 – Notebook section 4. Exercises – 1 slide per bullet point</a:t>
            </a:r>
            <a:endParaRPr sz="2500" b="0" i="1" dirty="0">
              <a:latin typeface="+mj-lt"/>
              <a:cs typeface="Lucida Sans"/>
            </a:endParaRPr>
          </a:p>
        </p:txBody>
      </p:sp>
      <p:pic>
        <p:nvPicPr>
          <p:cNvPr id="83" name="Gráfico 82">
            <a:extLst>
              <a:ext uri="{FF2B5EF4-FFF2-40B4-BE49-F238E27FC236}">
                <a16:creationId xmlns:a16="http://schemas.microsoft.com/office/drawing/2014/main" id="{93D47A68-FB6D-1962-1DD4-7FA7770998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9350D8D0-3323-CF4B-A949-20FF7BBFCD4F}"/>
              </a:ext>
            </a:extLst>
          </p:cNvPr>
          <p:cNvSpPr>
            <a:spLocks noGrp="1"/>
          </p:cNvSpPr>
          <p:nvPr>
            <p:ph type="sldNum" sz="quarter" idx="7"/>
          </p:nvPr>
        </p:nvSpPr>
        <p:spPr/>
        <p:txBody>
          <a:bodyPr/>
          <a:lstStyle/>
          <a:p>
            <a:fld id="{B6F15528-21DE-4FAA-801E-634DDDAF4B2B}" type="slidenum">
              <a:rPr lang="es-ES" smtClean="0"/>
              <a:t>27</a:t>
            </a:fld>
            <a:endParaRPr lang="es-ES"/>
          </a:p>
        </p:txBody>
      </p:sp>
      <p:sp>
        <p:nvSpPr>
          <p:cNvPr id="3" name="Marcador de pie de página 2">
            <a:extLst>
              <a:ext uri="{FF2B5EF4-FFF2-40B4-BE49-F238E27FC236}">
                <a16:creationId xmlns:a16="http://schemas.microsoft.com/office/drawing/2014/main" id="{E32CB6B0-AC3A-22AC-AD3C-2050BE97DB41}"/>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FCF61359-8754-3086-FEB9-EA3C8FB5B9B9}"/>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endParaRPr lang="en-US" sz="1200" b="1"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81CFA7EE-F06D-6363-646C-CC94C6465FCD}"/>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79A0F8A4-5F10-B8F6-8DF9-1916CF974B4A}"/>
              </a:ext>
            </a:extLst>
          </p:cNvPr>
          <p:cNvSpPr txBox="1"/>
          <p:nvPr/>
        </p:nvSpPr>
        <p:spPr>
          <a:xfrm>
            <a:off x="8180318" y="3105834"/>
            <a:ext cx="1774973" cy="369332"/>
          </a:xfrm>
          <a:prstGeom prst="rect">
            <a:avLst/>
          </a:prstGeom>
          <a:noFill/>
        </p:spPr>
        <p:txBody>
          <a:bodyPr wrap="none" rtlCol="0">
            <a:spAutoFit/>
          </a:bodyPr>
          <a:lstStyle/>
          <a:p>
            <a:pPr algn="ctr"/>
            <a:r>
              <a:rPr lang="es-ES" dirty="0" err="1"/>
              <a:t>Screenshot</a:t>
            </a:r>
            <a:r>
              <a:rPr lang="es-ES" dirty="0"/>
              <a:t> </a:t>
            </a:r>
            <a:r>
              <a:rPr lang="es-ES" dirty="0" err="1"/>
              <a:t>for</a:t>
            </a:r>
            <a:r>
              <a:rPr lang="es-ES" dirty="0"/>
              <a:t> …</a:t>
            </a:r>
            <a:endParaRPr lang="en-US" dirty="0"/>
          </a:p>
        </p:txBody>
      </p:sp>
      <p:pic>
        <p:nvPicPr>
          <p:cNvPr id="6" name="Picture 5">
            <a:extLst>
              <a:ext uri="{FF2B5EF4-FFF2-40B4-BE49-F238E27FC236}">
                <a16:creationId xmlns:a16="http://schemas.microsoft.com/office/drawing/2014/main" id="{C3B006A4-D3AE-978D-9799-411D50A94381}"/>
              </a:ext>
            </a:extLst>
          </p:cNvPr>
          <p:cNvPicPr>
            <a:picLocks noChangeAspect="1"/>
          </p:cNvPicPr>
          <p:nvPr/>
        </p:nvPicPr>
        <p:blipFill>
          <a:blip r:embed="rId4"/>
          <a:stretch>
            <a:fillRect/>
          </a:stretch>
        </p:blipFill>
        <p:spPr>
          <a:xfrm>
            <a:off x="5125593" y="1295400"/>
            <a:ext cx="6248400" cy="4716929"/>
          </a:xfrm>
          <a:prstGeom prst="rect">
            <a:avLst/>
          </a:prstGeom>
        </p:spPr>
      </p:pic>
      <p:sp>
        <p:nvSpPr>
          <p:cNvPr id="10" name="TextBox 9">
            <a:extLst>
              <a:ext uri="{FF2B5EF4-FFF2-40B4-BE49-F238E27FC236}">
                <a16:creationId xmlns:a16="http://schemas.microsoft.com/office/drawing/2014/main" id="{D9E54B30-B112-6700-3F99-F9B2135C1FE4}"/>
              </a:ext>
            </a:extLst>
          </p:cNvPr>
          <p:cNvSpPr txBox="1"/>
          <p:nvPr/>
        </p:nvSpPr>
        <p:spPr>
          <a:xfrm>
            <a:off x="838200" y="1186934"/>
            <a:ext cx="1589859" cy="369332"/>
          </a:xfrm>
          <a:prstGeom prst="rect">
            <a:avLst/>
          </a:prstGeom>
          <a:noFill/>
        </p:spPr>
        <p:txBody>
          <a:bodyPr wrap="none" rtlCol="0">
            <a:spAutoFit/>
          </a:bodyPr>
          <a:lstStyle/>
          <a:p>
            <a:r>
              <a:rPr lang="es-ES" b="1" dirty="0"/>
              <a:t>Apartado 4c) 2</a:t>
            </a:r>
          </a:p>
        </p:txBody>
      </p:sp>
    </p:spTree>
    <p:extLst>
      <p:ext uri="{BB962C8B-B14F-4D97-AF65-F5344CB8AC3E}">
        <p14:creationId xmlns:p14="http://schemas.microsoft.com/office/powerpoint/2010/main" val="35006921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ABEBE-5FD5-7042-6B93-DAAC09A84D96}"/>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0A000F78-61BD-0944-A3A0-09349E830271}"/>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 – Notebook section 4. Exercises – 1 slide per bullet point</a:t>
            </a:r>
            <a:endParaRPr sz="2500" b="0" i="1" dirty="0">
              <a:latin typeface="+mj-lt"/>
              <a:cs typeface="Lucida Sans"/>
            </a:endParaRPr>
          </a:p>
        </p:txBody>
      </p:sp>
      <p:pic>
        <p:nvPicPr>
          <p:cNvPr id="83" name="Gráfico 82">
            <a:extLst>
              <a:ext uri="{FF2B5EF4-FFF2-40B4-BE49-F238E27FC236}">
                <a16:creationId xmlns:a16="http://schemas.microsoft.com/office/drawing/2014/main" id="{9F5C0AA3-42FA-4F25-E2EC-16AB9BF160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5B1E68E-6604-4E30-605C-70712E18CF7D}"/>
              </a:ext>
            </a:extLst>
          </p:cNvPr>
          <p:cNvSpPr>
            <a:spLocks noGrp="1"/>
          </p:cNvSpPr>
          <p:nvPr>
            <p:ph type="sldNum" sz="quarter" idx="7"/>
          </p:nvPr>
        </p:nvSpPr>
        <p:spPr/>
        <p:txBody>
          <a:bodyPr/>
          <a:lstStyle/>
          <a:p>
            <a:fld id="{B6F15528-21DE-4FAA-801E-634DDDAF4B2B}" type="slidenum">
              <a:rPr lang="es-ES" smtClean="0"/>
              <a:t>28</a:t>
            </a:fld>
            <a:endParaRPr lang="es-ES"/>
          </a:p>
        </p:txBody>
      </p:sp>
      <p:sp>
        <p:nvSpPr>
          <p:cNvPr id="3" name="Marcador de pie de página 2">
            <a:extLst>
              <a:ext uri="{FF2B5EF4-FFF2-40B4-BE49-F238E27FC236}">
                <a16:creationId xmlns:a16="http://schemas.microsoft.com/office/drawing/2014/main" id="{362E0D92-269B-9EBF-C016-4BF46121D950}"/>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6B324C14-EF8D-E80C-555D-FFD3F5180538}"/>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endParaRPr lang="en-US" sz="1200" b="1"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53635861-CCA8-1051-B072-4F74601598E5}"/>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20F0DD02-704A-29D7-F86C-5FF655198488}"/>
              </a:ext>
            </a:extLst>
          </p:cNvPr>
          <p:cNvSpPr txBox="1"/>
          <p:nvPr/>
        </p:nvSpPr>
        <p:spPr>
          <a:xfrm>
            <a:off x="8180318" y="3105834"/>
            <a:ext cx="1774973" cy="369332"/>
          </a:xfrm>
          <a:prstGeom prst="rect">
            <a:avLst/>
          </a:prstGeom>
          <a:noFill/>
        </p:spPr>
        <p:txBody>
          <a:bodyPr wrap="none" rtlCol="0">
            <a:spAutoFit/>
          </a:bodyPr>
          <a:lstStyle/>
          <a:p>
            <a:pPr algn="ctr"/>
            <a:r>
              <a:rPr lang="es-ES" dirty="0" err="1"/>
              <a:t>Screenshot</a:t>
            </a:r>
            <a:r>
              <a:rPr lang="es-ES" dirty="0"/>
              <a:t> </a:t>
            </a:r>
            <a:r>
              <a:rPr lang="es-ES" dirty="0" err="1"/>
              <a:t>for</a:t>
            </a:r>
            <a:r>
              <a:rPr lang="es-ES" dirty="0"/>
              <a:t> …</a:t>
            </a:r>
            <a:endParaRPr lang="en-US" dirty="0"/>
          </a:p>
        </p:txBody>
      </p:sp>
      <p:pic>
        <p:nvPicPr>
          <p:cNvPr id="5" name="Picture 4">
            <a:extLst>
              <a:ext uri="{FF2B5EF4-FFF2-40B4-BE49-F238E27FC236}">
                <a16:creationId xmlns:a16="http://schemas.microsoft.com/office/drawing/2014/main" id="{A8D59537-02D1-CC62-7403-FB940FBD6CE3}"/>
              </a:ext>
            </a:extLst>
          </p:cNvPr>
          <p:cNvPicPr>
            <a:picLocks noChangeAspect="1"/>
          </p:cNvPicPr>
          <p:nvPr/>
        </p:nvPicPr>
        <p:blipFill>
          <a:blip r:embed="rId4"/>
          <a:stretch>
            <a:fillRect/>
          </a:stretch>
        </p:blipFill>
        <p:spPr>
          <a:xfrm>
            <a:off x="5163693" y="1295400"/>
            <a:ext cx="6172200" cy="4659406"/>
          </a:xfrm>
          <a:prstGeom prst="rect">
            <a:avLst/>
          </a:prstGeom>
        </p:spPr>
      </p:pic>
      <p:sp>
        <p:nvSpPr>
          <p:cNvPr id="10" name="TextBox 9">
            <a:extLst>
              <a:ext uri="{FF2B5EF4-FFF2-40B4-BE49-F238E27FC236}">
                <a16:creationId xmlns:a16="http://schemas.microsoft.com/office/drawing/2014/main" id="{CB583283-7357-3F19-8FF1-2A98EFE71BB3}"/>
              </a:ext>
            </a:extLst>
          </p:cNvPr>
          <p:cNvSpPr txBox="1"/>
          <p:nvPr/>
        </p:nvSpPr>
        <p:spPr>
          <a:xfrm>
            <a:off x="838200" y="1186934"/>
            <a:ext cx="1589859" cy="369332"/>
          </a:xfrm>
          <a:prstGeom prst="rect">
            <a:avLst/>
          </a:prstGeom>
          <a:noFill/>
        </p:spPr>
        <p:txBody>
          <a:bodyPr wrap="none" rtlCol="0">
            <a:spAutoFit/>
          </a:bodyPr>
          <a:lstStyle/>
          <a:p>
            <a:r>
              <a:rPr lang="es-ES" b="1" dirty="0"/>
              <a:t>Apartado 4c) 3</a:t>
            </a:r>
          </a:p>
        </p:txBody>
      </p:sp>
    </p:spTree>
    <p:extLst>
      <p:ext uri="{BB962C8B-B14F-4D97-AF65-F5344CB8AC3E}">
        <p14:creationId xmlns:p14="http://schemas.microsoft.com/office/powerpoint/2010/main" val="17212096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75C45-CC5A-1693-A797-FC059941570C}"/>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EB876F9-59FB-0DD7-97DD-9719022E7E6B}"/>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 – Notebook section 4. Exercises – 1 slide per bullet point</a:t>
            </a:r>
            <a:endParaRPr sz="2500" b="0" i="1" dirty="0">
              <a:latin typeface="+mj-lt"/>
              <a:cs typeface="Lucida Sans"/>
            </a:endParaRPr>
          </a:p>
        </p:txBody>
      </p:sp>
      <p:pic>
        <p:nvPicPr>
          <p:cNvPr id="83" name="Gráfico 82">
            <a:extLst>
              <a:ext uri="{FF2B5EF4-FFF2-40B4-BE49-F238E27FC236}">
                <a16:creationId xmlns:a16="http://schemas.microsoft.com/office/drawing/2014/main" id="{58D025AC-4E4F-389D-0256-B7A11D473E3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313B98D4-0A60-F075-8D5D-613A66F1AD91}"/>
              </a:ext>
            </a:extLst>
          </p:cNvPr>
          <p:cNvSpPr>
            <a:spLocks noGrp="1"/>
          </p:cNvSpPr>
          <p:nvPr>
            <p:ph type="sldNum" sz="quarter" idx="7"/>
          </p:nvPr>
        </p:nvSpPr>
        <p:spPr/>
        <p:txBody>
          <a:bodyPr/>
          <a:lstStyle/>
          <a:p>
            <a:fld id="{B6F15528-21DE-4FAA-801E-634DDDAF4B2B}" type="slidenum">
              <a:rPr lang="es-ES" smtClean="0"/>
              <a:t>29</a:t>
            </a:fld>
            <a:endParaRPr lang="es-ES"/>
          </a:p>
        </p:txBody>
      </p:sp>
      <p:sp>
        <p:nvSpPr>
          <p:cNvPr id="3" name="Marcador de pie de página 2">
            <a:extLst>
              <a:ext uri="{FF2B5EF4-FFF2-40B4-BE49-F238E27FC236}">
                <a16:creationId xmlns:a16="http://schemas.microsoft.com/office/drawing/2014/main" id="{5E2B905A-88D1-FC6D-30A0-6499216F4177}"/>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5F41C33D-A01C-4AF2-F9DB-462F49CF6AF6}"/>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endParaRPr lang="en-US" sz="1200" b="1"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B63FF401-4973-A39F-5EA5-6BB6217C2D2A}"/>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C373E851-A026-BCCE-1086-2B9385181EB7}"/>
              </a:ext>
            </a:extLst>
          </p:cNvPr>
          <p:cNvSpPr txBox="1"/>
          <p:nvPr/>
        </p:nvSpPr>
        <p:spPr>
          <a:xfrm>
            <a:off x="8180318" y="3105834"/>
            <a:ext cx="1774973" cy="369332"/>
          </a:xfrm>
          <a:prstGeom prst="rect">
            <a:avLst/>
          </a:prstGeom>
          <a:noFill/>
        </p:spPr>
        <p:txBody>
          <a:bodyPr wrap="none" rtlCol="0">
            <a:spAutoFit/>
          </a:bodyPr>
          <a:lstStyle/>
          <a:p>
            <a:pPr algn="ctr"/>
            <a:r>
              <a:rPr lang="es-ES" dirty="0" err="1"/>
              <a:t>Screenshot</a:t>
            </a:r>
            <a:r>
              <a:rPr lang="es-ES" dirty="0"/>
              <a:t> </a:t>
            </a:r>
            <a:r>
              <a:rPr lang="es-ES" dirty="0" err="1"/>
              <a:t>for</a:t>
            </a:r>
            <a:r>
              <a:rPr lang="es-ES" dirty="0"/>
              <a:t> …</a:t>
            </a:r>
            <a:endParaRPr lang="en-US" dirty="0"/>
          </a:p>
        </p:txBody>
      </p:sp>
      <p:pic>
        <p:nvPicPr>
          <p:cNvPr id="5" name="Picture 4">
            <a:extLst>
              <a:ext uri="{FF2B5EF4-FFF2-40B4-BE49-F238E27FC236}">
                <a16:creationId xmlns:a16="http://schemas.microsoft.com/office/drawing/2014/main" id="{8584EB90-56EE-A9F3-5065-B6B16AA8710A}"/>
              </a:ext>
            </a:extLst>
          </p:cNvPr>
          <p:cNvPicPr>
            <a:picLocks noChangeAspect="1"/>
          </p:cNvPicPr>
          <p:nvPr/>
        </p:nvPicPr>
        <p:blipFill>
          <a:blip r:embed="rId4"/>
          <a:stretch>
            <a:fillRect/>
          </a:stretch>
        </p:blipFill>
        <p:spPr>
          <a:xfrm>
            <a:off x="5449972" y="1237935"/>
            <a:ext cx="6207826" cy="4686300"/>
          </a:xfrm>
          <a:prstGeom prst="rect">
            <a:avLst/>
          </a:prstGeom>
        </p:spPr>
      </p:pic>
      <p:sp>
        <p:nvSpPr>
          <p:cNvPr id="10" name="TextBox 9">
            <a:extLst>
              <a:ext uri="{FF2B5EF4-FFF2-40B4-BE49-F238E27FC236}">
                <a16:creationId xmlns:a16="http://schemas.microsoft.com/office/drawing/2014/main" id="{41723D7F-4E31-749E-026A-71F063A7BC28}"/>
              </a:ext>
            </a:extLst>
          </p:cNvPr>
          <p:cNvSpPr txBox="1"/>
          <p:nvPr/>
        </p:nvSpPr>
        <p:spPr>
          <a:xfrm>
            <a:off x="838200" y="1186934"/>
            <a:ext cx="1589859" cy="369332"/>
          </a:xfrm>
          <a:prstGeom prst="rect">
            <a:avLst/>
          </a:prstGeom>
          <a:noFill/>
        </p:spPr>
        <p:txBody>
          <a:bodyPr wrap="none" rtlCol="0">
            <a:spAutoFit/>
          </a:bodyPr>
          <a:lstStyle/>
          <a:p>
            <a:r>
              <a:rPr lang="es-ES" b="1" dirty="0"/>
              <a:t>Apartado 4c) 4</a:t>
            </a:r>
          </a:p>
        </p:txBody>
      </p:sp>
    </p:spTree>
    <p:extLst>
      <p:ext uri="{BB962C8B-B14F-4D97-AF65-F5344CB8AC3E}">
        <p14:creationId xmlns:p14="http://schemas.microsoft.com/office/powerpoint/2010/main" val="24141342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30</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2428</TotalTime>
  <Words>14470</Words>
  <Application>Microsoft Office PowerPoint</Application>
  <PresentationFormat>Widescreen</PresentationFormat>
  <Paragraphs>1250</Paragraphs>
  <Slides>30</Slides>
  <Notes>27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Aptos</vt:lpstr>
      <vt:lpstr>Arial</vt:lpstr>
      <vt:lpstr>Calibri</vt:lpstr>
      <vt:lpstr>Lucida Sans</vt:lpstr>
      <vt:lpstr>Wingdings</vt:lpstr>
      <vt:lpstr>Office Theme</vt:lpstr>
      <vt:lpstr>PowerPoint Presentation</vt:lpstr>
      <vt:lpstr>Instructions General</vt:lpstr>
      <vt:lpstr>Learning outcome #1a – Notebook section 1. Technology “We will work with the demo UPVfab PDK. Let's view the layer distribution of this PDK”</vt:lpstr>
      <vt:lpstr>Learning outcome #1b – Notebook section 1. Technology – 1 slide per component Acoplador direccional</vt:lpstr>
      <vt:lpstr>Learning outcome #1b – Notebook section 1. Technology – 1 slide per component MMI</vt:lpstr>
      <vt:lpstr>Learning outcome #1b – Notebook section 1. Technology – 1 slide per component MZI desequilibrado</vt:lpstr>
      <vt:lpstr>Learning outcome #1b – Notebook section 1. Technology – 1 slide per component MZI equilibrado</vt:lpstr>
      <vt:lpstr>Learning outcome #1b – Notebook section 1. Technology – 1 slide per component Resondor de anillo</vt:lpstr>
      <vt:lpstr>Learning outcome #2a – Notebook section 2. Layout Fundamentals “Once that we have a working 'new' component, we shall convert it into a Cell. This will allow us to have a hierarchical design”</vt:lpstr>
      <vt:lpstr>Learning outcome #2a – Notebook section 2. Layout Fundamentals – 1 slide per component Acoplador direccional</vt:lpstr>
      <vt:lpstr>Learning outcome #2a – Notebook section 2. Layout Fundamentals – 1 slide per component MMI</vt:lpstr>
      <vt:lpstr>Learning outcome #2a – Notebook section 2. Layout Fundamentals – 1 slide per component MZI desequilibrado con bandas térmicas </vt:lpstr>
      <vt:lpstr>Learning outcome #2a – Notebook section 2. Layout Fundamentals – 1 slide per component Resonador de anillo</vt:lpstr>
      <vt:lpstr>Learning outcome #3 – Notebook section 3. Complete layout</vt:lpstr>
      <vt:lpstr>Learning outcome #3 – Notebook section 3. Complete layout</vt:lpstr>
      <vt:lpstr>Learning outcome #3 – Notebook section 3. Complete layout</vt:lpstr>
      <vt:lpstr>Learning outcome #4 – Notebook section 4. Exercises – 1 slide per bullet point</vt:lpstr>
      <vt:lpstr>Learning outcome #4 – Notebook section 4. Exercises – 1 slide per bullet point</vt:lpstr>
      <vt:lpstr>Learning outcome #4 – Notebook section 4. Exercises – 1 slide per bullet point</vt:lpstr>
      <vt:lpstr>Learning outcome #4 – Notebook section 4. Exercises – 1 slide per bullet point</vt:lpstr>
      <vt:lpstr>Learning outcome #4 – Notebook section 4. Exercises – 1 slide per bullet point</vt:lpstr>
      <vt:lpstr>Learning outcome #4 – Notebook section 4. Exercises – 1 slide per bullet point</vt:lpstr>
      <vt:lpstr>Learning outcome #4 – Notebook section 4. Exercises – 1 slide per bullet point</vt:lpstr>
      <vt:lpstr>Learning outcome #4 – Notebook section 4. Exercises – 1 slide per bullet point</vt:lpstr>
      <vt:lpstr>Learning outcome #4 – Notebook section 4. Exercises – 1 slide per bullet point</vt:lpstr>
      <vt:lpstr>Learning outcome #4 – Notebook section 4. Exercises – 1 slide per bullet point</vt:lpstr>
      <vt:lpstr>Learning outcome #4 – Notebook section 4. Exercises – 1 slide per bullet point</vt:lpstr>
      <vt:lpstr>Learning outcome #4 – Notebook section 4. Exercises – 1 slide per bullet point</vt:lpstr>
      <vt:lpstr>Learning outcome #4 – Notebook section 4. Exercises – 1 slide per bullet point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David Llopis Escriche</cp:lastModifiedBy>
  <cp:revision>28</cp:revision>
  <dcterms:created xsi:type="dcterms:W3CDTF">2025-01-27T02:46:57Z</dcterms:created>
  <dcterms:modified xsi:type="dcterms:W3CDTF">2026-06-12T14:53:12Z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